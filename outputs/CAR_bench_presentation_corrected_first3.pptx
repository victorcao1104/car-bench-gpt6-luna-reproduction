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3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0E_0.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13_0.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3.xml" ContentType="application/vnd.openxmlformats-officedocument.presentationml.slide+xml"/>
  <Override PartName="/ppt/replication/ppt/slideLayouts/slideLayout1.xml" ContentType="application/vnd.openxmlformats-officedocument.presentationml.slideLayout+xml"/>
  <Override PartName="/ppt/replication/ppt/slideMasters/slideMaster1.xml" ContentType="application/vnd.openxmlformats-officedocument.presentationml.slideMaster+xml"/>
  <Override PartName="/ppt/replication/ppt/slideMasters/theme/theme2.xml" ContentType="application/vnd.openxmlformats-officedocument.theme+xml"/>
  <Override PartName="/ppt/replication/ppt/notesSlides/notesSlide1.xml" ContentType="application/vnd.openxmlformats-officedocument.presentationml.notesSlide+xml"/>
  <Override PartName="/ppt/replication/ppt/notesMasters/notesMaster1.xml" ContentType="application/vnd.openxmlformats-officedocument.presentationml.notesMaster+xml"/>
  <Override PartName="/ppt/replication/ppt/notesMasters/theme/theme3.xml" ContentType="application/vnd.openxmlformats-officedocument.theme+xml"/>
  <Override PartName="/ppt/slides/slide24.xml" ContentType="application/vnd.openxmlformats-officedocument.presentationml.slide+xml"/>
  <Override PartName="/ppt/replication/ppt/slides/charts/chart1.xml" ContentType="application/vnd.openxmlformats-officedocument.drawingml.chart+xml"/>
  <Override PartName="/ppt/replication/ppt/notesSlides/notesSlide2.xml" ContentType="application/vnd.openxmlformats-officedocument.presentationml.notesSlide+xml"/>
  <Override PartName="/ppt/slides/slide25.xml" ContentType="application/vnd.openxmlformats-officedocument.presentationml.slide+xml"/>
  <Override PartName="/ppt/replication/ppt/slides/charts/chart2.xml" ContentType="application/vnd.openxmlformats-officedocument.drawingml.chart+xml"/>
  <Override PartName="/ppt/replication/ppt/notesSlides/notesSlide3.xml" ContentType="application/vnd.openxmlformats-officedocument.presentationml.notesSlide+xml"/>
  <Override PartName="/ppt/slides/slide26.xml" ContentType="application/vnd.openxmlformats-officedocument.presentationml.slide+xml"/>
  <Override PartName="/ppt/replication/ppt/notesSlides/notesSlide4.xml" ContentType="application/vnd.openxmlformats-officedocument.presentationml.notesSlide+xml"/>
  <Override PartName="/ppt/replication/ppt/slides/embeddings/chart1.xml.xlsx" ContentType="application/vnd.openxmlformats-officedocument.spreadsheetml.sheet"/>
  <Override PartName="/ppt/replication/ppt/slides/embeddings/chart2.xml.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8" r:id="rIdReplication1"/>
    <p:sldId id="279" r:id="rIdReplication2"/>
    <p:sldId id="280" r:id="rIdReplication3"/>
    <p:sldId id="276" r:id="rId22"/>
    <p:sldId id="277" r:id="rId23"/>
    <p:sldId id="281" r:id="rIdReplication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6F5ABC47-A281-C3CA-8CD8-C8C731F4E806}" name="Victor Cao" initials="VC" userId="S::xcao541@UoA.auckland.ac.nz::31d0a9f6-a303-462a-8931-1d8b156986a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850" autoAdjust="0"/>
  </p:normalViewPr>
  <p:slideViewPr>
    <p:cSldViewPr snapToGrid="0">
      <p:cViewPr varScale="1">
        <p:scale>
          <a:sx n="58" d="100"/>
          <a:sy n="58" d="100"/>
        </p:scale>
        <p:origin x="1618" y="62"/>
      </p:cViewPr>
      <p:guideLst/>
    </p:cSldViewPr>
  </p:slideViewPr>
  <p:notesTextViewPr>
    <p:cViewPr>
      <p:scale>
        <a:sx n="1" d="1"/>
        <a:sy n="1" d="1"/>
      </p:scale>
      <p:origin x="0" y="0"/>
    </p:cViewPr>
  </p:notesTextViewPr>
  <p:gridSpacing cx="72008" cy="72008"/>
</p:viewPr>
</file>

<file path=ppt/_rels/presentation.xml.rels><?xml version='1.0' encoding='utf-8'?>
<ns0:Relationships xmlns:ns0="http://schemas.openxmlformats.org/package/2006/relationships"><ns0:Relationship Id="rId8" Type="http://schemas.openxmlformats.org/officeDocument/2006/relationships/slide" Target="slides/slide7.xml" /><ns0:Relationship Id="rId13" Type="http://schemas.openxmlformats.org/officeDocument/2006/relationships/slide" Target="slides/slide12.xml" /><ns0:Relationship Id="rId18" Type="http://schemas.openxmlformats.org/officeDocument/2006/relationships/slide" Target="slides/slide17.xml" /><ns0:Relationship Id="rId26" Type="http://schemas.openxmlformats.org/officeDocument/2006/relationships/viewProps" Target="viewProps.xml" /><ns0:Relationship Id="rId3" Type="http://schemas.openxmlformats.org/officeDocument/2006/relationships/slide" Target="slides/slide2.xml" /><ns0:Relationship Id="rId7" Type="http://schemas.openxmlformats.org/officeDocument/2006/relationships/slide" Target="slides/slide6.xml" /><ns0:Relationship Id="rId12" Type="http://schemas.openxmlformats.org/officeDocument/2006/relationships/slide" Target="slides/slide11.xml" /><ns0:Relationship Id="rId17" Type="http://schemas.openxmlformats.org/officeDocument/2006/relationships/slide" Target="slides/slide16.xml" /><ns0:Relationship Id="rId25" Type="http://schemas.openxmlformats.org/officeDocument/2006/relationships/presProps" Target="presProps.xml" /><ns0:Relationship Id="rId2" Type="http://schemas.openxmlformats.org/officeDocument/2006/relationships/slide" Target="slides/slide1.xml" /><ns0:Relationship Id="rId16" Type="http://schemas.openxmlformats.org/officeDocument/2006/relationships/slide" Target="slides/slide15.xml" /><ns0:Relationship Id="rId20" Type="http://schemas.openxmlformats.org/officeDocument/2006/relationships/slide" Target="slides/slide19.xml" /><ns0:Relationship Id="rId29" Type="http://schemas.microsoft.com/office/2018/10/relationships/authors" Target="authors.xml" /><ns0:Relationship Id="rId1" Type="http://schemas.openxmlformats.org/officeDocument/2006/relationships/slideMaster" Target="slideMasters/slideMaster1.xml" /><ns0:Relationship Id="rId6" Type="http://schemas.openxmlformats.org/officeDocument/2006/relationships/slide" Target="slides/slide5.xml" /><ns0:Relationship Id="rId11" Type="http://schemas.openxmlformats.org/officeDocument/2006/relationships/slide" Target="slides/slide10.xml" /><ns0:Relationship Id="rId24" Type="http://schemas.openxmlformats.org/officeDocument/2006/relationships/notesMaster" Target="notesMasters/notesMaster1.xml" /><ns0:Relationship Id="rId5" Type="http://schemas.openxmlformats.org/officeDocument/2006/relationships/slide" Target="slides/slide4.xml" /><ns0:Relationship Id="rId15" Type="http://schemas.openxmlformats.org/officeDocument/2006/relationships/slide" Target="slides/slide14.xml" /><ns0:Relationship Id="rId23" Type="http://schemas.openxmlformats.org/officeDocument/2006/relationships/slide" Target="slides/slide22.xml" /><ns0:Relationship Id="rId28" Type="http://schemas.openxmlformats.org/officeDocument/2006/relationships/tableStyles" Target="tableStyles.xml" /><ns0:Relationship Id="rId10" Type="http://schemas.openxmlformats.org/officeDocument/2006/relationships/slide" Target="slides/slide9.xml" /><ns0:Relationship Id="rId19" Type="http://schemas.openxmlformats.org/officeDocument/2006/relationships/slide" Target="slides/slide18.xml" /><ns0:Relationship Id="rId4" Type="http://schemas.openxmlformats.org/officeDocument/2006/relationships/slide" Target="slides/slide3.xml" /><ns0:Relationship Id="rId9" Type="http://schemas.openxmlformats.org/officeDocument/2006/relationships/slide" Target="slides/slide8.xml" /><ns0:Relationship Id="rId14" Type="http://schemas.openxmlformats.org/officeDocument/2006/relationships/slide" Target="slides/slide13.xml" /><ns0:Relationship Id="rId22" Type="http://schemas.openxmlformats.org/officeDocument/2006/relationships/slide" Target="slides/slide21.xml" /><ns0:Relationship Id="rId27" Type="http://schemas.openxmlformats.org/officeDocument/2006/relationships/theme" Target="theme/theme1.xml" /><ns0:Relationship Id="rIdReplication1" Type="http://schemas.openxmlformats.org/officeDocument/2006/relationships/slide" Target="slides/slide23.xml" /><ns0:Relationship Id="rIdReplication2" Type="http://schemas.openxmlformats.org/officeDocument/2006/relationships/slide" Target="slides/slide24.xml" /><ns0:Relationship Id="rIdReplication3" Type="http://schemas.openxmlformats.org/officeDocument/2006/relationships/slide" Target="slides/slide25.xml" /><ns0:Relationship Id="rIdReplication4" Type="http://schemas.openxmlformats.org/officeDocument/2006/relationships/slide" Target="slides/slide26.xml" /></ns0:Relationships>
</file>

<file path=ppt/comments/modernComment_10E_0.xml><?xml version="1.0" encoding="utf-8"?>
<p188:cmLst xmlns:a="http://schemas.openxmlformats.org/drawingml/2006/main" xmlns:r="http://schemas.openxmlformats.org/officeDocument/2006/relationships" xmlns:p188="http://schemas.microsoft.com/office/powerpoint/2018/8/main">
  <p188:cm id="{ED895D38-4EEA-43B6-96A4-6FA6DFCAF9D4}" authorId="{6F5ABC47-A281-C3CA-8CD8-C8C731F4E806}" created="2026-10-16T05:04:10.247">
    <pc:sldMkLst xmlns:pc="http://schemas.microsoft.com/office/powerpoint/2013/main/command">
      <pc:docMk/>
      <pc:sldMk cId="0" sldId="270"/>
    </pc:sldMkLst>
    <p188:txBody>
      <a:bodyPr/>
      <a:lstStyle/>
      <a:p>
        <a:r>
          <a:rPr lang="en-NZ"/>
          <a:t>我觉得要加一个点，就是还有个发现没说，比如即使sota model 三次任务都一致完成的概率只有54%。然后我建议这一页把几个发现变成短语文字放在图里，而不是纯讲，比如hallucination里面thinking最多60%，diambiguation连50%都不到</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97BC07C2-8068-4C19-BBF8-86E4810AD741}" authorId="{6F5ABC47-A281-C3CA-8CD8-C8C731F4E806}" created="2026-10-16T04:57:43.406">
    <pc:sldMkLst xmlns:pc="http://schemas.microsoft.com/office/powerpoint/2013/main/command">
      <pc:docMk/>
      <pc:sldMk cId="0" sldId="259"/>
    </pc:sldMkLst>
    <p188:txBody>
      <a:bodyPr/>
      <a:lstStyle/>
      <a:p>
        <a:r>
          <a:rPr lang="en-NZ"/>
          <a:t>这一页我觉得可以改一下标题，除了这些有的有，有的没有，其实是一个进化趋势，以前只看API能不能调用成功，然后逐渐考虑对话和多种不确定情况</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3C31C1DC-A675-49B9-879D-70B0937021F5}" authorId="{6F5ABC47-A281-C3CA-8CD8-C8C731F4E806}" created="2026-10-16T05:04:39.917">
    <pc:sldMkLst xmlns:pc="http://schemas.microsoft.com/office/powerpoint/2013/main/command">
      <pc:docMk/>
      <pc:sldMk cId="0" sldId="275"/>
    </pc:sldMkLst>
    <p188:txBody>
      <a:bodyPr/>
      <a:lstStyle/>
      <a:p>
        <a:r>
          <a:rPr lang="en-NZ"/>
          <a:t>建议改成更有创意的。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41AA279-A11C-46D2-A199-3DDB40149E8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PlaceHolder 1"/>
          <p:cNvSpPr>
            <a:spLocks noGrp="1" noRot="1" noChangeAspect="1"/>
          </p:cNvSpPr>
          <p:nvPr>
            <p:ph type="sldImg"/>
          </p:nvPr>
        </p:nvSpPr>
        <p:spPr>
          <a:xfrm>
            <a:off x="685800" y="1143000"/>
            <a:ext cx="5486040" cy="3085920"/>
          </a:xfrm>
          <a:prstGeom prst="rect">
            <a:avLst/>
          </a:prstGeom>
          <a:ln w="0">
            <a:noFill/>
          </a:ln>
        </p:spPr>
      </p:sp>
      <p:sp>
        <p:nvSpPr>
          <p:cNvPr id="6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This presentation explains the CAR-bench benchmark published at ACL 2026. Main question: Can an LLM agent behave reliably when users are vague or when the agent lacks tools or data? We will move from the problem, to research gap, to design, experiments, findings and a critical assessment.</a:t>
            </a:r>
          </a:p>
        </p:txBody>
      </p:sp>
      <p:sp>
        <p:nvSpPr>
          <p:cNvPr id="626"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8F9C425-3945-4866-A8B4-CEB0A90DFE4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PlaceHolder 1"/>
          <p:cNvSpPr>
            <a:spLocks noGrp="1" noRot="1" noChangeAspect="1"/>
          </p:cNvSpPr>
          <p:nvPr>
            <p:ph type="sldImg"/>
          </p:nvPr>
        </p:nvSpPr>
        <p:spPr>
          <a:xfrm>
            <a:off x="685800" y="1143000"/>
            <a:ext cx="5486040" cy="3085920"/>
          </a:xfrm>
          <a:prstGeom prst="rect">
            <a:avLst/>
          </a:prstGeom>
          <a:ln w="0">
            <a:noFill/>
          </a:ln>
        </p:spPr>
      </p:sp>
      <p:sp>
        <p:nvSpPr>
          <p:cNvPr id="6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An LLM agent does not only produce text. It may query systems and change the world, such as navigation or vehicle settings. Successful deployment therefore requires good decisions about information, safety constraints and consistency.</a:t>
            </a:r>
          </a:p>
        </p:txBody>
      </p:sp>
      <p:sp>
        <p:nvSpPr>
          <p:cNvPr id="629"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32F20AD-461A-4D2F-9E1C-53465B7BDB3D}"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PlaceHolder 1"/>
          <p:cNvSpPr>
            <a:spLocks noGrp="1" noRot="1" noChangeAspect="1"/>
          </p:cNvSpPr>
          <p:nvPr>
            <p:ph type="sldImg"/>
          </p:nvPr>
        </p:nvSpPr>
        <p:spPr>
          <a:xfrm>
            <a:off x="685800" y="1143000"/>
            <a:ext cx="5486040" cy="3085920"/>
          </a:xfrm>
          <a:prstGeom prst="rect">
            <a:avLst/>
          </a:prstGeom>
          <a:ln w="0">
            <a:noFill/>
          </a:ln>
        </p:spPr>
      </p:sp>
      <p:sp>
        <p:nvSpPr>
          <p:cNvPr id="6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Three real-world issues motivate the benchmark: missing capabilities or observations, ambiguous requests, and unstable repeated performance. A single task completion score can hide all three.</a:t>
            </a:r>
          </a:p>
        </p:txBody>
      </p:sp>
      <p:sp>
        <p:nvSpPr>
          <p:cNvPr id="632"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1F30BF-CBF9-4922-9EA5-497BAE743B5E}"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PlaceHolder 1"/>
          <p:cNvSpPr>
            <a:spLocks noGrp="1" noRot="1" noChangeAspect="1"/>
          </p:cNvSpPr>
          <p:nvPr>
            <p:ph type="sldImg"/>
          </p:nvPr>
        </p:nvSpPr>
        <p:spPr>
          <a:xfrm>
            <a:off x="685800" y="1143000"/>
            <a:ext cx="5486400" cy="3086100"/>
          </a:xfrm>
          <a:prstGeom prst="rect">
            <a:avLst/>
          </a:prstGeom>
          <a:ln w="0">
            <a:noFill/>
          </a:ln>
        </p:spPr>
      </p:sp>
      <p:sp>
        <p:nvSpPr>
          <p:cNvPr id="6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According to the comparison made by CAR-bench authors, BFCLv3 mainly focuses on tool use and some missing-tool cases; tau-bench adds dynamic conversation, domain policies and consistency; ToolSandbox adds stateful interaction and missing-tool tests. CAR-bench unifies these with systematic missing information and ambiguity evaluation. This table reflects the paper’s chosen comparison dimensions, not a claim that previous benchmarks could never exhibit these failures.</a:t>
            </a:r>
          </a:p>
        </p:txBody>
      </p:sp>
      <p:sp>
        <p:nvSpPr>
          <p:cNvPr id="635"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61A4BA-206D-4F60-96A1-50A09499933B}"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PlaceHolder 1"/>
          <p:cNvSpPr>
            <a:spLocks noGrp="1" noRot="1" noChangeAspect="1"/>
          </p:cNvSpPr>
          <p:nvPr>
            <p:ph type="sldImg"/>
          </p:nvPr>
        </p:nvSpPr>
        <p:spPr>
          <a:xfrm>
            <a:off x="685800" y="1143000"/>
            <a:ext cx="5486040" cy="3085920"/>
          </a:xfrm>
          <a:prstGeom prst="rect">
            <a:avLst/>
          </a:prstGeom>
          <a:ln w="0">
            <a:noFill/>
          </a:ln>
        </p:spPr>
      </p:sp>
      <p:sp>
        <p:nvSpPr>
          <p:cNvPr id="6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paper does not number these as formal RQ1-RQ3; this slide reorganizes the paper’s research questions into three presentation-friendly questions: limit awareness, ambiguity handling, and repeatability.</a:t>
            </a:r>
          </a:p>
        </p:txBody>
      </p:sp>
      <p:sp>
        <p:nvSpPr>
          <p:cNvPr id="638"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84E4BF1-304C-4F47-8CCF-4C23040702DB}"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PlaceHolder 1"/>
          <p:cNvSpPr>
            <a:spLocks noGrp="1" noRot="1" noChangeAspect="1"/>
          </p:cNvSpPr>
          <p:nvPr>
            <p:ph type="sldImg"/>
          </p:nvPr>
        </p:nvSpPr>
        <p:spPr>
          <a:xfrm>
            <a:off x="685800" y="1143000"/>
            <a:ext cx="5486040" cy="3085920"/>
          </a:xfrm>
          <a:prstGeom prst="rect">
            <a:avLst/>
          </a:prstGeom>
          <a:ln w="0">
            <a:noFill/>
          </a:ln>
        </p:spPr>
      </p:sp>
      <p:sp>
        <p:nvSpPr>
          <p:cNvPr id="6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CAR-bench includes six components: user simulator, agent, tools, mutable state, fixed context and databases. Policies constrain the agent. The simulated user produces a visible text message and hidden control word that lets the evaluation track stop, out-of-scope and specific errors. This visual is a simplified redrawing of Figure 1.</a:t>
            </a:r>
          </a:p>
        </p:txBody>
      </p:sp>
      <p:sp>
        <p:nvSpPr>
          <p:cNvPr id="641"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E8B911-D596-4AC6-9632-38F6EEB97084}"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 name="PlaceHolder 1"/>
          <p:cNvSpPr>
            <a:spLocks noGrp="1" noRot="1" noChangeAspect="1"/>
          </p:cNvSpPr>
          <p:nvPr>
            <p:ph type="sldImg"/>
          </p:nvPr>
        </p:nvSpPr>
        <p:spPr>
          <a:xfrm>
            <a:off x="685800" y="1143000"/>
            <a:ext cx="5486040" cy="3085920"/>
          </a:xfrm>
          <a:prstGeom prst="rect">
            <a:avLst/>
          </a:prstGeom>
          <a:ln w="0">
            <a:noFill/>
          </a:ln>
        </p:spPr>
      </p:sp>
      <p:sp>
        <p:nvSpPr>
          <p:cNvPr id="6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framework defines 58 interconnected tools: 29 information-getting, 27 state-changing, 2 no-operation. The agent must follow 19 automotive policies, 12 checked with code and 7 using an LLM as judge. States change, context is fixed within a task. Databases include 48 cities, over 130,000 points of interest and 1.7 million routes.</a:t>
            </a:r>
          </a:p>
        </p:txBody>
      </p:sp>
      <p:sp>
        <p:nvSpPr>
          <p:cNvPr id="644"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4E7D111-CD58-4BBA-BCDD-80FB968F90D2}"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 name="PlaceHolder 1"/>
          <p:cNvSpPr>
            <a:spLocks noGrp="1" noRot="1" noChangeAspect="1"/>
          </p:cNvSpPr>
          <p:nvPr>
            <p:ph type="sldImg"/>
          </p:nvPr>
        </p:nvSpPr>
        <p:spPr>
          <a:xfrm>
            <a:off x="685800" y="1143000"/>
            <a:ext cx="5486040" cy="3085920"/>
          </a:xfrm>
          <a:prstGeom prst="rect">
            <a:avLst/>
          </a:prstGeom>
          <a:ln w="0">
            <a:noFill/>
          </a:ln>
        </p:spPr>
      </p:sp>
      <p:sp>
        <p:nvSpPr>
          <p:cNvPr id="6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benchmark has 100 Base tasks, 90 Hallucination tasks and 50 Disambiguation tasks. Base asks whether an agent can finish a feasible task while following policies. Hallucination purposely makes the task impossible; a success is correctly stating the limitation. Disambiguation removes certainty and tests whether the agent gathers internal information or asks the user.</a:t>
            </a:r>
          </a:p>
        </p:txBody>
      </p:sp>
      <p:sp>
        <p:nvSpPr>
          <p:cNvPr id="647"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FBB575-D3B4-42DF-AC4E-3F301B155261}"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 name="PlaceHolder 1"/>
          <p:cNvSpPr>
            <a:spLocks noGrp="1" noRot="1" noChangeAspect="1"/>
          </p:cNvSpPr>
          <p:nvPr>
            <p:ph type="sldImg"/>
          </p:nvPr>
        </p:nvSpPr>
        <p:spPr>
          <a:xfrm>
            <a:off x="685800" y="1143000"/>
            <a:ext cx="5486040" cy="3085920"/>
          </a:xfrm>
          <a:prstGeom prst="rect">
            <a:avLst/>
          </a:prstGeom>
          <a:ln w="0">
            <a:noFill/>
          </a:ln>
        </p:spPr>
      </p:sp>
      <p:sp>
        <p:nvSpPr>
          <p:cNvPr id="6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 Hallucination task removes a required tool, a required parameter or required returned information. The request becomes unsatisfiable by design. The benchmark gives credit for openly acknowledging the missing capability or information, not for inventing an outcome.</a:t>
            </a:r>
          </a:p>
        </p:txBody>
      </p:sp>
      <p:sp>
        <p:nvSpPr>
          <p:cNvPr id="650"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50145CF-4CBE-444E-BD7C-A637051AC542}"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 name="PlaceHolder 1"/>
          <p:cNvSpPr>
            <a:spLocks noGrp="1" noRot="1" noChangeAspect="1"/>
          </p:cNvSpPr>
          <p:nvPr>
            <p:ph type="sldImg"/>
          </p:nvPr>
        </p:nvSpPr>
        <p:spPr>
          <a:xfrm>
            <a:off x="685800" y="1143000"/>
            <a:ext cx="5486040" cy="3085920"/>
          </a:xfrm>
          <a:prstGeom prst="rect">
            <a:avLst/>
          </a:prstGeom>
          <a:ln w="0">
            <a:noFill/>
          </a:ln>
        </p:spPr>
      </p:sp>
      <p:sp>
        <p:nvSpPr>
          <p:cNvPr id="6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Disambiguation tasks require two decisions: recognize an ambiguity, then choose the right method to resolve it. The agent must inspect policies, explicit requests, preferences, heuristics and context. If a unique valid option remains, act or request required confirmation. Otherwise ask the user. Unnecessary user questions can fail internal-disambiguation tasks.</a:t>
            </a:r>
          </a:p>
        </p:txBody>
      </p:sp>
      <p:sp>
        <p:nvSpPr>
          <p:cNvPr id="653"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E5C51C8-8E3A-4D9D-B96E-011F7F38B405}"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PlaceHolder 1"/>
          <p:cNvSpPr>
            <a:spLocks noGrp="1" noRot="1" noChangeAspect="1"/>
          </p:cNvSpPr>
          <p:nvPr>
            <p:ph type="sldImg"/>
          </p:nvPr>
        </p:nvSpPr>
        <p:spPr>
          <a:xfrm>
            <a:off x="685800" y="1143000"/>
            <a:ext cx="5486040" cy="3085920"/>
          </a:xfrm>
          <a:prstGeom prst="rect">
            <a:avLst/>
          </a:prstGeom>
          <a:ln w="0">
            <a:noFill/>
          </a:ln>
        </p:spPr>
      </p:sp>
      <p:sp>
        <p:nvSpPr>
          <p:cNvPr id="6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authors manually design the environment, build an API graph based on parameters, states and policy-triggering links, sample multistep paths, generate state configurations and natural user instructions, then manually validate tasks for clarity, execution feasibility and unique final state. This human review is an important design choice.</a:t>
            </a:r>
          </a:p>
        </p:txBody>
      </p:sp>
      <p:sp>
        <p:nvSpPr>
          <p:cNvPr id="656"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818786E-CD81-48CF-9514-3CB2940E494B}"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 name="PlaceHolder 1"/>
          <p:cNvSpPr>
            <a:spLocks noGrp="1" noRot="1" noChangeAspect="1"/>
          </p:cNvSpPr>
          <p:nvPr>
            <p:ph type="sldImg"/>
          </p:nvPr>
        </p:nvSpPr>
        <p:spPr>
          <a:xfrm>
            <a:off x="685800" y="1143000"/>
            <a:ext cx="5486040" cy="3085920"/>
          </a:xfrm>
          <a:prstGeom prst="rect">
            <a:avLst/>
          </a:prstGeom>
          <a:ln w="0">
            <a:noFill/>
          </a:ln>
        </p:spPr>
      </p:sp>
      <p:sp>
        <p:nvSpPr>
          <p:cNvPr id="6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CAR-bench uses binary rewards. All relevant metrics must equal one for the task to count as solved. Base tasks check final and intermediate state, required get tools, tool execution errors, policy errors and conversation status. Hallucination evaluates tool errors, policies and proper acknowledgment; Disambiguation uses Base metrics plus a special conversation error condition.</a:t>
            </a:r>
          </a:p>
        </p:txBody>
      </p:sp>
      <p:sp>
        <p:nvSpPr>
          <p:cNvPr id="659"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2304C36-04BC-4A17-BF06-077A510E89D5}"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 name="PlaceHolder 1"/>
          <p:cNvSpPr>
            <a:spLocks noGrp="1" noRot="1" noChangeAspect="1"/>
          </p:cNvSpPr>
          <p:nvPr>
            <p:ph type="sldImg"/>
          </p:nvPr>
        </p:nvSpPr>
        <p:spPr>
          <a:xfrm>
            <a:off x="685800" y="1143000"/>
            <a:ext cx="5486040" cy="3085920"/>
          </a:xfrm>
          <a:prstGeom prst="rect">
            <a:avLst/>
          </a:prstGeom>
          <a:ln w="0">
            <a:noFill/>
          </a:ln>
        </p:spPr>
      </p:sp>
      <p:sp>
        <p:nvSpPr>
          <p:cNvPr id="6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For each task, Pass@3 is one if at least one of three trials succeeds. Pass^3 is one only if all three trials succeed. Both are then averaged across tasks. In the example success, failure, success yields task-level Pass@3=1 and Pass^3=0; it is not 2/3.</a:t>
            </a:r>
          </a:p>
        </p:txBody>
      </p:sp>
      <p:sp>
        <p:nvSpPr>
          <p:cNvPr id="662"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6415324-F1B6-4CC1-A233-C7FDE89F500C}"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 name="PlaceHolder 1"/>
          <p:cNvSpPr>
            <a:spLocks noGrp="1" noRot="1" noChangeAspect="1"/>
          </p:cNvSpPr>
          <p:nvPr>
            <p:ph type="sldImg"/>
          </p:nvPr>
        </p:nvSpPr>
        <p:spPr>
          <a:xfrm>
            <a:off x="685800" y="1143000"/>
            <a:ext cx="5486040" cy="3085920"/>
          </a:xfrm>
          <a:prstGeom prst="rect">
            <a:avLst/>
          </a:prstGeom>
          <a:ln w="0">
            <a:noFill/>
          </a:ln>
        </p:spPr>
      </p:sp>
      <p:sp>
        <p:nvSpPr>
          <p:cNvPr id="6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paper compares 12 named model variants in Table 4, including thinking and non-thinking versions, proprietary and open-weight models. The task set is 100 Base, 90 Hallucination and 50 Disambiguation. The main results use k=3 for repeatability. To establish baselines, advanced prompt engineering and full agentic frameworks are not included. Some models were evaluated after initial benchmarking and excluded from selected later error analyses.</a:t>
            </a:r>
          </a:p>
        </p:txBody>
      </p:sp>
      <p:sp>
        <p:nvSpPr>
          <p:cNvPr id="665"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7725AAD-A270-4059-97D3-F0A84FF6E246}"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 name="PlaceHolder 1"/>
          <p:cNvSpPr>
            <a:spLocks noGrp="1" noRot="1" noChangeAspect="1"/>
          </p:cNvSpPr>
          <p:nvPr>
            <p:ph type="sldImg"/>
          </p:nvPr>
        </p:nvSpPr>
        <p:spPr>
          <a:xfrm>
            <a:off x="685800" y="1143000"/>
            <a:ext cx="5486400" cy="3086100"/>
          </a:xfrm>
          <a:prstGeom prst="rect">
            <a:avLst/>
          </a:prstGeom>
          <a:ln w="0">
            <a:noFill/>
          </a:ln>
        </p:spPr>
      </p:sp>
      <p:sp>
        <p:nvSpPr>
          <p:cNvPr id="6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chart shows the Pass^3 across three task types for three illustrative models. Claude Opus 4.6: 80%, 48%, 46%; GPT-5 thinking: 66%, 60%, 36%; GPT-4.1: 57%, 31%, 22%. It is important not to claim a fixed model is best in every category. Reasoning-enabled models generally outperform non-thinking models, but no tested model exceeds 50% Pass^3 on Disambiguation.</a:t>
            </a:r>
          </a:p>
        </p:txBody>
      </p:sp>
      <p:sp>
        <p:nvSpPr>
          <p:cNvPr id="668"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6A838B6-6AD3-4317-8A55-39D2471C7750}"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 name="PlaceHolder 1"/>
          <p:cNvSpPr>
            <a:spLocks noGrp="1" noRot="1" noChangeAspect="1"/>
          </p:cNvSpPr>
          <p:nvPr>
            <p:ph type="sldImg"/>
          </p:nvPr>
        </p:nvSpPr>
        <p:spPr>
          <a:xfrm>
            <a:off x="685800" y="1143000"/>
            <a:ext cx="5486040" cy="3085920"/>
          </a:xfrm>
          <a:prstGeom prst="rect">
            <a:avLst/>
          </a:prstGeom>
          <a:ln w="0">
            <a:noFill/>
          </a:ln>
        </p:spPr>
      </p:sp>
      <p:sp>
        <p:nvSpPr>
          <p:cNvPr id="6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GPT-5 thinking achieved Pass@3 68% and Pass^3 36% on Disambiguation. Thus 68% of tasks succeeded in at least one attempt, but only 36% succeeded all three times. The gap is 32 percentage points. A model can display competence without repeatable reliability.</a:t>
            </a:r>
          </a:p>
        </p:txBody>
      </p:sp>
      <p:sp>
        <p:nvSpPr>
          <p:cNvPr id="671"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9E454D5-D98E-45F8-8F0F-98E96F32709C}"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 name="PlaceHolder 1"/>
          <p:cNvSpPr>
            <a:spLocks noGrp="1" noRot="1" noChangeAspect="1"/>
          </p:cNvSpPr>
          <p:nvPr>
            <p:ph type="sldImg"/>
          </p:nvPr>
        </p:nvSpPr>
        <p:spPr>
          <a:xfrm>
            <a:off x="685800" y="1143000"/>
            <a:ext cx="5486040" cy="3085920"/>
          </a:xfrm>
          <a:prstGeom prst="rect">
            <a:avLst/>
          </a:prstGeom>
          <a:ln w="0">
            <a:noFill/>
          </a:ln>
        </p:spPr>
      </p:sp>
      <p:sp>
        <p:nvSpPr>
          <p:cNvPr id="6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Five classes are E1 premature actions, E2 policy violations, E3 logical errors, E4 execution errors and E5 fabrication. E5 includes implicit omission and active fabrication. In the paper’s sampled failure analysis, premature actions account for about 90% of GPT-5 Disambiguation failures. This rate applies to the analyzed failing traces, not all tasks.</a:t>
            </a:r>
          </a:p>
        </p:txBody>
      </p:sp>
      <p:sp>
        <p:nvSpPr>
          <p:cNvPr id="674"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FFB6CD6-58E0-4E40-9220-0A42E518A3E4}"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 name="PlaceHolder 1"/>
          <p:cNvSpPr>
            <a:spLocks noGrp="1" noRot="1" noChangeAspect="1"/>
          </p:cNvSpPr>
          <p:nvPr>
            <p:ph type="sldImg"/>
          </p:nvPr>
        </p:nvSpPr>
        <p:spPr>
          <a:xfrm>
            <a:off x="685800" y="1143000"/>
            <a:ext cx="5486040" cy="3085920"/>
          </a:xfrm>
          <a:prstGeom prst="rect">
            <a:avLst/>
          </a:prstGeom>
          <a:ln w="0">
            <a:noFill/>
          </a:ln>
        </p:spPr>
      </p:sp>
      <p:sp>
        <p:nvSpPr>
          <p:cNvPr id="6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Limitations from the paper: users are LLM-simulated and can violate instructions, introducing evaluation noise. The environment omits multi-user scenarios, long planning horizons, visual and multimodal inputs. In CAR-bench, policy compliance is delegated to the agent; production systems may use a separate rule layer. The 240 manually validated tasks are not enough for large-scale finetuning. Further caveat: model comparisons do not isolate reasoning tokens as a single causal factor.</a:t>
            </a:r>
          </a:p>
        </p:txBody>
      </p:sp>
      <p:sp>
        <p:nvSpPr>
          <p:cNvPr id="677"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A1CD85E-89FC-44F3-B115-96038F58DCDA}"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 name="PlaceHolder 1"/>
          <p:cNvSpPr>
            <a:spLocks noGrp="1" noRot="1" noChangeAspect="1"/>
          </p:cNvSpPr>
          <p:nvPr>
            <p:ph type="sldImg"/>
          </p:nvPr>
        </p:nvSpPr>
        <p:spPr>
          <a:xfrm>
            <a:off x="685800" y="1143000"/>
            <a:ext cx="5486040" cy="3085920"/>
          </a:xfrm>
          <a:prstGeom prst="rect">
            <a:avLst/>
          </a:prstGeom>
          <a:ln w="0">
            <a:noFill/>
          </a:ln>
        </p:spPr>
      </p:sp>
      <p:sp>
        <p:nvSpPr>
          <p:cNvPr id="6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The paper concludes that benchmark evaluations need to look at tool accuracy, policy following, uncertainty handling and honest communication of limits. The authors discuss stronger validation of simulated users, richer environments, efficient open models, new agent architectures and more synthetic training data. The slide condenses these future directions rather than claiming the paper tested them.</a:t>
            </a:r>
          </a:p>
        </p:txBody>
      </p:sp>
      <p:sp>
        <p:nvSpPr>
          <p:cNvPr id="680"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CB60DC7-16D3-44F9-8021-721D2A01F79F}"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PlaceHolder 1"/>
          <p:cNvSpPr>
            <a:spLocks noGrp="1" noRot="1" noChangeAspect="1"/>
          </p:cNvSpPr>
          <p:nvPr>
            <p:ph type="sldImg"/>
          </p:nvPr>
        </p:nvSpPr>
        <p:spPr>
          <a:xfrm>
            <a:off x="685800" y="1143000"/>
            <a:ext cx="5486040" cy="3085920"/>
          </a:xfrm>
          <a:prstGeom prst="rect">
            <a:avLst/>
          </a:prstGeom>
          <a:ln w="0">
            <a:noFill/>
          </a:ln>
        </p:spPr>
      </p:sp>
      <p:sp>
        <p:nvSpPr>
          <p:cNvPr id="6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Close on the key message: reliability is not just completing a task. A trustworthy agent knows when it has enough information to act, when it must ask for clarification, and when it must admit a missing capability or observation.</a:t>
            </a:r>
          </a:p>
        </p:txBody>
      </p:sp>
      <p:sp>
        <p:nvSpPr>
          <p:cNvPr id="686"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D187CE-FB03-48CD-95EC-C87D5E3F4A26}" type="slidenum">
              <a:rPr lang="en-US" sz="1200" b="0" u="none" strike="noStrike">
                <a:solidFill>
                  <a:schemeClr val="dk1"/>
                </a:solidFill>
                <a:effectLst/>
                <a:uFillTx/>
                <a:latin typeface="+mn-lt"/>
                <a:ea typeface="+mn-ea"/>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 name="PlaceHolder 1"/>
          <p:cNvSpPr>
            <a:spLocks noGrp="1" noRot="1" noChangeAspect="1"/>
          </p:cNvSpPr>
          <p:nvPr>
            <p:ph type="sldImg"/>
          </p:nvPr>
        </p:nvSpPr>
        <p:spPr>
          <a:xfrm>
            <a:off x="685800" y="1143000"/>
            <a:ext cx="5486040" cy="3085920"/>
          </a:xfrm>
          <a:prstGeom prst="rect">
            <a:avLst/>
          </a:prstGeom>
          <a:ln w="0">
            <a:noFill/>
          </a:ln>
        </p:spPr>
      </p:sp>
      <p:sp>
        <p:nvSpPr>
          <p:cNvPr id="6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All principal results and diagrams are summarized from the CAR-bench paper; this slide gives key references and the code repository printed in the paper. Additional proposed system improvements are labelled as our own insights.</a:t>
            </a:r>
          </a:p>
        </p:txBody>
      </p:sp>
      <p:sp>
        <p:nvSpPr>
          <p:cNvPr id="689"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995940E-7A4C-403F-AED5-8A7C326E2593}"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clrMapOvr>
    <a:masterClrMapping/>
  </p:clrMapOvr>
</p:notes>
</file>

<file path=ppt/replication/ppt/notesMasters/_rels/notesMaster1.xml.rels><?xml version='1.0' encoding='utf-8'?>
<ns0:Relationships xmlns:ns0="http://schemas.openxmlformats.org/package/2006/relationships"><ns0:Relationship Type="http://schemas.openxmlformats.org/officeDocument/2006/relationships/theme" Target="theme/theme3.xml" Id="Ra1e9b232e5694f69" /></ns0:Relationships>
</file>

<file path=ppt/replication/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replication/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replication/ppt/notesSlides/_rels/notesSlide1.xml.rels><?xml version='1.0' encoding='utf-8'?>
<ns0:Relationships xmlns:ns0="http://schemas.openxmlformats.org/package/2006/relationships"><ns0:Relationship Type="http://schemas.openxmlformats.org/officeDocument/2006/relationships/slide" Target="../../../slides/slide23.xml" Id="Ra56a298598e64f09" /><ns0:Relationship Type="http://schemas.openxmlformats.org/officeDocument/2006/relationships/notesMaster" Target="../notesMasters/notesMaster1.xml" Id="R5c70d00f7c0d45ef" /></ns0:Relationships>
</file>

<file path=ppt/replication/ppt/notesSlides/_rels/notesSlide2.xml.rels><?xml version='1.0' encoding='utf-8'?>
<ns0:Relationships xmlns:ns0="http://schemas.openxmlformats.org/package/2006/relationships"><ns0:Relationship Type="http://schemas.openxmlformats.org/officeDocument/2006/relationships/slide" Target="../../../slides/slide24.xml" Id="R2d4ac52e1e624a42" /><ns0:Relationship Type="http://schemas.openxmlformats.org/officeDocument/2006/relationships/notesMaster" Target="../notesMasters/notesMaster1.xml" Id="R8dc0eac43f9f40ce" /></ns0:Relationships>
</file>

<file path=ppt/replication/ppt/notesSlides/_rels/notesSlide3.xml.rels><?xml version='1.0' encoding='utf-8'?>
<ns0:Relationships xmlns:ns0="http://schemas.openxmlformats.org/package/2006/relationships"><ns0:Relationship Type="http://schemas.openxmlformats.org/officeDocument/2006/relationships/slide" Target="../../../slides/slide25.xml" Id="R1c4b31dd05194ded" /><ns0:Relationship Type="http://schemas.openxmlformats.org/officeDocument/2006/relationships/notesMaster" Target="../notesMasters/notesMaster1.xml" Id="Ra317db8354024e70" /></ns0:Relationships>
</file>

<file path=ppt/replication/ppt/notesSlides/_rels/notesSlide4.xml.rels><?xml version='1.0' encoding='utf-8'?>
<ns0:Relationships xmlns:ns0="http://schemas.openxmlformats.org/package/2006/relationships"><ns0:Relationship Type="http://schemas.openxmlformats.org/officeDocument/2006/relationships/slide" Target="../../../slides/slide26.xml" Id="R87778f6be3d04299" /><ns0:Relationship Type="http://schemas.openxmlformats.org/officeDocument/2006/relationships/notesMaster" Target="../notesMasters/notesMaster1.xml" Id="R44e5f2b74db145cd" /></ns0:Relationships>
</file>

<file path=ppt/replication/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nSpc>
                <a:spcPct val="100000"/>
              </a:lnSpc>
              <a:buNone/>
            </a:pPr>
            <a:r>
              <a:rPr sz="2000" b="0" u="none" strike="noStrike">
                <a:solidFill>
                  <a:srgbClr val="000000"/>
                </a:solidFill>
                <a:latin typeface="Arial"/>
                <a:ea typeface="Arial"/>
                <a:cs typeface="Arial"/>
              </a:rPr>
              <a:t>Sources: outputs/extension/summary.json and trial-index.csv. Author analysis: analyze_results_v2.py and analyze_results.py at commit ce6dc9d08f4ff81eb4c1a5c317aff25112ee950b. Main estimates use trial IDs 0,1,2 for both models. Pass@1 is trial 0 only; Pass@3 is any success in the first three, Pass^3 all three. 125 tasks, 375 primary trials. Six full repetitions (750 trials) and 84 partial seventh-round trials are stored, but excluded from primary estimates. Gemini 2.5 Flash thinking simulates users and supports original scoring. Offline correction, no new API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replication/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nSpc>
                <a:spcPct val="100000"/>
              </a:lnSpc>
              <a:buNone/>
            </a:pPr>
            <a:r>
              <a:rPr sz="2000" b="0" u="none" strike="noStrike">
                <a:solidFill>
                  <a:srgbClr val="000000"/>
                </a:solidFill>
                <a:latin typeface="Arial"/>
                <a:ea typeface="Arial"/>
                <a:cs typeface="Arial"/>
              </a:rPr>
              <a:t>Source: outputs/extension/summary.json categories.disambiguation.scores. First-three Pass@1 68%, Pass@3 80%, Pass^3 40%, gap 40 percentage points. 10/25 tasks pass all three. Six-run combination estimates appear only in the appendix. This is observed inconsistency, not a causal test of a clarification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replication/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nSpc>
                <a:spcPct val="100000"/>
              </a:lnSpc>
              <a:buNone/>
            </a:pPr>
            <a:r>
              <a:rPr sz="2000" b="0" u="none" strike="noStrike">
                <a:solidFill>
                  <a:srgbClr val="000000"/>
                </a:solidFill>
                <a:latin typeface="Arial"/>
                <a:ea typeface="Arial"/>
                <a:cs typeface="Arial"/>
              </a:rPr>
              <a:t>Sources: outputs/extension/summary.json matched and task-definition-audit.json. Both models use trial IDs 0,1,2 only. First-trial Pass@1, any/all first-three indicators. Identical task definitions and original matching cohort retained. Paired task bootstrap 10,000 resamples, seed 769. Historical code, simulator and judge conditions differ, so no causal model-upgrade claim. No reasoning=none ablation. Data: {"base": {"n": 48, "matched": {"luna": {"pass1": 0.7708333333333334, "pass_at3": 0.8541666666666666, "pass_all3": 0.5833333333333334}, "gpt5": {"pass1": 0.7708333333333334, "pass_at3": 0.875, "pass_all3": 0.6666666666666666}, "difference": {"pass1": 0.0, "pass_at3": -0.020833333333333332, "pass_all3": -0.08333333333333333}, "difference_bootstrap_95ci": {"pass1": [-0.16666666666666666, 0.16666666666666666], "pass_at3": [-0.14583333333333334, 0.10416666666666667], "pass_all3": [-0.22916666666666666, 0.0625]}}}, "hallucination": {"n": 45, "matched": {"luna": {"pass1": 0.6444444444444445, "pass_at3": 0.7555555555555555, "pass_all3": 0.5111111111111111}, "gpt5": {"pass1": 0.7333333333333333, "pass_at3": 0.8222222222222222, "pass_all3": 0.6}, "difference": {"pass1": -0.08888888888888889, "pass_at3": -0.06666666666666667, "pass_all3": -0.08888888888888889}, "difference_bootstrap_95ci": {"pass1": [-0.24444444444444444, 0.06666666666666667], "pass_at3": [-0.2222222222222222, 0.06666666666666667], "pass_all3": [-0.24444444444444444, 0.044444444444444446]}}}, "disambiguation": {"n": 19, "matched": {"luna": {"pass1": 0.7368421052631579, "pass_at3": 0.8421052631578947, "pass_all3": 0.42105263157894735}, "gpt5": {"pass1": 0.5789473684210527, "pass_at3": 0.7894736842105263, "pass_all3": 0.47368421052631576}, "difference": {"pass1": 0.15789473684210525, "pass_at3": 0.05263157894736842, "pass_all3": -0.05263157894736842}, "difference_bootstrap_95ci": {"pass1": [-0.10526315789473684, 0.42105263157894735], "pass_at3": [-0.15789473684210525, 0.2631578947368421], "pass_all3": [-0.3157894736842105, 0.21052631578947367]}}}}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replication/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nSpc>
                <a:spcPct val="100000"/>
              </a:lnSpc>
              <a:buNone/>
            </a:pPr>
            <a:r>
              <a:rPr sz="2000" b="0" u="none" strike="noStrike">
                <a:solidFill>
                  <a:srgbClr val="000000"/>
                </a:solidFill>
                <a:latin typeface="Arial"/>
                <a:ea typeface="Arial"/>
                <a:cs typeface="Arial"/>
              </a:rPr>
              <a:t>Supplement only: k=3, Luna n=6, Pass^3=C(c,3)/C(6,3), Pass@3=1-C(6-c,3)/C(6,3). Mean success=c/6. Historical comparison in full report uses all 10 triples of GPT-5 n=5. These estimates are separate from main first-three results. All-six success rates are separate stricter metrics. Partial seventh rounds excluded. See summary.json balanced_scores and balanced_matched.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replication/ppt/slideLayouts/_rels/slideLayout1.xml.rels><?xml version='1.0' encoding='utf-8'?>
<ns0:Relationships xmlns:ns0="http://schemas.openxmlformats.org/package/2006/relationships"><ns0:Relationship Type="http://schemas.openxmlformats.org/officeDocument/2006/relationships/slideMaster" Target="../slideMasters/slideMaster1.xml" Id="R9acd43716899437e" /></ns0:Relationships>
</file>

<file path=ppt/replication/ppt/slideLayouts/slideLayout1.xml><?xml version="1.0" encoding="utf-8"?>
<p:sldLayout xmlns:p="http://schemas.openxmlformats.org/presentationml/2006/main" type="blank" preserve="1">
  <p:cSld name="DEFAULT">
    <p:spTree>
      <p:nvGrpSpPr>
        <p:cNvPr id="1" name=""/>
        <p:cNvGrpSpPr/>
        <p:nvPr/>
      </p:nvGrpSpPr>
      <p:grpSpPr>
        <a:xfrm xmlns:a="http://schemas.openxmlformats.org/drawingml/2006/main"/>
      </p:grpSpPr>
    </p:spTree>
  </p:cSld>
</p:sldLayout>
</file>

<file path=ppt/replication/ppt/slideMasters/_rels/slideMaster1.xml.rels><?xml version='1.0' encoding='utf-8'?>
<ns0:Relationships xmlns:ns0="http://schemas.openxmlformats.org/package/2006/relationships"><ns0:Relationship Type="http://schemas.openxmlformats.org/officeDocument/2006/relationships/theme" Target="theme/theme2.xml" Id="Rcdfaabec753343e9" /><ns0:Relationship Type="http://schemas.openxmlformats.org/officeDocument/2006/relationships/slideLayout" Target="../slideLayouts/slideLayout1.xml" Id="Rb29afdddcf454c52" /></ns0:Relationships>
</file>

<file path=ppt/replication/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E3F79907-6FA1-47CC-8080-1F9B24983CF5}"/>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indent="0">
              <a:buNone/>
            </a:pPr>
            <a:r>
              <a:rPr sz="1800" b="0" u="none" strike="noStrike">
                <a:solidFill>
                  <a:schemeClr val="dk1"/>
                </a:solidFill>
                <a:latin typeface="Aptos"/>
                <a:ea typeface="Aptos"/>
                <a:cs typeface="Aptos"/>
              </a:rPr>
              <a:t>Click to edit the title text format</a:t>
            </a:r>
          </a:p>
        </p:txBody>
      </p:sp>
      <p:sp>
        <p:nvSpPr>
          <p:cNvPr id="3" name="PlaceHolder 2">
            <a:extLst xmlns:a="http://schemas.openxmlformats.org/drawingml/2006/main">
              <a:ext uri="{FF2B5EF4-FFF2-40B4-BE49-F238E27FC236}">
                <a16:creationId xmlns:a16="http://schemas.microsoft.com/office/drawing/2014/main" id="{5077C676-03D3-45CA-B97B-E0B390ECD53F}"/>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spcBef>
                <a:spcPts val="1417"/>
              </a:spcBef>
              <a:buClr>
                <a:srgbClr val="000000"/>
              </a:buClr>
              <a:buSzPct val="45000"/>
              <a:buFont typeface="Wingdings"/>
              <a:buChar char=""/>
            </a:pPr>
            <a:r>
              <a:rPr sz="3200" b="0" u="none" strike="noStrike">
                <a:solidFill>
                  <a:schemeClr val="dk1"/>
                </a:solidFill>
                <a:latin typeface="Aptos"/>
                <a:ea typeface="Aptos"/>
                <a:cs typeface="Aptos"/>
              </a:rPr>
              <a:t>Click to edit the outline text format</a:t>
            </a:r>
          </a:p>
          <a:p xmlns:a="http://schemas.openxmlformats.org/drawingml/2006/main">
            <a:pPr marL="864000" lvl="1" indent="-324000">
              <a:spcBef>
                <a:spcPts val="1134"/>
              </a:spcBef>
              <a:buClr>
                <a:srgbClr val="000000"/>
              </a:buClr>
              <a:buSzPct val="75000"/>
              <a:buFont typeface="Symbol"/>
              <a:buChar char=""/>
            </a:pPr>
            <a:r>
              <a:rPr sz="2400" b="0" u="none" strike="noStrike">
                <a:solidFill>
                  <a:schemeClr val="dk1"/>
                </a:solidFill>
                <a:latin typeface="Aptos"/>
                <a:ea typeface="Aptos"/>
                <a:cs typeface="Aptos"/>
              </a:rPr>
              <a:t>Second Outline Level</a:t>
            </a:r>
          </a:p>
          <a:p xmlns:a="http://schemas.openxmlformats.org/drawingml/2006/main">
            <a:pPr marL="1296000" lvl="2" indent="-288000">
              <a:spcBef>
                <a:spcPts val="850"/>
              </a:spcBef>
              <a:buClr>
                <a:srgbClr val="000000"/>
              </a:buClr>
              <a:buSzPct val="45000"/>
              <a:buFont typeface="Wingdings"/>
              <a:buChar char=""/>
            </a:pPr>
            <a:r>
              <a:rPr sz="2000" b="0" u="none" strike="noStrike">
                <a:solidFill>
                  <a:schemeClr val="dk1"/>
                </a:solidFill>
                <a:latin typeface="Aptos"/>
                <a:ea typeface="Aptos"/>
                <a:cs typeface="Aptos"/>
              </a:rPr>
              <a:t>Third Outline Level</a:t>
            </a:r>
          </a:p>
          <a:p xmlns:a="http://schemas.openxmlformats.org/drawingml/2006/main">
            <a:pPr marL="1728000" lvl="3" indent="-216000">
              <a:spcBef>
                <a:spcPts val="567"/>
              </a:spcBef>
              <a:buClr>
                <a:srgbClr val="000000"/>
              </a:buClr>
              <a:buSzPct val="75000"/>
              <a:buFont typeface="Symbol"/>
              <a:buChar char=""/>
            </a:pPr>
            <a:r>
              <a:rPr sz="2000" b="0" u="none" strike="noStrike">
                <a:solidFill>
                  <a:schemeClr val="dk1"/>
                </a:solidFill>
                <a:latin typeface="Aptos"/>
                <a:ea typeface="Aptos"/>
                <a:cs typeface="Aptos"/>
              </a:rPr>
              <a:t>Fourth Outline Level</a:t>
            </a:r>
          </a:p>
          <a:p xmlns:a="http://schemas.openxmlformats.org/drawingml/2006/main">
            <a:pPr marL="2160000" lvl="4"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Fifth Outline Level</a:t>
            </a:r>
          </a:p>
          <a:p xmlns:a="http://schemas.openxmlformats.org/drawingml/2006/main">
            <a:pPr marL="2592000" lvl="5"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Sixth Outline Level</a:t>
            </a:r>
          </a:p>
          <a:p xmlns:a="http://schemas.openxmlformats.org/drawingml/2006/main">
            <a:pPr marL="3024000" lvl="6"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Seventh Outline Level</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9afdddcf454c52"/>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replication/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replication/ppt/slides/charts/_rels/chart1.xml.rels><?xml version='1.0' encoding='utf-8'?>
<ns0:Relationships xmlns:ns0="http://schemas.openxmlformats.org/package/2006/relationships"><ns0:Relationship Id="rIdWorkbook" Type="http://schemas.openxmlformats.org/officeDocument/2006/relationships/package" Target="../embeddings/chart1.xml.xlsx" /></ns0:Relationships>
</file>

<file path=ppt/replication/ppt/slides/charts/_rels/chart2.xml.rels><?xml version='1.0' encoding='utf-8'?>
<ns0:Relationships xmlns:ns0="http://schemas.openxmlformats.org/package/2006/relationships"><ns0:Relationship Id="rIdWorkbook" Type="http://schemas.openxmlformats.org/officeDocument/2006/relationships/package" Target="../embeddings/chart2.xml.xlsx" /></ns0:Relationships>
</file>

<file path=ppt/replication/ppt/slides/charts/chart1.xml><?xml version="1.0" encoding="utf-8"?>
<c:chartSpace xmlns:a="http://schemas.openxmlformats.org/drawingml/2006/main" xmlns:c="http://schemas.openxmlformats.org/drawingml/2006/chart" xmlns:r="http://schemas.openxmlformats.org/officeDocument/2006/relationships">
  <c:lang val="en-US"/>
  <c:chart>
    <c:plotArea>
      <c:barChart>
        <c:barDir val="col"/>
        <c:grouping val="clustered"/>
        <c:varyColors val="0"/>
        <c:ser>
          <c:idx val="0"/>
          <c:order val="0"/>
          <c:tx>
            <c:strRef>
              <c:f>'Data'!$B$1</c:f>
              <c:strCache>
                <c:ptCount val="1"/>
                <c:pt idx="0">
                  <c:v>Disambiguation</c:v>
                </c:pt>
              </c:strCache>
            </c:strRef>
          </c:tx>
          <c:spPr>
            <a:solidFill>
              <a:srgbClr val="119F9A"/>
            </a:solidFill>
          </c:spPr>
          <c:invertIfNegative val="0"/>
          <c:cat>
            <c:strRef>
              <c:f>'Data'!$A$2:$A$3</c:f>
              <c:strCache>
                <c:ptCount val="2"/>
                <c:pt idx="0">
                  <c:v>Pass@3</c:v>
                </c:pt>
                <c:pt idx="1">
                  <c:v>Pass³</c:v>
                </c:pt>
              </c:strCache>
            </c:strRef>
          </c:cat>
          <c:val>
            <c:numRef>
              <c:f>'Data'!$B$2:$B$3</c:f>
              <c:numCache>
                <c:formatCode>0%</c:formatCode>
                <c:ptCount val="2"/>
                <c:pt idx="0">
                  <c:v>0.8</c:v>
                </c:pt>
                <c:pt idx="1">
                  <c:v>0.4</c:v>
                </c:pt>
              </c:numCache>
            </c:numRef>
          </c:val>
        </c:ser>
        <c:dLbls>
          <c:numFmt formatCode="0.0%" sourceLinked="0"/>
          <c:txPr>
            <a:bodyPr anchorCtr="1"/>
            <a:lstStyle/>
            <a:p>
              <a:pPr>
                <a:defRPr sz="2100" b="1">
                  <a:solidFill>
                    <a:srgbClr val="14283F"/>
                  </a:solidFill>
                  <a:latin typeface="Aptos"/>
                  <a:ea typeface="Aptos"/>
                  <a:cs typeface="Apto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875">
                <a:solidFill>
                  <a:srgbClr val="14283F"/>
                </a:solidFill>
                <a:latin typeface="Aptos"/>
                <a:ea typeface="Aptos"/>
                <a:cs typeface="Aptos"/>
              </a:defRPr>
            </a:pPr>
          </a:p>
        </c:txPr>
        <c:crossAx val="48672768"/>
      </c:catAx>
      <c:valAx>
        <c:axId val="48672768"/>
        <c:scaling>
          <c:orientation val="minMax"/>
          <c:max val="1"/>
          <c:min val="0"/>
        </c:scaling>
        <c:delete val="0"/>
        <c:axPos val="l"/>
        <c:majorGridlines>
          <c:spPr>
            <a:ln w="9525">
              <a:solidFill>
                <a:srgbClr val="DCE5ED"/>
              </a:solidFill>
            </a:ln>
          </c:spPr>
        </c:majorGridlines>
        <c:numFmt formatCode="0%"/>
        <c:majorTickMark val="none"/>
        <c:minorTickMark val="none"/>
        <c:spPr>
          <a:ln w="9525">
            <a:solidFill>
              <a:srgbClr val="D4D4D4"/>
            </a:solidFill>
            <a:prstDash val="solid"/>
          </a:ln>
        </c:spPr>
        <c:txPr>
          <a:bodyPr anchorCtr="1"/>
          <a:lstStyle/>
          <a:p>
            <a:pPr>
              <a:defRPr sz="1425">
                <a:solidFill>
                  <a:srgbClr val="607892"/>
                </a:solidFill>
                <a:latin typeface="Aptos"/>
                <a:ea typeface="Aptos"/>
                <a:cs typeface="Aptos"/>
              </a:defRPr>
            </a:pPr>
          </a:p>
        </c:txPr>
        <c:crossAx val="48650112"/>
        <c:crossBetween val="between"/>
        <c:majorUnit val="0.25"/>
      </c:valAx>
      <c:spPr>
        <a:solidFill>
          <a:srgbClr val="F7F9FC"/>
        </a:solidFill>
      </c:spPr>
    </c:plotArea>
    <c:plotVisOnly val="1"/>
  </c:chart>
  <c:spPr>
    <a:solidFill>
      <a:srgbClr val="F7F9FC"/>
    </a:solidFill>
  </c:spPr>
  <c:externalData r:id="rIdWorkbook">
    <c:autoUpdate val="0"/>
  </c:externalData>
</c:chartSpace>
</file>

<file path=ppt/replication/ppt/slides/charts/chart2.xml><?xml version="1.0" encoding="utf-8"?>
<c:chartSpace xmlns:a="http://schemas.openxmlformats.org/drawingml/2006/main" xmlns:c="http://schemas.openxmlformats.org/drawingml/2006/chart" xmlns:r="http://schemas.openxmlformats.org/officeDocument/2006/relationships">
  <c:lang val="en-US"/>
  <c:chart>
    <c:plotArea>
      <c:barChart>
        <c:barDir val="col"/>
        <c:grouping val="clustered"/>
        <c:varyColors val="0"/>
        <c:ser>
          <c:idx val="0"/>
          <c:order val="0"/>
          <c:tx>
            <c:strRef>
              <c:f>'Data'!$B$1</c:f>
              <c:strCache>
                <c:ptCount val="1"/>
                <c:pt idx="0">
                  <c:v>GPT-6 Luna (first 3)</c:v>
                </c:pt>
              </c:strCache>
            </c:strRef>
          </c:tx>
          <c:spPr>
            <a:solidFill>
              <a:srgbClr val="119F9A"/>
            </a:solidFill>
          </c:spPr>
          <c:invertIfNegative val="0"/>
          <c:cat>
            <c:strRef>
              <c:f>'Data'!$A$2:$A$4</c:f>
              <c:strCache>
                <c:ptCount val="3"/>
                <c:pt idx="0">
                  <c:v>Base</c:v>
                </c:pt>
                <c:pt idx="1">
                  <c:v>Hallucination</c:v>
                </c:pt>
                <c:pt idx="2">
                  <c:v>Disambiguation</c:v>
                </c:pt>
              </c:strCache>
            </c:strRef>
          </c:cat>
          <c:val>
            <c:numRef>
              <c:f>'Data'!$B$2:$B$4</c:f>
              <c:numCache>
                <c:formatCode>0%</c:formatCode>
                <c:ptCount val="3"/>
                <c:pt idx="0">
                  <c:v>0.58333333</c:v>
                </c:pt>
                <c:pt idx="1">
                  <c:v>0.51111111</c:v>
                </c:pt>
                <c:pt idx="2">
                  <c:v>0.42105263</c:v>
                </c:pt>
              </c:numCache>
            </c:numRef>
          </c:val>
        </c:ser>
        <c:ser>
          <c:idx val="1"/>
          <c:order val="1"/>
          <c:tx>
            <c:strRef>
              <c:f>'Data'!$C$1</c:f>
              <c:strCache>
                <c:ptCount val="1"/>
                <c:pt idx="0">
                  <c:v>GPT-5 (first 3)</c:v>
                </c:pt>
              </c:strCache>
            </c:strRef>
          </c:tx>
          <c:spPr>
            <a:solidFill>
              <a:srgbClr val="8C7CA0"/>
            </a:solidFill>
          </c:spPr>
          <c:invertIfNegative val="0"/>
          <c:cat>
            <c:strRef>
              <c:f>'Data'!$A$2:$A$4</c:f>
              <c:strCache>
                <c:ptCount val="3"/>
                <c:pt idx="0">
                  <c:v>Base</c:v>
                </c:pt>
                <c:pt idx="1">
                  <c:v>Hallucination</c:v>
                </c:pt>
                <c:pt idx="2">
                  <c:v>Disambiguation</c:v>
                </c:pt>
              </c:strCache>
            </c:strRef>
          </c:cat>
          <c:val>
            <c:numRef>
              <c:f>'Data'!$C$2:$C$4</c:f>
              <c:numCache>
                <c:formatCode>0%</c:formatCode>
                <c:ptCount val="3"/>
                <c:pt idx="0">
                  <c:v>0.66666667</c:v>
                </c:pt>
                <c:pt idx="1">
                  <c:v>0.6</c:v>
                </c:pt>
                <c:pt idx="2">
                  <c:v>0.47368421</c:v>
                </c:pt>
              </c:numCache>
            </c:numRef>
          </c:val>
        </c:ser>
        <c:dLbls>
          <c:numFmt formatCode="0.0%" sourceLinked="0"/>
          <c:txPr>
            <a:bodyPr anchorCtr="1"/>
            <a:lstStyle/>
            <a:p>
              <a:pPr>
                <a:defRPr sz="1650" b="1">
                  <a:solidFill>
                    <a:srgbClr val="14283F"/>
                  </a:solidFill>
                  <a:latin typeface="Aptos"/>
                  <a:ea typeface="Aptos"/>
                  <a:cs typeface="Aptos"/>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575">
                <a:solidFill>
                  <a:srgbClr val="14283F"/>
                </a:solidFill>
                <a:latin typeface="Aptos"/>
                <a:ea typeface="Aptos"/>
                <a:cs typeface="Aptos"/>
              </a:defRPr>
            </a:pPr>
          </a:p>
        </c:txPr>
        <c:crossAx val="48672768"/>
      </c:catAx>
      <c:valAx>
        <c:axId val="48672768"/>
        <c:scaling>
          <c:orientation val="minMax"/>
          <c:max val="1"/>
          <c:min val="0"/>
        </c:scaling>
        <c:delete val="0"/>
        <c:axPos val="l"/>
        <c:majorGridlines>
          <c:spPr>
            <a:ln w="9525">
              <a:solidFill>
                <a:srgbClr val="DCE5ED"/>
              </a:solidFill>
            </a:ln>
          </c:spPr>
        </c:majorGridlines>
        <c:numFmt formatCode="0%"/>
        <c:majorTickMark val="none"/>
        <c:minorTickMark val="none"/>
        <c:spPr>
          <a:ln w="9525">
            <a:solidFill>
              <a:srgbClr val="D4D4D4"/>
            </a:solidFill>
            <a:prstDash val="solid"/>
          </a:ln>
        </c:spPr>
        <c:txPr>
          <a:bodyPr anchorCtr="1"/>
          <a:lstStyle/>
          <a:p>
            <a:pPr>
              <a:defRPr sz="1350">
                <a:solidFill>
                  <a:srgbClr val="607892"/>
                </a:solidFill>
                <a:latin typeface="Aptos"/>
                <a:ea typeface="Aptos"/>
                <a:cs typeface="Aptos"/>
              </a:defRPr>
            </a:pPr>
          </a:p>
        </c:txPr>
        <c:crossAx val="48650112"/>
        <c:crossBetween val="between"/>
        <c:majorUnit val="0.25"/>
      </c:valAx>
      <c:spPr>
        <a:solidFill>
          <a:srgbClr val="F7F9FC"/>
        </a:solidFill>
      </c:spPr>
    </c:plotArea>
    <c:legend>
      <c:legendPos val="t"/>
      <c:overlay val="0"/>
      <c:txPr>
        <a:bodyPr anchorCtr="1"/>
        <a:lstStyle/>
        <a:p>
          <a:pPr>
            <a:defRPr sz="1350">
              <a:solidFill>
                <a:srgbClr val="14283F"/>
              </a:solidFill>
              <a:latin typeface="Aptos"/>
              <a:ea typeface="Aptos"/>
              <a:cs typeface="Aptos"/>
            </a:defRPr>
          </a:pPr>
        </a:p>
      </c:txPr>
    </c:legend>
    <c:plotVisOnly val="1"/>
  </c:chart>
  <c:spPr>
    <a:solidFill>
      <a:srgbClr val="F7F9FC"/>
    </a:solidFill>
  </c:spPr>
  <c:externalData r:id="rIdWorkbook">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E_0.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ns0:Relationships xmlns:ns0="http://schemas.openxmlformats.org/package/2006/relationships"><ns0:Relationship Type="http://schemas.openxmlformats.org/officeDocument/2006/relationships/slideLayout" Target="../replication/ppt/slideLayouts/slideLayout1.xml" Id="Rb0a15c2e47274a45" /><ns0:Relationship Type="http://schemas.openxmlformats.org/officeDocument/2006/relationships/notesSlide" Target="../replication/ppt/notesSlides/notesSlide1.xml" Id="Rf2cec32900d642bf" /></ns0:Relationships>
</file>

<file path=ppt/slides/_rels/slide24.xml.rels><?xml version='1.0' encoding='utf-8'?>
<ns0:Relationships xmlns:ns0="http://schemas.openxmlformats.org/package/2006/relationships"><ns0:Relationship Type="http://schemas.openxmlformats.org/officeDocument/2006/relationships/slideLayout" Target="../replication/ppt/slideLayouts/slideLayout1.xml" Id="R6238c107c88a4f92" /><ns0:Relationship Type="http://schemas.openxmlformats.org/officeDocument/2006/relationships/chart" Target="../replication/ppt/slides/charts/chart1.xml" Id="R71ea9a65c7b14b6d" /><ns0:Relationship Type="http://schemas.openxmlformats.org/officeDocument/2006/relationships/notesSlide" Target="../replication/ppt/notesSlides/notesSlide2.xml" Id="Raa4400a269bf47e6" /></ns0:Relationships>
</file>

<file path=ppt/slides/_rels/slide25.xml.rels><?xml version='1.0' encoding='utf-8'?>
<ns0:Relationships xmlns:ns0="http://schemas.openxmlformats.org/package/2006/relationships"><ns0:Relationship Type="http://schemas.openxmlformats.org/officeDocument/2006/relationships/slideLayout" Target="../replication/ppt/slideLayouts/slideLayout1.xml" Id="Re11d371185f74476" /><ns0:Relationship Type="http://schemas.openxmlformats.org/officeDocument/2006/relationships/chart" Target="../replication/ppt/slides/charts/chart2.xml" Id="R22cf9280eb734eb2" /><ns0:Relationship Type="http://schemas.openxmlformats.org/officeDocument/2006/relationships/notesSlide" Target="../replication/ppt/notesSlides/notesSlide3.xml" Id="R740aa9f1de9542b7" /></ns0:Relationships>
</file>

<file path=ppt/slides/_rels/slide26.xml.rels><?xml version='1.0' encoding='utf-8'?>
<ns0:Relationships xmlns:ns0="http://schemas.openxmlformats.org/package/2006/relationships"><ns0:Relationship Type="http://schemas.openxmlformats.org/officeDocument/2006/relationships/slideLayout" Target="../replication/ppt/slideLayouts/slideLayout1.xml" Id="R116cd538c6004750" /><ns0:Relationship Type="http://schemas.openxmlformats.org/officeDocument/2006/relationships/notesSlide" Target="../replication/ppt/notesSlides/notesSlide4.xml" Id="R28ac15f826f047d9" /></ns0: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337"/>
        </a:solidFill>
        <a:effectLst/>
      </p:bgPr>
    </p:bg>
    <p:spTree>
      <p:nvGrpSpPr>
        <p:cNvPr id="1" name=""/>
        <p:cNvGrpSpPr/>
        <p:nvPr/>
      </p:nvGrpSpPr>
      <p:grpSpPr>
        <a:xfrm>
          <a:off x="0" y="0"/>
          <a:ext cx="0" cy="0"/>
          <a:chOff x="0" y="0"/>
          <a:chExt cx="0" cy="0"/>
        </a:xfrm>
      </p:grpSpPr>
      <p:sp>
        <p:nvSpPr>
          <p:cNvPr id="8" name="Shape 0"/>
          <p:cNvSpPr/>
          <p:nvPr/>
        </p:nvSpPr>
        <p:spPr>
          <a:xfrm>
            <a:off x="0" y="0"/>
            <a:ext cx="145800" cy="685764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 name="Shape 1"/>
          <p:cNvSpPr/>
          <p:nvPr/>
        </p:nvSpPr>
        <p:spPr>
          <a:xfrm>
            <a:off x="8842320" y="1024200"/>
            <a:ext cx="2395440" cy="2395440"/>
          </a:xfrm>
          <a:prstGeom prst="ellipse">
            <a:avLst/>
          </a:prstGeom>
          <a:solidFill>
            <a:srgbClr val="18364C"/>
          </a:solidFill>
          <a:ln w="12700">
            <a:solidFill>
              <a:srgbClr val="18364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 name="Shape 2"/>
          <p:cNvSpPr/>
          <p:nvPr/>
        </p:nvSpPr>
        <p:spPr>
          <a:xfrm>
            <a:off x="9500760" y="1572840"/>
            <a:ext cx="2038680" cy="2038680"/>
          </a:xfrm>
          <a:prstGeom prst="ellipse">
            <a:avLst/>
          </a:prstGeom>
          <a:solidFill>
            <a:srgbClr val="204D59"/>
          </a:solidFill>
          <a:ln w="12700">
            <a:solidFill>
              <a:srgbClr val="204D5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 name="Shape 3"/>
          <p:cNvSpPr/>
          <p:nvPr/>
        </p:nvSpPr>
        <p:spPr>
          <a:xfrm>
            <a:off x="9098280" y="1974960"/>
            <a:ext cx="987120" cy="98712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 name="Text 4"/>
          <p:cNvSpPr/>
          <p:nvPr/>
        </p:nvSpPr>
        <p:spPr>
          <a:xfrm>
            <a:off x="758880" y="758880"/>
            <a:ext cx="91436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170">
                <a:solidFill>
                  <a:srgbClr val="5CD6CB"/>
                </a:solidFill>
                <a:effectLst/>
                <a:uFillTx/>
                <a:latin typeface="Aptos"/>
                <a:ea typeface="Aptos"/>
              </a:rPr>
              <a:t>PAPER PRESENTATION  |  ACL 2026</a:t>
            </a:r>
            <a:endParaRPr lang="en-US" sz="1400" b="0" u="none" strike="noStrike">
              <a:solidFill>
                <a:srgbClr val="FFFFFF"/>
              </a:solidFill>
              <a:effectLst/>
              <a:uFillTx/>
              <a:latin typeface="Arial"/>
            </a:endParaRPr>
          </a:p>
        </p:txBody>
      </p:sp>
      <p:sp>
        <p:nvSpPr>
          <p:cNvPr id="13" name="Text 5"/>
          <p:cNvSpPr/>
          <p:nvPr/>
        </p:nvSpPr>
        <p:spPr>
          <a:xfrm>
            <a:off x="740520" y="1499760"/>
            <a:ext cx="82292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5400" b="1" u="none" strike="noStrike">
                <a:solidFill>
                  <a:srgbClr val="FFFFFF"/>
                </a:solidFill>
                <a:effectLst/>
                <a:uFillTx/>
                <a:latin typeface="Aptos"/>
                <a:ea typeface="Aptos"/>
              </a:rPr>
              <a:t>CAR-bench</a:t>
            </a:r>
            <a:endParaRPr lang="en-US" sz="5400" b="0" u="none" strike="noStrike">
              <a:solidFill>
                <a:srgbClr val="FFFFFF"/>
              </a:solidFill>
              <a:effectLst/>
              <a:uFillTx/>
              <a:latin typeface="Arial"/>
            </a:endParaRPr>
          </a:p>
        </p:txBody>
      </p:sp>
      <p:sp>
        <p:nvSpPr>
          <p:cNvPr id="14" name="Text 6"/>
          <p:cNvSpPr/>
          <p:nvPr/>
        </p:nvSpPr>
        <p:spPr>
          <a:xfrm>
            <a:off x="768240" y="2468880"/>
            <a:ext cx="86864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500" b="1" u="none" strike="noStrike">
                <a:solidFill>
                  <a:srgbClr val="FFFFFF"/>
                </a:solidFill>
                <a:effectLst/>
                <a:uFillTx/>
                <a:latin typeface="Aptos"/>
                <a:ea typeface="Aptos"/>
              </a:rPr>
              <a:t>Can an AI agent know</a:t>
            </a:r>
            <a:endParaRPr lang="en-US" sz="3500" b="0" u="none" strike="noStrike">
              <a:solidFill>
                <a:srgbClr val="FFFFFF"/>
              </a:solidFill>
              <a:effectLst/>
              <a:uFillTx/>
              <a:latin typeface="Arial"/>
            </a:endParaRPr>
          </a:p>
          <a:p>
            <a:pPr defTabSz="914400">
              <a:lnSpc>
                <a:spcPct val="100000"/>
              </a:lnSpc>
              <a:tabLst>
                <a:tab pos="0" algn="l"/>
              </a:tabLst>
            </a:pPr>
            <a:r>
              <a:rPr lang="en-US" sz="3500" b="1" u="none" strike="noStrike">
                <a:solidFill>
                  <a:srgbClr val="FFFFFF"/>
                </a:solidFill>
                <a:effectLst/>
                <a:uFillTx/>
                <a:latin typeface="Aptos"/>
                <a:ea typeface="Aptos"/>
              </a:rPr>
              <a:t>when NOT to act?</a:t>
            </a:r>
            <a:endParaRPr lang="en-US" sz="3500" b="0" u="none" strike="noStrike">
              <a:solidFill>
                <a:srgbClr val="FFFFFF"/>
              </a:solidFill>
              <a:effectLst/>
              <a:uFillTx/>
              <a:latin typeface="Arial"/>
            </a:endParaRPr>
          </a:p>
        </p:txBody>
      </p:sp>
      <p:sp>
        <p:nvSpPr>
          <p:cNvPr id="15" name="Shape 7"/>
          <p:cNvSpPr/>
          <p:nvPr/>
        </p:nvSpPr>
        <p:spPr>
          <a:xfrm>
            <a:off x="786240" y="4617720"/>
            <a:ext cx="6272640" cy="360"/>
          </a:xfrm>
          <a:prstGeom prst="line">
            <a:avLst/>
          </a:prstGeom>
          <a:ln w="15240">
            <a:solidFill>
              <a:srgbClr val="45627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16" name="Text 8"/>
          <p:cNvSpPr/>
          <p:nvPr/>
        </p:nvSpPr>
        <p:spPr>
          <a:xfrm>
            <a:off x="786240" y="4818960"/>
            <a:ext cx="941796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0" u="none" strike="noStrike">
                <a:solidFill>
                  <a:srgbClr val="C7D6E2"/>
                </a:solidFill>
                <a:effectLst/>
                <a:uFillTx/>
                <a:latin typeface="Aptos"/>
                <a:ea typeface="Aptos"/>
              </a:rPr>
              <a:t>Evaluating consistency, uncertainty handling, and limits</a:t>
            </a:r>
            <a:endParaRPr lang="en-US" sz="1900" b="0" u="none" strike="noStrike">
              <a:solidFill>
                <a:srgbClr val="FFFFFF"/>
              </a:solidFill>
              <a:effectLst/>
              <a:uFillTx/>
              <a:latin typeface="Arial"/>
            </a:endParaRPr>
          </a:p>
          <a:p>
            <a:pPr defTabSz="914400">
              <a:lnSpc>
                <a:spcPct val="100000"/>
              </a:lnSpc>
              <a:tabLst>
                <a:tab pos="0" algn="l"/>
              </a:tabLst>
            </a:pPr>
            <a:r>
              <a:rPr lang="en-US" sz="1900" b="0" u="none" strike="noStrike">
                <a:solidFill>
                  <a:srgbClr val="C7D6E2"/>
                </a:solidFill>
                <a:effectLst/>
                <a:uFillTx/>
                <a:latin typeface="Aptos"/>
                <a:ea typeface="Aptos"/>
              </a:rPr>
              <a:t>in real-world, tool-using LLM agents</a:t>
            </a:r>
            <a:endParaRPr lang="en-US" sz="1900" b="0" u="none" strike="noStrike">
              <a:solidFill>
                <a:srgbClr val="FFFFFF"/>
              </a:solidFill>
              <a:effectLst/>
              <a:uFillTx/>
              <a:latin typeface="Arial"/>
            </a:endParaRPr>
          </a:p>
        </p:txBody>
      </p:sp>
      <p:sp>
        <p:nvSpPr>
          <p:cNvPr id="17" name="Text 9"/>
          <p:cNvSpPr/>
          <p:nvPr/>
        </p:nvSpPr>
        <p:spPr>
          <a:xfrm>
            <a:off x="786240" y="6272640"/>
            <a:ext cx="100580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0" u="none" strike="noStrike">
                <a:solidFill>
                  <a:srgbClr val="B9CDD8"/>
                </a:solidFill>
                <a:effectLst/>
                <a:uFillTx/>
                <a:latin typeface="Aptos"/>
                <a:ea typeface="Aptos"/>
              </a:rPr>
              <a:t>Johannes Kirmayr  ·  Lukas Stappen  ·  Elisabeth André</a:t>
            </a:r>
            <a:endParaRPr lang="en-US" sz="120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8"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19"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BACKGROUND &amp; MOTIVATION</a:t>
            </a:r>
            <a:endParaRPr lang="en-US" sz="1100" b="0" u="none" strike="noStrike">
              <a:solidFill>
                <a:srgbClr val="000000"/>
              </a:solidFill>
              <a:effectLst/>
              <a:uFillTx/>
              <a:latin typeface="Arial"/>
            </a:endParaRPr>
          </a:p>
        </p:txBody>
      </p:sp>
      <p:sp>
        <p:nvSpPr>
          <p:cNvPr id="20"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Agents now take actions, not just answer questions</a:t>
            </a:r>
            <a:endParaRPr lang="en-US" sz="3000" b="0" u="none" strike="noStrike">
              <a:solidFill>
                <a:srgbClr val="000000"/>
              </a:solidFill>
              <a:effectLst/>
              <a:uFillTx/>
              <a:latin typeface="Arial"/>
            </a:endParaRPr>
          </a:p>
        </p:txBody>
      </p:sp>
      <p:sp>
        <p:nvSpPr>
          <p:cNvPr id="21"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2"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pp. 1–2</a:t>
            </a:r>
            <a:endParaRPr lang="en-US" sz="860" b="0" u="none" strike="noStrike">
              <a:solidFill>
                <a:srgbClr val="000000"/>
              </a:solidFill>
              <a:effectLst/>
              <a:uFillTx/>
              <a:latin typeface="Arial"/>
            </a:endParaRPr>
          </a:p>
        </p:txBody>
      </p:sp>
      <p:sp>
        <p:nvSpPr>
          <p:cNvPr id="24"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02</a:t>
            </a:r>
            <a:endParaRPr lang="en-US" sz="1000" b="0" u="none" strike="noStrike">
              <a:solidFill>
                <a:srgbClr val="000000"/>
              </a:solidFill>
              <a:effectLst/>
              <a:uFillTx/>
              <a:latin typeface="Arial"/>
            </a:endParaRPr>
          </a:p>
        </p:txBody>
      </p:sp>
      <p:sp>
        <p:nvSpPr>
          <p:cNvPr id="25" name="Shape 7"/>
          <p:cNvSpPr/>
          <p:nvPr/>
        </p:nvSpPr>
        <p:spPr>
          <a:xfrm>
            <a:off x="923400" y="1965960"/>
            <a:ext cx="2605680" cy="1874160"/>
          </a:xfrm>
          <a:prstGeom prst="roundRect">
            <a:avLst>
              <a:gd name="adj" fmla="val 634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 name="Shape 8"/>
          <p:cNvSpPr/>
          <p:nvPr/>
        </p:nvSpPr>
        <p:spPr>
          <a:xfrm>
            <a:off x="941760" y="1984320"/>
            <a:ext cx="2568960" cy="63720"/>
          </a:xfrm>
          <a:prstGeom prst="rect">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27" name="Text 9"/>
          <p:cNvSpPr/>
          <p:nvPr/>
        </p:nvSpPr>
        <p:spPr>
          <a:xfrm>
            <a:off x="1124640" y="2185560"/>
            <a:ext cx="220320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USER</a:t>
            </a:r>
            <a:endParaRPr lang="en-US" sz="2000" b="0" u="none" strike="noStrike">
              <a:solidFill>
                <a:srgbClr val="000000"/>
              </a:solidFill>
              <a:effectLst/>
              <a:uFillTx/>
              <a:latin typeface="Arial"/>
            </a:endParaRPr>
          </a:p>
        </p:txBody>
      </p:sp>
      <p:sp>
        <p:nvSpPr>
          <p:cNvPr id="28" name="Text 10"/>
          <p:cNvSpPr/>
          <p:nvPr/>
        </p:nvSpPr>
        <p:spPr>
          <a:xfrm>
            <a:off x="1124640" y="2688480"/>
            <a:ext cx="22032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800" b="0" u="none" strike="noStrike">
                <a:solidFill>
                  <a:srgbClr val="64778B"/>
                </a:solidFill>
                <a:effectLst/>
                <a:uFillTx/>
                <a:latin typeface="Aptos"/>
                <a:ea typeface="Aptos"/>
              </a:rPr>
              <a:t>“Find a route to Paris”</a:t>
            </a:r>
            <a:endParaRPr lang="en-US" sz="1800" b="0" u="none" strike="noStrike">
              <a:solidFill>
                <a:srgbClr val="000000"/>
              </a:solidFill>
              <a:effectLst/>
              <a:uFillTx/>
              <a:latin typeface="Arial"/>
            </a:endParaRPr>
          </a:p>
        </p:txBody>
      </p:sp>
      <p:sp>
        <p:nvSpPr>
          <p:cNvPr id="29" name="Shape 11"/>
          <p:cNvSpPr/>
          <p:nvPr/>
        </p:nvSpPr>
        <p:spPr>
          <a:xfrm>
            <a:off x="4050720" y="1965960"/>
            <a:ext cx="2605680" cy="1874160"/>
          </a:xfrm>
          <a:prstGeom prst="roundRect">
            <a:avLst>
              <a:gd name="adj" fmla="val 634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 name="Shape 12"/>
          <p:cNvSpPr/>
          <p:nvPr/>
        </p:nvSpPr>
        <p:spPr>
          <a:xfrm>
            <a:off x="4069080" y="1984320"/>
            <a:ext cx="2568960" cy="63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31" name="Text 13"/>
          <p:cNvSpPr/>
          <p:nvPr/>
        </p:nvSpPr>
        <p:spPr>
          <a:xfrm>
            <a:off x="4251960" y="2185560"/>
            <a:ext cx="220320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LLM AGENT</a:t>
            </a:r>
            <a:endParaRPr lang="en-US" sz="2000" b="0" u="none" strike="noStrike">
              <a:solidFill>
                <a:srgbClr val="000000"/>
              </a:solidFill>
              <a:effectLst/>
              <a:uFillTx/>
              <a:latin typeface="Arial"/>
            </a:endParaRPr>
          </a:p>
        </p:txBody>
      </p:sp>
      <p:sp>
        <p:nvSpPr>
          <p:cNvPr id="32" name="Text 14"/>
          <p:cNvSpPr/>
          <p:nvPr/>
        </p:nvSpPr>
        <p:spPr>
          <a:xfrm>
            <a:off x="4251960" y="2688480"/>
            <a:ext cx="22032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800" b="0" u="none" strike="noStrike">
                <a:solidFill>
                  <a:srgbClr val="64778B"/>
                </a:solidFill>
                <a:effectLst/>
                <a:uFillTx/>
                <a:latin typeface="Aptos"/>
                <a:ea typeface="Aptos"/>
              </a:rPr>
              <a:t>Plans + chooses tools</a:t>
            </a:r>
            <a:endParaRPr lang="en-US" sz="1800" b="0" u="none" strike="noStrike">
              <a:solidFill>
                <a:srgbClr val="000000"/>
              </a:solidFill>
              <a:effectLst/>
              <a:uFillTx/>
              <a:latin typeface="Arial"/>
            </a:endParaRPr>
          </a:p>
        </p:txBody>
      </p:sp>
      <p:sp>
        <p:nvSpPr>
          <p:cNvPr id="33" name="Shape 15"/>
          <p:cNvSpPr/>
          <p:nvPr/>
        </p:nvSpPr>
        <p:spPr>
          <a:xfrm>
            <a:off x="7187040" y="1965960"/>
            <a:ext cx="2605680" cy="1874160"/>
          </a:xfrm>
          <a:prstGeom prst="roundRect">
            <a:avLst>
              <a:gd name="adj" fmla="val 634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 name="Shape 16"/>
          <p:cNvSpPr/>
          <p:nvPr/>
        </p:nvSpPr>
        <p:spPr>
          <a:xfrm>
            <a:off x="7205400" y="1984320"/>
            <a:ext cx="2568960" cy="63720"/>
          </a:xfrm>
          <a:prstGeom prst="rect">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35" name="Text 17"/>
          <p:cNvSpPr/>
          <p:nvPr/>
        </p:nvSpPr>
        <p:spPr>
          <a:xfrm>
            <a:off x="7388280" y="2185560"/>
            <a:ext cx="220320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REAL WORLD</a:t>
            </a:r>
            <a:endParaRPr lang="en-US" sz="2000" b="0" u="none" strike="noStrike">
              <a:solidFill>
                <a:srgbClr val="000000"/>
              </a:solidFill>
              <a:effectLst/>
              <a:uFillTx/>
              <a:latin typeface="Arial"/>
            </a:endParaRPr>
          </a:p>
        </p:txBody>
      </p:sp>
      <p:sp>
        <p:nvSpPr>
          <p:cNvPr id="36" name="Text 18"/>
          <p:cNvSpPr/>
          <p:nvPr/>
        </p:nvSpPr>
        <p:spPr>
          <a:xfrm>
            <a:off x="7388280" y="2688480"/>
            <a:ext cx="22032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800" b="0" u="none" strike="noStrike">
                <a:solidFill>
                  <a:srgbClr val="64778B"/>
                </a:solidFill>
                <a:effectLst/>
                <a:uFillTx/>
                <a:latin typeface="Aptos"/>
                <a:ea typeface="Aptos"/>
              </a:rPr>
              <a:t>Navigation is changed</a:t>
            </a:r>
            <a:endParaRPr lang="en-US" sz="1800" b="0" u="none" strike="noStrike">
              <a:solidFill>
                <a:srgbClr val="000000"/>
              </a:solidFill>
              <a:effectLst/>
              <a:uFillTx/>
              <a:latin typeface="Arial"/>
            </a:endParaRPr>
          </a:p>
        </p:txBody>
      </p:sp>
      <p:sp>
        <p:nvSpPr>
          <p:cNvPr id="37" name="Shape 19"/>
          <p:cNvSpPr/>
          <p:nvPr/>
        </p:nvSpPr>
        <p:spPr>
          <a:xfrm>
            <a:off x="3556800" y="2880360"/>
            <a:ext cx="356760" cy="360"/>
          </a:xfrm>
          <a:prstGeom prst="line">
            <a:avLst/>
          </a:prstGeom>
          <a:ln w="3810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8" name="Shape 20"/>
          <p:cNvSpPr/>
          <p:nvPr/>
        </p:nvSpPr>
        <p:spPr>
          <a:xfrm>
            <a:off x="6675120" y="2880360"/>
            <a:ext cx="365760" cy="360"/>
          </a:xfrm>
          <a:prstGeom prst="line">
            <a:avLst/>
          </a:prstGeom>
          <a:ln w="3810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9" name="Shape 21"/>
          <p:cNvSpPr/>
          <p:nvPr/>
        </p:nvSpPr>
        <p:spPr>
          <a:xfrm>
            <a:off x="932760" y="4425840"/>
            <a:ext cx="10268280" cy="1014480"/>
          </a:xfrm>
          <a:prstGeom prst="roundRect">
            <a:avLst>
              <a:gd name="adj" fmla="val 15315"/>
            </a:avLst>
          </a:prstGeom>
          <a:solidFill>
            <a:srgbClr val="E9F0FC"/>
          </a:solidFill>
          <a:ln w="12700">
            <a:solidFill>
              <a:srgbClr val="E9F0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 name="Text 22"/>
          <p:cNvSpPr/>
          <p:nvPr/>
        </p:nvSpPr>
        <p:spPr>
          <a:xfrm>
            <a:off x="1261800" y="4590360"/>
            <a:ext cx="9463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2100" b="1" u="none" strike="noStrike">
                <a:solidFill>
                  <a:srgbClr val="14283F"/>
                </a:solidFill>
                <a:effectLst/>
                <a:uFillTx/>
                <a:latin typeface="Aptos"/>
                <a:ea typeface="Aptos"/>
              </a:rPr>
              <a:t>A useful agent needs more than the right tool:</a:t>
            </a:r>
            <a:endParaRPr lang="en-US" sz="2100" b="0" u="none" strike="noStrike">
              <a:solidFill>
                <a:srgbClr val="000000"/>
              </a:solidFill>
              <a:effectLst/>
              <a:uFillTx/>
              <a:latin typeface="Arial"/>
            </a:endParaRPr>
          </a:p>
        </p:txBody>
      </p:sp>
      <p:sp>
        <p:nvSpPr>
          <p:cNvPr id="41" name="Text 23"/>
          <p:cNvSpPr/>
          <p:nvPr/>
        </p:nvSpPr>
        <p:spPr>
          <a:xfrm>
            <a:off x="1261800" y="4983480"/>
            <a:ext cx="94179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800" b="0" u="none" strike="noStrike">
                <a:solidFill>
                  <a:srgbClr val="4779C9"/>
                </a:solidFill>
                <a:effectLst/>
                <a:uFillTx/>
                <a:latin typeface="Aptos"/>
                <a:ea typeface="Aptos"/>
              </a:rPr>
              <a:t>enough information  •  safe actions  •  reliable choices</a:t>
            </a:r>
            <a:endParaRPr lang="en-US" sz="1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42"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43"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BACKGROUND &amp; MOTIVATION</a:t>
            </a:r>
            <a:endParaRPr lang="en-US" sz="1100" b="0" u="none" strike="noStrike">
              <a:solidFill>
                <a:srgbClr val="000000"/>
              </a:solidFill>
              <a:effectLst/>
              <a:uFillTx/>
              <a:latin typeface="Arial"/>
            </a:endParaRPr>
          </a:p>
        </p:txBody>
      </p:sp>
      <p:sp>
        <p:nvSpPr>
          <p:cNvPr id="44"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A finished task can still be a bad outcome</a:t>
            </a:r>
            <a:endParaRPr lang="en-US" sz="3000" b="0" u="none" strike="noStrike">
              <a:solidFill>
                <a:srgbClr val="000000"/>
              </a:solidFill>
              <a:effectLst/>
              <a:uFillTx/>
              <a:latin typeface="Arial"/>
            </a:endParaRPr>
          </a:p>
        </p:txBody>
      </p:sp>
      <p:sp>
        <p:nvSpPr>
          <p:cNvPr id="45"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6"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7"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pp. 1–2</a:t>
            </a:r>
            <a:endParaRPr lang="en-US" sz="860" b="0" u="none" strike="noStrike">
              <a:solidFill>
                <a:srgbClr val="000000"/>
              </a:solidFill>
              <a:effectLst/>
              <a:uFillTx/>
              <a:latin typeface="Arial"/>
            </a:endParaRPr>
          </a:p>
        </p:txBody>
      </p:sp>
      <p:sp>
        <p:nvSpPr>
          <p:cNvPr id="48"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03</a:t>
            </a:r>
            <a:endParaRPr lang="en-US" sz="1000" b="0" u="none" strike="noStrike">
              <a:solidFill>
                <a:srgbClr val="000000"/>
              </a:solidFill>
              <a:effectLst/>
              <a:uFillTx/>
              <a:latin typeface="Arial"/>
            </a:endParaRPr>
          </a:p>
        </p:txBody>
      </p:sp>
      <p:sp>
        <p:nvSpPr>
          <p:cNvPr id="49" name="Shape 7"/>
          <p:cNvSpPr/>
          <p:nvPr/>
        </p:nvSpPr>
        <p:spPr>
          <a:xfrm>
            <a:off x="713160" y="1828800"/>
            <a:ext cx="3428640" cy="3053880"/>
          </a:xfrm>
          <a:prstGeom prst="roundRect">
            <a:avLst>
              <a:gd name="adj" fmla="val 3892"/>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 name="Shape 8"/>
          <p:cNvSpPr/>
          <p:nvPr/>
        </p:nvSpPr>
        <p:spPr>
          <a:xfrm>
            <a:off x="731520" y="1847160"/>
            <a:ext cx="3391920" cy="63720"/>
          </a:xfrm>
          <a:prstGeom prst="rect">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51" name="Text 9"/>
          <p:cNvSpPr/>
          <p:nvPr/>
        </p:nvSpPr>
        <p:spPr>
          <a:xfrm>
            <a:off x="914400" y="2048400"/>
            <a:ext cx="3026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Missing information</a:t>
            </a:r>
            <a:endParaRPr lang="en-US" sz="2000" b="0" u="none" strike="noStrike">
              <a:solidFill>
                <a:srgbClr val="000000"/>
              </a:solidFill>
              <a:effectLst/>
              <a:uFillTx/>
              <a:latin typeface="Arial"/>
            </a:endParaRPr>
          </a:p>
        </p:txBody>
      </p:sp>
      <p:sp>
        <p:nvSpPr>
          <p:cNvPr id="52" name="Text 10"/>
          <p:cNvSpPr/>
          <p:nvPr/>
        </p:nvSpPr>
        <p:spPr>
          <a:xfrm>
            <a:off x="914400" y="2551320"/>
            <a:ext cx="3026160" cy="218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900" b="0" u="none" strike="noStrike">
                <a:solidFill>
                  <a:srgbClr val="64778B"/>
                </a:solidFill>
                <a:effectLst/>
                <a:uFillTx/>
                <a:latin typeface="Aptos"/>
                <a:ea typeface="Aptos"/>
              </a:rPr>
              <a:t>The agent has no route data…</a:t>
            </a:r>
            <a:endParaRPr lang="en-US" sz="1900" b="0" u="none" strike="noStrike">
              <a:solidFill>
                <a:srgbClr val="000000"/>
              </a:solidFill>
              <a:effectLst/>
              <a:uFillTx/>
              <a:latin typeface="Arial"/>
            </a:endParaRPr>
          </a:p>
          <a:p>
            <a:pPr defTabSz="914400">
              <a:lnSpc>
                <a:spcPct val="100000"/>
              </a:lnSpc>
              <a:tabLst>
                <a:tab pos="0" algn="l"/>
              </a:tabLst>
            </a:pPr>
            <a:r>
              <a:rPr lang="en-US" sz="1900" b="0" u="none" strike="noStrike">
                <a:solidFill>
                  <a:srgbClr val="64778B"/>
                </a:solidFill>
                <a:effectLst/>
                <a:uFillTx/>
                <a:latin typeface="Aptos"/>
                <a:ea typeface="Aptos"/>
              </a:rPr>
              <a:t>but says “Route found.”</a:t>
            </a:r>
            <a:endParaRPr lang="en-US" sz="1900" b="0" u="none" strike="noStrike">
              <a:solidFill>
                <a:srgbClr val="000000"/>
              </a:solidFill>
              <a:effectLst/>
              <a:uFillTx/>
              <a:latin typeface="Arial"/>
            </a:endParaRPr>
          </a:p>
        </p:txBody>
      </p:sp>
      <p:sp>
        <p:nvSpPr>
          <p:cNvPr id="53" name="Shape 11"/>
          <p:cNvSpPr/>
          <p:nvPr/>
        </p:nvSpPr>
        <p:spPr>
          <a:xfrm>
            <a:off x="4380120" y="1828800"/>
            <a:ext cx="3428640" cy="3053880"/>
          </a:xfrm>
          <a:prstGeom prst="roundRect">
            <a:avLst>
              <a:gd name="adj" fmla="val 3892"/>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 name="Shape 12"/>
          <p:cNvSpPr/>
          <p:nvPr/>
        </p:nvSpPr>
        <p:spPr>
          <a:xfrm>
            <a:off x="4398120" y="1847160"/>
            <a:ext cx="3391920" cy="63720"/>
          </a:xfrm>
          <a:prstGeom prst="rect">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55" name="Text 13"/>
          <p:cNvSpPr/>
          <p:nvPr/>
        </p:nvSpPr>
        <p:spPr>
          <a:xfrm>
            <a:off x="4581000" y="2048400"/>
            <a:ext cx="3026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Vague request</a:t>
            </a:r>
            <a:endParaRPr lang="en-US" sz="2000" b="0" u="none" strike="noStrike">
              <a:solidFill>
                <a:srgbClr val="000000"/>
              </a:solidFill>
              <a:effectLst/>
              <a:uFillTx/>
              <a:latin typeface="Arial"/>
            </a:endParaRPr>
          </a:p>
        </p:txBody>
      </p:sp>
      <p:sp>
        <p:nvSpPr>
          <p:cNvPr id="56" name="Text 14"/>
          <p:cNvSpPr/>
          <p:nvPr/>
        </p:nvSpPr>
        <p:spPr>
          <a:xfrm>
            <a:off x="4581000" y="2551320"/>
            <a:ext cx="3026160" cy="218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900" b="0" u="none" strike="noStrike">
                <a:solidFill>
                  <a:srgbClr val="64778B"/>
                </a:solidFill>
                <a:effectLst/>
                <a:uFillTx/>
                <a:latin typeface="Aptos"/>
                <a:ea typeface="Aptos"/>
              </a:rPr>
              <a:t>“Open the window.”</a:t>
            </a:r>
            <a:endParaRPr lang="en-US" sz="1900" b="0" u="none" strike="noStrike">
              <a:solidFill>
                <a:srgbClr val="000000"/>
              </a:solidFill>
              <a:effectLst/>
              <a:uFillTx/>
              <a:latin typeface="Arial"/>
            </a:endParaRPr>
          </a:p>
          <a:p>
            <a:pPr defTabSz="914400">
              <a:lnSpc>
                <a:spcPct val="100000"/>
              </a:lnSpc>
              <a:tabLst>
                <a:tab pos="0" algn="l"/>
              </a:tabLst>
            </a:pPr>
            <a:r>
              <a:rPr lang="en-US" sz="1900" b="0" u="none" strike="noStrike">
                <a:solidFill>
                  <a:srgbClr val="64778B"/>
                </a:solidFill>
                <a:effectLst/>
                <a:uFillTx/>
                <a:latin typeface="Aptos"/>
                <a:ea typeface="Aptos"/>
              </a:rPr>
              <a:t>Which window? How far?</a:t>
            </a:r>
            <a:endParaRPr lang="en-US" sz="1900" b="0" u="none" strike="noStrike">
              <a:solidFill>
                <a:srgbClr val="000000"/>
              </a:solidFill>
              <a:effectLst/>
              <a:uFillTx/>
              <a:latin typeface="Arial"/>
            </a:endParaRPr>
          </a:p>
        </p:txBody>
      </p:sp>
      <p:sp>
        <p:nvSpPr>
          <p:cNvPr id="57" name="Shape 15"/>
          <p:cNvSpPr/>
          <p:nvPr/>
        </p:nvSpPr>
        <p:spPr>
          <a:xfrm>
            <a:off x="8055720" y="1828800"/>
            <a:ext cx="3428640" cy="3053880"/>
          </a:xfrm>
          <a:prstGeom prst="roundRect">
            <a:avLst>
              <a:gd name="adj" fmla="val 3892"/>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 name="Shape 16"/>
          <p:cNvSpPr/>
          <p:nvPr/>
        </p:nvSpPr>
        <p:spPr>
          <a:xfrm>
            <a:off x="8074080" y="1847160"/>
            <a:ext cx="3391920" cy="63720"/>
          </a:xfrm>
          <a:prstGeom prst="rect">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59" name="Text 17"/>
          <p:cNvSpPr/>
          <p:nvPr/>
        </p:nvSpPr>
        <p:spPr>
          <a:xfrm>
            <a:off x="8256960" y="2048400"/>
            <a:ext cx="3026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Inconsistent results</a:t>
            </a:r>
            <a:endParaRPr lang="en-US" sz="2000" b="0" u="none" strike="noStrike">
              <a:solidFill>
                <a:srgbClr val="000000"/>
              </a:solidFill>
              <a:effectLst/>
              <a:uFillTx/>
              <a:latin typeface="Arial"/>
            </a:endParaRPr>
          </a:p>
        </p:txBody>
      </p:sp>
      <p:sp>
        <p:nvSpPr>
          <p:cNvPr id="60" name="Text 18"/>
          <p:cNvSpPr/>
          <p:nvPr/>
        </p:nvSpPr>
        <p:spPr>
          <a:xfrm>
            <a:off x="8256960" y="2551320"/>
            <a:ext cx="3026160" cy="218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900" b="0" u="none" strike="noStrike">
                <a:solidFill>
                  <a:srgbClr val="64778B"/>
                </a:solidFill>
                <a:effectLst/>
                <a:uFillTx/>
                <a:latin typeface="Aptos"/>
                <a:ea typeface="Aptos"/>
              </a:rPr>
              <a:t>Same task, three runs:</a:t>
            </a:r>
            <a:endParaRPr lang="en-US" sz="1900" b="0" u="none" strike="noStrike">
              <a:solidFill>
                <a:srgbClr val="000000"/>
              </a:solidFill>
              <a:effectLst/>
              <a:uFillTx/>
              <a:latin typeface="Arial"/>
            </a:endParaRPr>
          </a:p>
          <a:p>
            <a:pPr defTabSz="914400">
              <a:lnSpc>
                <a:spcPct val="100000"/>
              </a:lnSpc>
              <a:tabLst>
                <a:tab pos="0" algn="l"/>
              </a:tabLst>
            </a:pPr>
            <a:r>
              <a:rPr lang="en-US" sz="1900" b="0" u="none" strike="noStrike">
                <a:solidFill>
                  <a:srgbClr val="64778B"/>
                </a:solidFill>
                <a:effectLst/>
                <a:uFillTx/>
                <a:latin typeface="Aptos"/>
                <a:ea typeface="Aptos"/>
              </a:rPr>
              <a:t>✓   ✗   ✓</a:t>
            </a:r>
            <a:endParaRPr lang="en-US" sz="1900" b="0" u="none" strike="noStrike">
              <a:solidFill>
                <a:srgbClr val="000000"/>
              </a:solidFill>
              <a:effectLst/>
              <a:uFillTx/>
              <a:latin typeface="Arial"/>
            </a:endParaRPr>
          </a:p>
        </p:txBody>
      </p:sp>
      <p:sp>
        <p:nvSpPr>
          <p:cNvPr id="61" name="Shape 19"/>
          <p:cNvSpPr/>
          <p:nvPr/>
        </p:nvSpPr>
        <p:spPr>
          <a:xfrm>
            <a:off x="713160" y="5943600"/>
            <a:ext cx="10762200" cy="411120"/>
          </a:xfrm>
          <a:prstGeom prst="roundRect">
            <a:avLst>
              <a:gd name="adj" fmla="val 26667"/>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2" name="Text 20"/>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Key question: Can an agent act correctly when the situation is uncertain?</a:t>
            </a:r>
            <a:endParaRPr lang="en-US" sz="15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63"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64"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RESEARCH GAP</a:t>
            </a:r>
            <a:endParaRPr lang="en-US" sz="1100" b="0" u="none" strike="noStrike">
              <a:solidFill>
                <a:srgbClr val="000000"/>
              </a:solidFill>
              <a:effectLst/>
              <a:uFillTx/>
              <a:latin typeface="Arial"/>
            </a:endParaRPr>
          </a:p>
        </p:txBody>
      </p:sp>
      <p:sp>
        <p:nvSpPr>
          <p:cNvPr id="65"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Earlier benchmarks cover only parts of the problem</a:t>
            </a:r>
            <a:endParaRPr lang="en-US" sz="3000" b="0" u="none" strike="noStrike">
              <a:solidFill>
                <a:srgbClr val="000000"/>
              </a:solidFill>
              <a:effectLst/>
              <a:uFillTx/>
              <a:latin typeface="Arial"/>
            </a:endParaRPr>
          </a:p>
        </p:txBody>
      </p:sp>
      <p:sp>
        <p:nvSpPr>
          <p:cNvPr id="66"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7"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8"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Table 1, p. 2</a:t>
            </a:r>
            <a:endParaRPr lang="en-US" sz="860" b="0" u="none" strike="noStrike">
              <a:solidFill>
                <a:srgbClr val="000000"/>
              </a:solidFill>
              <a:effectLst/>
              <a:uFillTx/>
              <a:latin typeface="Arial"/>
            </a:endParaRPr>
          </a:p>
        </p:txBody>
      </p:sp>
      <p:sp>
        <p:nvSpPr>
          <p:cNvPr id="69"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04</a:t>
            </a:r>
            <a:endParaRPr lang="en-US" sz="1000" b="0" u="none" strike="noStrike">
              <a:solidFill>
                <a:srgbClr val="000000"/>
              </a:solidFill>
              <a:effectLst/>
              <a:uFillTx/>
              <a:latin typeface="Arial"/>
            </a:endParaRPr>
          </a:p>
        </p:txBody>
      </p:sp>
      <p:sp>
        <p:nvSpPr>
          <p:cNvPr id="70" name="Shape 7"/>
          <p:cNvSpPr/>
          <p:nvPr/>
        </p:nvSpPr>
        <p:spPr>
          <a:xfrm>
            <a:off x="740520" y="1691640"/>
            <a:ext cx="2761200" cy="868320"/>
          </a:xfrm>
          <a:prstGeom prst="roundRect">
            <a:avLst>
              <a:gd name="adj" fmla="val 5263"/>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1" name="Text 8"/>
          <p:cNvSpPr/>
          <p:nvPr/>
        </p:nvSpPr>
        <p:spPr>
          <a:xfrm>
            <a:off x="831960" y="1856160"/>
            <a:ext cx="257832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FFFFFF"/>
                </a:solidFill>
                <a:effectLst/>
                <a:uFillTx/>
                <a:latin typeface="Aptos"/>
                <a:ea typeface="Aptos"/>
              </a:rPr>
              <a:t>Benchmark</a:t>
            </a:r>
            <a:endParaRPr lang="en-US" sz="1600" b="0" u="none" strike="noStrike">
              <a:solidFill>
                <a:srgbClr val="000000"/>
              </a:solidFill>
              <a:effectLst/>
              <a:uFillTx/>
              <a:latin typeface="Arial"/>
            </a:endParaRPr>
          </a:p>
        </p:txBody>
      </p:sp>
      <p:sp>
        <p:nvSpPr>
          <p:cNvPr id="72" name="Shape 9"/>
          <p:cNvSpPr/>
          <p:nvPr/>
        </p:nvSpPr>
        <p:spPr>
          <a:xfrm>
            <a:off x="3675960" y="1691640"/>
            <a:ext cx="1746000" cy="868320"/>
          </a:xfrm>
          <a:prstGeom prst="roundRect">
            <a:avLst>
              <a:gd name="adj" fmla="val 5263"/>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 name="Text 10"/>
          <p:cNvSpPr/>
          <p:nvPr/>
        </p:nvSpPr>
        <p:spPr>
          <a:xfrm>
            <a:off x="3767400" y="1856160"/>
            <a:ext cx="156312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FFFFFF"/>
                </a:solidFill>
                <a:effectLst/>
                <a:uFillTx/>
                <a:latin typeface="Aptos"/>
                <a:ea typeface="Aptos"/>
              </a:rPr>
              <a:t>Multi-turn</a:t>
            </a:r>
            <a:endParaRPr lang="en-US" sz="1350" b="0" u="none" strike="noStrike">
              <a:solidFill>
                <a:srgbClr val="000000"/>
              </a:solidFill>
              <a:effectLst/>
              <a:uFillTx/>
              <a:latin typeface="Arial"/>
            </a:endParaRPr>
          </a:p>
          <a:p>
            <a:pPr algn="ctr" defTabSz="914400">
              <a:lnSpc>
                <a:spcPct val="100000"/>
              </a:lnSpc>
              <a:tabLst>
                <a:tab pos="0" algn="l"/>
              </a:tabLst>
            </a:pPr>
            <a:r>
              <a:rPr lang="en-US" sz="1350" b="1" u="none" strike="noStrike">
                <a:solidFill>
                  <a:srgbClr val="FFFFFF"/>
                </a:solidFill>
                <a:effectLst/>
                <a:uFillTx/>
                <a:latin typeface="Aptos"/>
                <a:ea typeface="Aptos"/>
              </a:rPr>
              <a:t>chat</a:t>
            </a:r>
            <a:endParaRPr lang="en-US" sz="1350" b="0" u="none" strike="noStrike">
              <a:solidFill>
                <a:srgbClr val="000000"/>
              </a:solidFill>
              <a:effectLst/>
              <a:uFillTx/>
              <a:latin typeface="Arial"/>
            </a:endParaRPr>
          </a:p>
        </p:txBody>
      </p:sp>
      <p:sp>
        <p:nvSpPr>
          <p:cNvPr id="74" name="Shape 11"/>
          <p:cNvSpPr/>
          <p:nvPr/>
        </p:nvSpPr>
        <p:spPr>
          <a:xfrm>
            <a:off x="5559480" y="1691640"/>
            <a:ext cx="1791720" cy="868320"/>
          </a:xfrm>
          <a:prstGeom prst="roundRect">
            <a:avLst>
              <a:gd name="adj" fmla="val 5263"/>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 name="Text 12"/>
          <p:cNvSpPr/>
          <p:nvPr/>
        </p:nvSpPr>
        <p:spPr>
          <a:xfrm>
            <a:off x="5650920" y="1856160"/>
            <a:ext cx="16088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FFFFFF"/>
                </a:solidFill>
                <a:effectLst/>
                <a:uFillTx/>
                <a:latin typeface="Aptos"/>
                <a:ea typeface="Aptos"/>
              </a:rPr>
              <a:t>State</a:t>
            </a:r>
            <a:endParaRPr lang="en-US" sz="1350" b="0" u="none" strike="noStrike">
              <a:solidFill>
                <a:srgbClr val="000000"/>
              </a:solidFill>
              <a:effectLst/>
              <a:uFillTx/>
              <a:latin typeface="Arial"/>
            </a:endParaRPr>
          </a:p>
          <a:p>
            <a:pPr algn="ctr" defTabSz="914400">
              <a:lnSpc>
                <a:spcPct val="100000"/>
              </a:lnSpc>
              <a:tabLst>
                <a:tab pos="0" algn="l"/>
              </a:tabLst>
            </a:pPr>
            <a:r>
              <a:rPr lang="en-US" sz="1350" b="1" u="none" strike="noStrike">
                <a:solidFill>
                  <a:srgbClr val="FFFFFF"/>
                </a:solidFill>
                <a:effectLst/>
                <a:uFillTx/>
                <a:latin typeface="Aptos"/>
                <a:ea typeface="Aptos"/>
              </a:rPr>
              <a:t>changes</a:t>
            </a:r>
            <a:endParaRPr lang="en-US" sz="1350" b="0" u="none" strike="noStrike">
              <a:solidFill>
                <a:srgbClr val="000000"/>
              </a:solidFill>
              <a:effectLst/>
              <a:uFillTx/>
              <a:latin typeface="Arial"/>
            </a:endParaRPr>
          </a:p>
        </p:txBody>
      </p:sp>
      <p:sp>
        <p:nvSpPr>
          <p:cNvPr id="76" name="Shape 13"/>
          <p:cNvSpPr/>
          <p:nvPr/>
        </p:nvSpPr>
        <p:spPr>
          <a:xfrm>
            <a:off x="7516440" y="1691640"/>
            <a:ext cx="1791720" cy="868320"/>
          </a:xfrm>
          <a:prstGeom prst="roundRect">
            <a:avLst>
              <a:gd name="adj" fmla="val 5263"/>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 name="Text 14"/>
          <p:cNvSpPr/>
          <p:nvPr/>
        </p:nvSpPr>
        <p:spPr>
          <a:xfrm>
            <a:off x="7607880" y="1856160"/>
            <a:ext cx="16088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FFFFFF"/>
                </a:solidFill>
                <a:effectLst/>
                <a:uFillTx/>
                <a:latin typeface="Aptos"/>
                <a:ea typeface="Aptos"/>
              </a:rPr>
              <a:t>Missing</a:t>
            </a:r>
            <a:endParaRPr lang="en-US" sz="1350" b="0" u="none" strike="noStrike">
              <a:solidFill>
                <a:srgbClr val="000000"/>
              </a:solidFill>
              <a:effectLst/>
              <a:uFillTx/>
              <a:latin typeface="Arial"/>
            </a:endParaRPr>
          </a:p>
          <a:p>
            <a:pPr algn="ctr" defTabSz="914400">
              <a:lnSpc>
                <a:spcPct val="100000"/>
              </a:lnSpc>
              <a:tabLst>
                <a:tab pos="0" algn="l"/>
              </a:tabLst>
            </a:pPr>
            <a:r>
              <a:rPr lang="en-US" sz="1350" b="1" u="none" strike="noStrike">
                <a:solidFill>
                  <a:srgbClr val="FFFFFF"/>
                </a:solidFill>
                <a:effectLst/>
                <a:uFillTx/>
                <a:latin typeface="Aptos"/>
                <a:ea typeface="Aptos"/>
              </a:rPr>
              <a:t>capability / data</a:t>
            </a:r>
            <a:endParaRPr lang="en-US" sz="1350" b="0" u="none" strike="noStrike">
              <a:solidFill>
                <a:srgbClr val="000000"/>
              </a:solidFill>
              <a:effectLst/>
              <a:uFillTx/>
              <a:latin typeface="Arial"/>
            </a:endParaRPr>
          </a:p>
        </p:txBody>
      </p:sp>
      <p:sp>
        <p:nvSpPr>
          <p:cNvPr id="78" name="Shape 15"/>
          <p:cNvSpPr/>
          <p:nvPr/>
        </p:nvSpPr>
        <p:spPr>
          <a:xfrm>
            <a:off x="9482400" y="1691640"/>
            <a:ext cx="1782720" cy="868320"/>
          </a:xfrm>
          <a:prstGeom prst="roundRect">
            <a:avLst>
              <a:gd name="adj" fmla="val 5263"/>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 name="Text 16"/>
          <p:cNvSpPr/>
          <p:nvPr/>
        </p:nvSpPr>
        <p:spPr>
          <a:xfrm>
            <a:off x="9573840" y="1856160"/>
            <a:ext cx="159984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50" b="1" u="none" strike="noStrike">
                <a:solidFill>
                  <a:srgbClr val="FFFFFF"/>
                </a:solidFill>
                <a:effectLst/>
                <a:uFillTx/>
                <a:latin typeface="Aptos"/>
                <a:ea typeface="Aptos"/>
              </a:rPr>
              <a:t>Ambiguous</a:t>
            </a:r>
            <a:endParaRPr lang="en-US" sz="1350" b="0" u="none" strike="noStrike">
              <a:solidFill>
                <a:srgbClr val="000000"/>
              </a:solidFill>
              <a:effectLst/>
              <a:uFillTx/>
              <a:latin typeface="Arial"/>
            </a:endParaRPr>
          </a:p>
          <a:p>
            <a:pPr algn="ctr" defTabSz="914400">
              <a:lnSpc>
                <a:spcPct val="100000"/>
              </a:lnSpc>
              <a:tabLst>
                <a:tab pos="0" algn="l"/>
              </a:tabLst>
            </a:pPr>
            <a:r>
              <a:rPr lang="en-US" sz="1350" b="1" u="none" strike="noStrike">
                <a:solidFill>
                  <a:srgbClr val="FFFFFF"/>
                </a:solidFill>
                <a:effectLst/>
                <a:uFillTx/>
                <a:latin typeface="Aptos"/>
                <a:ea typeface="Aptos"/>
              </a:rPr>
              <a:t>requests</a:t>
            </a:r>
            <a:endParaRPr lang="en-US" sz="1350" b="0" u="none" strike="noStrike">
              <a:solidFill>
                <a:srgbClr val="000000"/>
              </a:solidFill>
              <a:effectLst/>
              <a:uFillTx/>
              <a:latin typeface="Arial"/>
            </a:endParaRPr>
          </a:p>
        </p:txBody>
      </p:sp>
      <p:sp>
        <p:nvSpPr>
          <p:cNvPr id="80" name="Shape 17"/>
          <p:cNvSpPr/>
          <p:nvPr/>
        </p:nvSpPr>
        <p:spPr>
          <a:xfrm>
            <a:off x="740520" y="2679120"/>
            <a:ext cx="276120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1" name="Text 18"/>
          <p:cNvSpPr/>
          <p:nvPr/>
        </p:nvSpPr>
        <p:spPr>
          <a:xfrm>
            <a:off x="831960" y="2788920"/>
            <a:ext cx="25783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BFCLv3</a:t>
            </a:r>
            <a:endParaRPr lang="en-US" sz="1700" b="0" u="none" strike="noStrike">
              <a:solidFill>
                <a:srgbClr val="000000"/>
              </a:solidFill>
              <a:effectLst/>
              <a:uFillTx/>
              <a:latin typeface="Arial"/>
            </a:endParaRPr>
          </a:p>
        </p:txBody>
      </p:sp>
      <p:sp>
        <p:nvSpPr>
          <p:cNvPr id="82" name="Shape 19"/>
          <p:cNvSpPr/>
          <p:nvPr/>
        </p:nvSpPr>
        <p:spPr>
          <a:xfrm>
            <a:off x="3675960" y="2679120"/>
            <a:ext cx="174600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3" name="Text 20"/>
          <p:cNvSpPr/>
          <p:nvPr/>
        </p:nvSpPr>
        <p:spPr>
          <a:xfrm>
            <a:off x="3767400" y="2788920"/>
            <a:ext cx="15631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84" name="Shape 21"/>
          <p:cNvSpPr/>
          <p:nvPr/>
        </p:nvSpPr>
        <p:spPr>
          <a:xfrm>
            <a:off x="5559480" y="2679120"/>
            <a:ext cx="179172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5" name="Text 22"/>
          <p:cNvSpPr/>
          <p:nvPr/>
        </p:nvSpPr>
        <p:spPr>
          <a:xfrm>
            <a:off x="5650920" y="278892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86" name="Shape 23"/>
          <p:cNvSpPr/>
          <p:nvPr/>
        </p:nvSpPr>
        <p:spPr>
          <a:xfrm>
            <a:off x="7516440" y="2679120"/>
            <a:ext cx="179172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7" name="Text 24"/>
          <p:cNvSpPr/>
          <p:nvPr/>
        </p:nvSpPr>
        <p:spPr>
          <a:xfrm>
            <a:off x="7607880" y="278892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F0A04B"/>
                </a:solidFill>
                <a:effectLst/>
                <a:uFillTx/>
                <a:latin typeface="Aptos"/>
                <a:ea typeface="Aptos"/>
              </a:rPr>
              <a:t>Partial</a:t>
            </a:r>
            <a:endParaRPr lang="en-US" sz="1700" b="0" u="none" strike="noStrike">
              <a:solidFill>
                <a:srgbClr val="000000"/>
              </a:solidFill>
              <a:effectLst/>
              <a:uFillTx/>
              <a:latin typeface="Arial"/>
            </a:endParaRPr>
          </a:p>
        </p:txBody>
      </p:sp>
      <p:sp>
        <p:nvSpPr>
          <p:cNvPr id="88" name="Shape 25"/>
          <p:cNvSpPr/>
          <p:nvPr/>
        </p:nvSpPr>
        <p:spPr>
          <a:xfrm>
            <a:off x="9482400" y="2679120"/>
            <a:ext cx="178272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 name="Text 26"/>
          <p:cNvSpPr/>
          <p:nvPr/>
        </p:nvSpPr>
        <p:spPr>
          <a:xfrm>
            <a:off x="9573840" y="2788920"/>
            <a:ext cx="1599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90" name="Shape 27"/>
          <p:cNvSpPr/>
          <p:nvPr/>
        </p:nvSpPr>
        <p:spPr>
          <a:xfrm>
            <a:off x="740520" y="3374280"/>
            <a:ext cx="2761200" cy="603000"/>
          </a:xfrm>
          <a:prstGeom prst="roundRect">
            <a:avLst>
              <a:gd name="adj" fmla="val 6061"/>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1" name="Text 28"/>
          <p:cNvSpPr/>
          <p:nvPr/>
        </p:nvSpPr>
        <p:spPr>
          <a:xfrm>
            <a:off x="831960" y="3483720"/>
            <a:ext cx="25783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τ-bench</a:t>
            </a:r>
            <a:endParaRPr lang="en-US" sz="1700" b="0" u="none" strike="noStrike">
              <a:solidFill>
                <a:srgbClr val="000000"/>
              </a:solidFill>
              <a:effectLst/>
              <a:uFillTx/>
              <a:latin typeface="Arial"/>
            </a:endParaRPr>
          </a:p>
        </p:txBody>
      </p:sp>
      <p:sp>
        <p:nvSpPr>
          <p:cNvPr id="92" name="Shape 29"/>
          <p:cNvSpPr/>
          <p:nvPr/>
        </p:nvSpPr>
        <p:spPr>
          <a:xfrm>
            <a:off x="3675960" y="3374280"/>
            <a:ext cx="1746000" cy="603000"/>
          </a:xfrm>
          <a:prstGeom prst="roundRect">
            <a:avLst>
              <a:gd name="adj" fmla="val 6061"/>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3" name="Text 30"/>
          <p:cNvSpPr/>
          <p:nvPr/>
        </p:nvSpPr>
        <p:spPr>
          <a:xfrm>
            <a:off x="3767400" y="3483720"/>
            <a:ext cx="15631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14283F"/>
                </a:solidFill>
                <a:effectLst/>
                <a:uFillTx/>
                <a:latin typeface="Aptos"/>
                <a:ea typeface="Aptos"/>
              </a:rPr>
              <a:t>✓</a:t>
            </a:r>
            <a:endParaRPr lang="en-US" sz="1700" b="0" u="none" strike="noStrike">
              <a:solidFill>
                <a:srgbClr val="000000"/>
              </a:solidFill>
              <a:effectLst/>
              <a:uFillTx/>
              <a:latin typeface="Arial"/>
            </a:endParaRPr>
          </a:p>
        </p:txBody>
      </p:sp>
      <p:sp>
        <p:nvSpPr>
          <p:cNvPr id="94" name="Shape 31"/>
          <p:cNvSpPr/>
          <p:nvPr/>
        </p:nvSpPr>
        <p:spPr>
          <a:xfrm>
            <a:off x="5559480" y="3374280"/>
            <a:ext cx="1791720" cy="603000"/>
          </a:xfrm>
          <a:prstGeom prst="roundRect">
            <a:avLst>
              <a:gd name="adj" fmla="val 6061"/>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5" name="Text 32"/>
          <p:cNvSpPr/>
          <p:nvPr/>
        </p:nvSpPr>
        <p:spPr>
          <a:xfrm>
            <a:off x="5650920" y="348372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96" name="Shape 33"/>
          <p:cNvSpPr/>
          <p:nvPr/>
        </p:nvSpPr>
        <p:spPr>
          <a:xfrm>
            <a:off x="7516440" y="3374280"/>
            <a:ext cx="1791720" cy="603000"/>
          </a:xfrm>
          <a:prstGeom prst="roundRect">
            <a:avLst>
              <a:gd name="adj" fmla="val 6061"/>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 name="Text 34"/>
          <p:cNvSpPr/>
          <p:nvPr/>
        </p:nvSpPr>
        <p:spPr>
          <a:xfrm>
            <a:off x="7607880" y="348372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98" name="Shape 35"/>
          <p:cNvSpPr/>
          <p:nvPr/>
        </p:nvSpPr>
        <p:spPr>
          <a:xfrm>
            <a:off x="9482400" y="3374280"/>
            <a:ext cx="1782720" cy="603000"/>
          </a:xfrm>
          <a:prstGeom prst="roundRect">
            <a:avLst>
              <a:gd name="adj" fmla="val 6061"/>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9" name="Text 36"/>
          <p:cNvSpPr/>
          <p:nvPr/>
        </p:nvSpPr>
        <p:spPr>
          <a:xfrm>
            <a:off x="9573840" y="3483720"/>
            <a:ext cx="1599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100" name="Shape 37"/>
          <p:cNvSpPr/>
          <p:nvPr/>
        </p:nvSpPr>
        <p:spPr>
          <a:xfrm>
            <a:off x="740520" y="4069080"/>
            <a:ext cx="276120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 name="Text 38"/>
          <p:cNvSpPr/>
          <p:nvPr/>
        </p:nvSpPr>
        <p:spPr>
          <a:xfrm>
            <a:off x="831960" y="4178880"/>
            <a:ext cx="25783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ToolSandbox</a:t>
            </a:r>
            <a:endParaRPr lang="en-US" sz="1700" b="0" u="none" strike="noStrike">
              <a:solidFill>
                <a:srgbClr val="000000"/>
              </a:solidFill>
              <a:effectLst/>
              <a:uFillTx/>
              <a:latin typeface="Arial"/>
            </a:endParaRPr>
          </a:p>
        </p:txBody>
      </p:sp>
      <p:sp>
        <p:nvSpPr>
          <p:cNvPr id="102" name="Shape 39"/>
          <p:cNvSpPr/>
          <p:nvPr/>
        </p:nvSpPr>
        <p:spPr>
          <a:xfrm>
            <a:off x="3675960" y="4069080"/>
            <a:ext cx="174600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3" name="Text 40"/>
          <p:cNvSpPr/>
          <p:nvPr/>
        </p:nvSpPr>
        <p:spPr>
          <a:xfrm>
            <a:off x="3767400" y="4178880"/>
            <a:ext cx="15631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14283F"/>
                </a:solidFill>
                <a:effectLst/>
                <a:uFillTx/>
                <a:latin typeface="Aptos"/>
                <a:ea typeface="Aptos"/>
              </a:rPr>
              <a:t>✓</a:t>
            </a:r>
            <a:endParaRPr lang="en-US" sz="1700" b="0" u="none" strike="noStrike">
              <a:solidFill>
                <a:srgbClr val="000000"/>
              </a:solidFill>
              <a:effectLst/>
              <a:uFillTx/>
              <a:latin typeface="Arial"/>
            </a:endParaRPr>
          </a:p>
        </p:txBody>
      </p:sp>
      <p:sp>
        <p:nvSpPr>
          <p:cNvPr id="104" name="Shape 41"/>
          <p:cNvSpPr/>
          <p:nvPr/>
        </p:nvSpPr>
        <p:spPr>
          <a:xfrm>
            <a:off x="5559480" y="4069080"/>
            <a:ext cx="179172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 name="Text 42"/>
          <p:cNvSpPr/>
          <p:nvPr/>
        </p:nvSpPr>
        <p:spPr>
          <a:xfrm>
            <a:off x="5650920" y="417888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14283F"/>
                </a:solidFill>
                <a:effectLst/>
                <a:uFillTx/>
                <a:latin typeface="Aptos"/>
                <a:ea typeface="Aptos"/>
              </a:rPr>
              <a:t>✓</a:t>
            </a:r>
            <a:endParaRPr lang="en-US" sz="1700" b="0" u="none" strike="noStrike">
              <a:solidFill>
                <a:srgbClr val="000000"/>
              </a:solidFill>
              <a:effectLst/>
              <a:uFillTx/>
              <a:latin typeface="Arial"/>
            </a:endParaRPr>
          </a:p>
        </p:txBody>
      </p:sp>
      <p:sp>
        <p:nvSpPr>
          <p:cNvPr id="106" name="Shape 43"/>
          <p:cNvSpPr/>
          <p:nvPr/>
        </p:nvSpPr>
        <p:spPr>
          <a:xfrm>
            <a:off x="7516440" y="4069080"/>
            <a:ext cx="179172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 name="Text 44"/>
          <p:cNvSpPr/>
          <p:nvPr/>
        </p:nvSpPr>
        <p:spPr>
          <a:xfrm>
            <a:off x="7607880" y="417888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F0A04B"/>
                </a:solidFill>
                <a:effectLst/>
                <a:uFillTx/>
                <a:latin typeface="Aptos"/>
                <a:ea typeface="Aptos"/>
              </a:rPr>
              <a:t>Partial</a:t>
            </a:r>
            <a:endParaRPr lang="en-US" sz="1700" b="0" u="none" strike="noStrike">
              <a:solidFill>
                <a:srgbClr val="000000"/>
              </a:solidFill>
              <a:effectLst/>
              <a:uFillTx/>
              <a:latin typeface="Arial"/>
            </a:endParaRPr>
          </a:p>
        </p:txBody>
      </p:sp>
      <p:sp>
        <p:nvSpPr>
          <p:cNvPr id="108" name="Shape 45"/>
          <p:cNvSpPr/>
          <p:nvPr/>
        </p:nvSpPr>
        <p:spPr>
          <a:xfrm>
            <a:off x="9482400" y="4069080"/>
            <a:ext cx="1782720" cy="603000"/>
          </a:xfrm>
          <a:prstGeom prst="roundRect">
            <a:avLst>
              <a:gd name="adj" fmla="val 6061"/>
            </a:avLst>
          </a:prstGeom>
          <a:solidFill>
            <a:srgbClr val="FFFFFF"/>
          </a:solidFill>
          <a:ln w="12700">
            <a:solidFill>
              <a:srgbClr val="FFFF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 name="Text 46"/>
          <p:cNvSpPr/>
          <p:nvPr/>
        </p:nvSpPr>
        <p:spPr>
          <a:xfrm>
            <a:off x="9573840" y="4178880"/>
            <a:ext cx="1599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a:t>
            </a:r>
            <a:endParaRPr lang="en-US" sz="1700" b="0" u="none" strike="noStrike">
              <a:solidFill>
                <a:srgbClr val="000000"/>
              </a:solidFill>
              <a:effectLst/>
              <a:uFillTx/>
              <a:latin typeface="Arial"/>
            </a:endParaRPr>
          </a:p>
        </p:txBody>
      </p:sp>
      <p:sp>
        <p:nvSpPr>
          <p:cNvPr id="110" name="Shape 47"/>
          <p:cNvSpPr/>
          <p:nvPr/>
        </p:nvSpPr>
        <p:spPr>
          <a:xfrm>
            <a:off x="740520" y="4763880"/>
            <a:ext cx="2761200" cy="603000"/>
          </a:xfrm>
          <a:prstGeom prst="roundRect">
            <a:avLst>
              <a:gd name="adj" fmla="val 6061"/>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1" name="Text 48"/>
          <p:cNvSpPr/>
          <p:nvPr/>
        </p:nvSpPr>
        <p:spPr>
          <a:xfrm>
            <a:off x="831960" y="4873680"/>
            <a:ext cx="25783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228C6D"/>
                </a:solidFill>
                <a:effectLst/>
                <a:uFillTx/>
                <a:latin typeface="Aptos"/>
                <a:ea typeface="Aptos"/>
              </a:rPr>
              <a:t>CAR-bench</a:t>
            </a:r>
            <a:endParaRPr lang="en-US" sz="1700" b="0" u="none" strike="noStrike">
              <a:solidFill>
                <a:srgbClr val="000000"/>
              </a:solidFill>
              <a:effectLst/>
              <a:uFillTx/>
              <a:latin typeface="Arial"/>
            </a:endParaRPr>
          </a:p>
        </p:txBody>
      </p:sp>
      <p:sp>
        <p:nvSpPr>
          <p:cNvPr id="112" name="Shape 49"/>
          <p:cNvSpPr/>
          <p:nvPr/>
        </p:nvSpPr>
        <p:spPr>
          <a:xfrm>
            <a:off x="3675960" y="4763880"/>
            <a:ext cx="1746000" cy="603000"/>
          </a:xfrm>
          <a:prstGeom prst="roundRect">
            <a:avLst>
              <a:gd name="adj" fmla="val 6061"/>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3" name="Text 50"/>
          <p:cNvSpPr/>
          <p:nvPr/>
        </p:nvSpPr>
        <p:spPr>
          <a:xfrm>
            <a:off x="3767400" y="4873680"/>
            <a:ext cx="15631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228C6D"/>
                </a:solidFill>
                <a:effectLst/>
                <a:uFillTx/>
                <a:latin typeface="Aptos"/>
                <a:ea typeface="Aptos"/>
              </a:rPr>
              <a:t>✓</a:t>
            </a:r>
            <a:endParaRPr lang="en-US" sz="1700" b="0" u="none" strike="noStrike">
              <a:solidFill>
                <a:srgbClr val="000000"/>
              </a:solidFill>
              <a:effectLst/>
              <a:uFillTx/>
              <a:latin typeface="Arial"/>
            </a:endParaRPr>
          </a:p>
        </p:txBody>
      </p:sp>
      <p:sp>
        <p:nvSpPr>
          <p:cNvPr id="114" name="Shape 51"/>
          <p:cNvSpPr/>
          <p:nvPr/>
        </p:nvSpPr>
        <p:spPr>
          <a:xfrm>
            <a:off x="5559480" y="4763880"/>
            <a:ext cx="1791720" cy="603000"/>
          </a:xfrm>
          <a:prstGeom prst="roundRect">
            <a:avLst>
              <a:gd name="adj" fmla="val 6061"/>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 name="Text 52"/>
          <p:cNvSpPr/>
          <p:nvPr/>
        </p:nvSpPr>
        <p:spPr>
          <a:xfrm>
            <a:off x="5650920" y="487368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228C6D"/>
                </a:solidFill>
                <a:effectLst/>
                <a:uFillTx/>
                <a:latin typeface="Aptos"/>
                <a:ea typeface="Aptos"/>
              </a:rPr>
              <a:t>✓</a:t>
            </a:r>
            <a:endParaRPr lang="en-US" sz="1700" b="0" u="none" strike="noStrike">
              <a:solidFill>
                <a:srgbClr val="000000"/>
              </a:solidFill>
              <a:effectLst/>
              <a:uFillTx/>
              <a:latin typeface="Arial"/>
            </a:endParaRPr>
          </a:p>
        </p:txBody>
      </p:sp>
      <p:sp>
        <p:nvSpPr>
          <p:cNvPr id="116" name="Shape 53"/>
          <p:cNvSpPr/>
          <p:nvPr/>
        </p:nvSpPr>
        <p:spPr>
          <a:xfrm>
            <a:off x="7516440" y="4763880"/>
            <a:ext cx="1791720" cy="603000"/>
          </a:xfrm>
          <a:prstGeom prst="roundRect">
            <a:avLst>
              <a:gd name="adj" fmla="val 6061"/>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 name="Text 54"/>
          <p:cNvSpPr/>
          <p:nvPr/>
        </p:nvSpPr>
        <p:spPr>
          <a:xfrm>
            <a:off x="7607880" y="4873680"/>
            <a:ext cx="1608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228C6D"/>
                </a:solidFill>
                <a:effectLst/>
                <a:uFillTx/>
                <a:latin typeface="Aptos"/>
                <a:ea typeface="Aptos"/>
              </a:rPr>
              <a:t>✓</a:t>
            </a:r>
            <a:endParaRPr lang="en-US" sz="1700" b="0" u="none" strike="noStrike">
              <a:solidFill>
                <a:srgbClr val="000000"/>
              </a:solidFill>
              <a:effectLst/>
              <a:uFillTx/>
              <a:latin typeface="Arial"/>
            </a:endParaRPr>
          </a:p>
        </p:txBody>
      </p:sp>
      <p:sp>
        <p:nvSpPr>
          <p:cNvPr id="118" name="Shape 55"/>
          <p:cNvSpPr/>
          <p:nvPr/>
        </p:nvSpPr>
        <p:spPr>
          <a:xfrm>
            <a:off x="9482400" y="4763880"/>
            <a:ext cx="1782720" cy="603000"/>
          </a:xfrm>
          <a:prstGeom prst="roundRect">
            <a:avLst>
              <a:gd name="adj" fmla="val 6061"/>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 name="Text 56"/>
          <p:cNvSpPr/>
          <p:nvPr/>
        </p:nvSpPr>
        <p:spPr>
          <a:xfrm>
            <a:off x="9573840" y="4873680"/>
            <a:ext cx="1599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228C6D"/>
                </a:solidFill>
                <a:effectLst/>
                <a:uFillTx/>
                <a:latin typeface="Aptos"/>
                <a:ea typeface="Aptos"/>
              </a:rPr>
              <a:t>✓</a:t>
            </a:r>
            <a:endParaRPr lang="en-US" sz="1700" b="0" u="none" strike="noStrike">
              <a:solidFill>
                <a:srgbClr val="000000"/>
              </a:solidFill>
              <a:effectLst/>
              <a:uFillTx/>
              <a:latin typeface="Arial"/>
            </a:endParaRPr>
          </a:p>
        </p:txBody>
      </p:sp>
      <p:sp>
        <p:nvSpPr>
          <p:cNvPr id="120" name="Text 57"/>
          <p:cNvSpPr/>
          <p:nvPr/>
        </p:nvSpPr>
        <p:spPr>
          <a:xfrm>
            <a:off x="777240" y="5824800"/>
            <a:ext cx="105609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“Partial” = tests missing tools, but not missing parameters or incomplete tool results.</a:t>
            </a:r>
            <a:endParaRPr lang="en-US" sz="1300" b="0" u="none" strike="noStrike">
              <a:solidFill>
                <a:srgbClr val="000000"/>
              </a:solidFill>
              <a:effectLst/>
              <a:uFillTx/>
              <a:latin typeface="Arial"/>
            </a:endParaRPr>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21"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122"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RESEARCH QUESTIONS</a:t>
            </a:r>
            <a:endParaRPr lang="en-US" sz="1100" b="0" u="none" strike="noStrike">
              <a:solidFill>
                <a:srgbClr val="000000"/>
              </a:solidFill>
              <a:effectLst/>
              <a:uFillTx/>
              <a:latin typeface="Arial"/>
            </a:endParaRPr>
          </a:p>
        </p:txBody>
      </p:sp>
      <p:sp>
        <p:nvSpPr>
          <p:cNvPr id="123"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What should an agent do when it is unsure?</a:t>
            </a:r>
            <a:endParaRPr lang="en-US" sz="3000" b="0" u="none" strike="noStrike">
              <a:solidFill>
                <a:srgbClr val="000000"/>
              </a:solidFill>
              <a:effectLst/>
              <a:uFillTx/>
              <a:latin typeface="Arial"/>
            </a:endParaRPr>
          </a:p>
        </p:txBody>
      </p:sp>
      <p:sp>
        <p:nvSpPr>
          <p:cNvPr id="124"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25"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26"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Abstract and Introduction, pp. 1–3</a:t>
            </a:r>
            <a:endParaRPr lang="en-US" sz="860" b="0" u="none" strike="noStrike">
              <a:solidFill>
                <a:srgbClr val="000000"/>
              </a:solidFill>
              <a:effectLst/>
              <a:uFillTx/>
              <a:latin typeface="Arial"/>
            </a:endParaRPr>
          </a:p>
        </p:txBody>
      </p:sp>
      <p:sp>
        <p:nvSpPr>
          <p:cNvPr id="127"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05</a:t>
            </a:r>
            <a:endParaRPr lang="en-US" sz="1000" b="0" u="none" strike="noStrike">
              <a:solidFill>
                <a:srgbClr val="000000"/>
              </a:solidFill>
              <a:effectLst/>
              <a:uFillTx/>
              <a:latin typeface="Arial"/>
            </a:endParaRPr>
          </a:p>
        </p:txBody>
      </p:sp>
      <p:sp>
        <p:nvSpPr>
          <p:cNvPr id="128" name="Shape 7"/>
          <p:cNvSpPr/>
          <p:nvPr/>
        </p:nvSpPr>
        <p:spPr>
          <a:xfrm>
            <a:off x="740520" y="1828800"/>
            <a:ext cx="3547440" cy="3419640"/>
          </a:xfrm>
          <a:prstGeom prst="roundRect">
            <a:avLst>
              <a:gd name="adj" fmla="val 4545"/>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 name="Shape 8"/>
          <p:cNvSpPr/>
          <p:nvPr/>
        </p:nvSpPr>
        <p:spPr>
          <a:xfrm>
            <a:off x="969120" y="2094120"/>
            <a:ext cx="639720" cy="63972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0" name="Text 9"/>
          <p:cNvSpPr/>
          <p:nvPr/>
        </p:nvSpPr>
        <p:spPr>
          <a:xfrm>
            <a:off x="987480" y="2258640"/>
            <a:ext cx="61236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FFFFFF"/>
                </a:solidFill>
                <a:effectLst/>
                <a:uFillTx/>
                <a:latin typeface="Aptos"/>
                <a:ea typeface="Aptos"/>
              </a:rPr>
              <a:t>RQ1</a:t>
            </a:r>
            <a:endParaRPr lang="en-US" sz="1500" b="0" u="none" strike="noStrike">
              <a:solidFill>
                <a:srgbClr val="000000"/>
              </a:solidFill>
              <a:effectLst/>
              <a:uFillTx/>
              <a:latin typeface="Arial"/>
            </a:endParaRPr>
          </a:p>
        </p:txBody>
      </p:sp>
      <p:sp>
        <p:nvSpPr>
          <p:cNvPr id="131" name="Text 10"/>
          <p:cNvSpPr/>
          <p:nvPr/>
        </p:nvSpPr>
        <p:spPr>
          <a:xfrm>
            <a:off x="960120" y="3008520"/>
            <a:ext cx="31543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300" b="1" u="none" strike="noStrike">
                <a:solidFill>
                  <a:srgbClr val="14283F"/>
                </a:solidFill>
                <a:effectLst/>
                <a:uFillTx/>
                <a:latin typeface="Aptos"/>
                <a:ea typeface="Aptos"/>
              </a:rPr>
              <a:t>Know its limits</a:t>
            </a:r>
            <a:endParaRPr lang="en-US" sz="2300" b="0" u="none" strike="noStrike">
              <a:solidFill>
                <a:srgbClr val="000000"/>
              </a:solidFill>
              <a:effectLst/>
              <a:uFillTx/>
              <a:latin typeface="Arial"/>
            </a:endParaRPr>
          </a:p>
        </p:txBody>
      </p:sp>
      <p:sp>
        <p:nvSpPr>
          <p:cNvPr id="132" name="Text 11"/>
          <p:cNvSpPr/>
          <p:nvPr/>
        </p:nvSpPr>
        <p:spPr>
          <a:xfrm>
            <a:off x="960120" y="3749040"/>
            <a:ext cx="3154320" cy="85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Can it say “I cannot do this”</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64778B"/>
                </a:solidFill>
                <a:effectLst/>
                <a:uFillTx/>
                <a:latin typeface="Aptos"/>
                <a:ea typeface="Aptos"/>
              </a:rPr>
              <a:t>when tools or data are missing?</a:t>
            </a:r>
            <a:endParaRPr lang="en-US" sz="1700" b="0" u="none" strike="noStrike">
              <a:solidFill>
                <a:srgbClr val="000000"/>
              </a:solidFill>
              <a:effectLst/>
              <a:uFillTx/>
              <a:latin typeface="Arial"/>
            </a:endParaRPr>
          </a:p>
        </p:txBody>
      </p:sp>
      <p:sp>
        <p:nvSpPr>
          <p:cNvPr id="133" name="Shape 12"/>
          <p:cNvSpPr/>
          <p:nvPr/>
        </p:nvSpPr>
        <p:spPr>
          <a:xfrm>
            <a:off x="4563000" y="1828800"/>
            <a:ext cx="3547440" cy="3419640"/>
          </a:xfrm>
          <a:prstGeom prst="roundRect">
            <a:avLst>
              <a:gd name="adj" fmla="val 4545"/>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 name="Shape 13"/>
          <p:cNvSpPr/>
          <p:nvPr/>
        </p:nvSpPr>
        <p:spPr>
          <a:xfrm>
            <a:off x="4791600" y="2094120"/>
            <a:ext cx="639720" cy="639720"/>
          </a:xfrm>
          <a:prstGeom prst="ellipse">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 name="Text 14"/>
          <p:cNvSpPr/>
          <p:nvPr/>
        </p:nvSpPr>
        <p:spPr>
          <a:xfrm>
            <a:off x="4809600" y="2258640"/>
            <a:ext cx="61236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FFFFFF"/>
                </a:solidFill>
                <a:effectLst/>
                <a:uFillTx/>
                <a:latin typeface="Aptos"/>
                <a:ea typeface="Aptos"/>
              </a:rPr>
              <a:t>RQ2</a:t>
            </a:r>
            <a:endParaRPr lang="en-US" sz="1500" b="0" u="none" strike="noStrike">
              <a:solidFill>
                <a:srgbClr val="000000"/>
              </a:solidFill>
              <a:effectLst/>
              <a:uFillTx/>
              <a:latin typeface="Arial"/>
            </a:endParaRPr>
          </a:p>
        </p:txBody>
      </p:sp>
      <p:sp>
        <p:nvSpPr>
          <p:cNvPr id="136" name="Text 15"/>
          <p:cNvSpPr/>
          <p:nvPr/>
        </p:nvSpPr>
        <p:spPr>
          <a:xfrm>
            <a:off x="4782240" y="3008520"/>
            <a:ext cx="31543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300" b="1" u="none" strike="noStrike">
                <a:solidFill>
                  <a:srgbClr val="14283F"/>
                </a:solidFill>
                <a:effectLst/>
                <a:uFillTx/>
                <a:latin typeface="Aptos"/>
                <a:ea typeface="Aptos"/>
              </a:rPr>
              <a:t>Resolve ambiguity</a:t>
            </a:r>
            <a:endParaRPr lang="en-US" sz="2300" b="0" u="none" strike="noStrike">
              <a:solidFill>
                <a:srgbClr val="000000"/>
              </a:solidFill>
              <a:effectLst/>
              <a:uFillTx/>
              <a:latin typeface="Arial"/>
            </a:endParaRPr>
          </a:p>
        </p:txBody>
      </p:sp>
      <p:sp>
        <p:nvSpPr>
          <p:cNvPr id="137" name="Text 16"/>
          <p:cNvSpPr/>
          <p:nvPr/>
        </p:nvSpPr>
        <p:spPr>
          <a:xfrm>
            <a:off x="4782240" y="3749040"/>
            <a:ext cx="3154320" cy="85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Can it check what is missing</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64778B"/>
                </a:solidFill>
                <a:effectLst/>
                <a:uFillTx/>
                <a:latin typeface="Aptos"/>
                <a:ea typeface="Aptos"/>
              </a:rPr>
              <a:t>before asking or acting?</a:t>
            </a:r>
            <a:endParaRPr lang="en-US" sz="1700" b="0" u="none" strike="noStrike">
              <a:solidFill>
                <a:srgbClr val="000000"/>
              </a:solidFill>
              <a:effectLst/>
              <a:uFillTx/>
              <a:latin typeface="Arial"/>
            </a:endParaRPr>
          </a:p>
        </p:txBody>
      </p:sp>
      <p:sp>
        <p:nvSpPr>
          <p:cNvPr id="138" name="Shape 17"/>
          <p:cNvSpPr/>
          <p:nvPr/>
        </p:nvSpPr>
        <p:spPr>
          <a:xfrm>
            <a:off x="8385120" y="1828800"/>
            <a:ext cx="3547440" cy="3419640"/>
          </a:xfrm>
          <a:prstGeom prst="roundRect">
            <a:avLst>
              <a:gd name="adj" fmla="val 4545"/>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 name="Shape 18"/>
          <p:cNvSpPr/>
          <p:nvPr/>
        </p:nvSpPr>
        <p:spPr>
          <a:xfrm>
            <a:off x="8613720" y="2094120"/>
            <a:ext cx="639720" cy="639720"/>
          </a:xfrm>
          <a:prstGeom prst="ellipse">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0" name="Text 19"/>
          <p:cNvSpPr/>
          <p:nvPr/>
        </p:nvSpPr>
        <p:spPr>
          <a:xfrm>
            <a:off x="8632080" y="2258640"/>
            <a:ext cx="61236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FFFFFF"/>
                </a:solidFill>
                <a:effectLst/>
                <a:uFillTx/>
                <a:latin typeface="Aptos"/>
                <a:ea typeface="Aptos"/>
              </a:rPr>
              <a:t>RQ3</a:t>
            </a:r>
            <a:endParaRPr lang="en-US" sz="1500" b="0" u="none" strike="noStrike">
              <a:solidFill>
                <a:srgbClr val="000000"/>
              </a:solidFill>
              <a:effectLst/>
              <a:uFillTx/>
              <a:latin typeface="Arial"/>
            </a:endParaRPr>
          </a:p>
        </p:txBody>
      </p:sp>
      <p:sp>
        <p:nvSpPr>
          <p:cNvPr id="141" name="Text 20"/>
          <p:cNvSpPr/>
          <p:nvPr/>
        </p:nvSpPr>
        <p:spPr>
          <a:xfrm>
            <a:off x="8604360" y="3008520"/>
            <a:ext cx="31543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300" b="1" u="none" strike="noStrike">
                <a:solidFill>
                  <a:srgbClr val="14283F"/>
                </a:solidFill>
                <a:effectLst/>
                <a:uFillTx/>
                <a:latin typeface="Aptos"/>
                <a:ea typeface="Aptos"/>
              </a:rPr>
              <a:t>Stay consistent</a:t>
            </a:r>
            <a:endParaRPr lang="en-US" sz="2300" b="0" u="none" strike="noStrike">
              <a:solidFill>
                <a:srgbClr val="000000"/>
              </a:solidFill>
              <a:effectLst/>
              <a:uFillTx/>
              <a:latin typeface="Arial"/>
            </a:endParaRPr>
          </a:p>
        </p:txBody>
      </p:sp>
      <p:sp>
        <p:nvSpPr>
          <p:cNvPr id="142" name="Text 21"/>
          <p:cNvSpPr/>
          <p:nvPr/>
        </p:nvSpPr>
        <p:spPr>
          <a:xfrm>
            <a:off x="8604360" y="3749040"/>
            <a:ext cx="3154320" cy="85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Can it make the right choice</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64778B"/>
                </a:solidFill>
                <a:effectLst/>
                <a:uFillTx/>
                <a:latin typeface="Aptos"/>
                <a:ea typeface="Aptos"/>
              </a:rPr>
              <a:t>across repeated runs?</a:t>
            </a:r>
            <a:endParaRPr lang="en-US" sz="1700" b="0" u="none" strike="noStrike">
              <a:solidFill>
                <a:srgbClr val="000000"/>
              </a:solidFill>
              <a:effectLst/>
              <a:uFillTx/>
              <a:latin typeface="Arial"/>
            </a:endParaRPr>
          </a:p>
        </p:txBody>
      </p:sp>
      <p:sp>
        <p:nvSpPr>
          <p:cNvPr id="143" name="Shape 22"/>
          <p:cNvSpPr/>
          <p:nvPr/>
        </p:nvSpPr>
        <p:spPr>
          <a:xfrm>
            <a:off x="713160" y="5943600"/>
            <a:ext cx="10762200" cy="411120"/>
          </a:xfrm>
          <a:prstGeom prst="roundRect">
            <a:avLst>
              <a:gd name="adj" fmla="val 26667"/>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4" name="Text 23"/>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The goal is reliable decisions — not just a “Done!” message.</a:t>
            </a:r>
            <a:endParaRPr lang="en-US" sz="15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45"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146"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METHODOLOGY</a:t>
            </a:r>
            <a:endParaRPr lang="en-US" sz="1100" b="0" u="none" strike="noStrike">
              <a:solidFill>
                <a:srgbClr val="000000"/>
              </a:solidFill>
              <a:effectLst/>
              <a:uFillTx/>
              <a:latin typeface="Arial"/>
            </a:endParaRPr>
          </a:p>
        </p:txBody>
      </p:sp>
      <p:sp>
        <p:nvSpPr>
          <p:cNvPr id="147"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3000" b="1" u="none" strike="noStrike">
                <a:solidFill>
                  <a:srgbClr val="14283F"/>
                </a:solidFill>
                <a:effectLst/>
                <a:uFillTx/>
                <a:latin typeface="Aptos"/>
                <a:ea typeface="Aptos"/>
              </a:rPr>
              <a:t>One simulated user, one agent, one changing environment</a:t>
            </a:r>
            <a:endParaRPr lang="en-US" sz="3000" b="0" u="none" strike="noStrike">
              <a:solidFill>
                <a:srgbClr val="000000"/>
              </a:solidFill>
              <a:effectLst/>
              <a:uFillTx/>
              <a:latin typeface="Arial"/>
            </a:endParaRPr>
          </a:p>
        </p:txBody>
      </p:sp>
      <p:sp>
        <p:nvSpPr>
          <p:cNvPr id="148"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49"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50"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Figure 1 and Section 3.1, pp. 2–4</a:t>
            </a:r>
            <a:endParaRPr lang="en-US" sz="860" b="0" u="none" strike="noStrike">
              <a:solidFill>
                <a:srgbClr val="000000"/>
              </a:solidFill>
              <a:effectLst/>
              <a:uFillTx/>
              <a:latin typeface="Arial"/>
            </a:endParaRPr>
          </a:p>
        </p:txBody>
      </p:sp>
      <p:sp>
        <p:nvSpPr>
          <p:cNvPr id="151"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06</a:t>
            </a:r>
            <a:endParaRPr lang="en-US" sz="1000" b="0" u="none" strike="noStrike">
              <a:solidFill>
                <a:srgbClr val="000000"/>
              </a:solidFill>
              <a:effectLst/>
              <a:uFillTx/>
              <a:latin typeface="Arial"/>
            </a:endParaRPr>
          </a:p>
        </p:txBody>
      </p:sp>
      <p:sp>
        <p:nvSpPr>
          <p:cNvPr id="152" name="Shape 7"/>
          <p:cNvSpPr/>
          <p:nvPr/>
        </p:nvSpPr>
        <p:spPr>
          <a:xfrm>
            <a:off x="777240" y="1847160"/>
            <a:ext cx="2697120" cy="1005480"/>
          </a:xfrm>
          <a:prstGeom prst="roundRect">
            <a:avLst>
              <a:gd name="adj" fmla="val 15455"/>
            </a:avLst>
          </a:prstGeom>
          <a:solidFill>
            <a:srgbClr val="E9F0FC"/>
          </a:solidFill>
          <a:ln w="12700">
            <a:solidFill>
              <a:srgbClr val="E9F0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3" name="Text 8"/>
          <p:cNvSpPr/>
          <p:nvPr/>
        </p:nvSpPr>
        <p:spPr>
          <a:xfrm>
            <a:off x="987480" y="2011680"/>
            <a:ext cx="2276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800" b="1" u="none" strike="noStrike">
                <a:solidFill>
                  <a:srgbClr val="14283F"/>
                </a:solidFill>
                <a:effectLst/>
                <a:uFillTx/>
                <a:latin typeface="Aptos"/>
                <a:ea typeface="Aptos"/>
              </a:rPr>
              <a:t>USER SIMULATOR</a:t>
            </a:r>
            <a:endParaRPr lang="en-US" sz="1800" b="0" u="none" strike="noStrike">
              <a:solidFill>
                <a:srgbClr val="000000"/>
              </a:solidFill>
              <a:effectLst/>
              <a:uFillTx/>
              <a:latin typeface="Arial"/>
            </a:endParaRPr>
          </a:p>
        </p:txBody>
      </p:sp>
      <p:sp>
        <p:nvSpPr>
          <p:cNvPr id="154" name="Text 9"/>
          <p:cNvSpPr/>
          <p:nvPr/>
        </p:nvSpPr>
        <p:spPr>
          <a:xfrm>
            <a:off x="978480" y="2414160"/>
            <a:ext cx="23040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0" u="none" strike="noStrike">
                <a:solidFill>
                  <a:srgbClr val="64778B"/>
                </a:solidFill>
                <a:effectLst/>
                <a:uFillTx/>
                <a:latin typeface="Aptos"/>
                <a:ea typeface="Aptos"/>
              </a:rPr>
              <a:t>message + hidden control</a:t>
            </a:r>
            <a:endParaRPr lang="en-US" sz="1300" b="0" u="none" strike="noStrike">
              <a:solidFill>
                <a:srgbClr val="000000"/>
              </a:solidFill>
              <a:effectLst/>
              <a:uFillTx/>
              <a:latin typeface="Arial"/>
            </a:endParaRPr>
          </a:p>
        </p:txBody>
      </p:sp>
      <p:sp>
        <p:nvSpPr>
          <p:cNvPr id="155" name="Shape 10"/>
          <p:cNvSpPr/>
          <p:nvPr/>
        </p:nvSpPr>
        <p:spPr>
          <a:xfrm>
            <a:off x="4599360" y="1847160"/>
            <a:ext cx="2724480" cy="1005480"/>
          </a:xfrm>
          <a:prstGeom prst="roundRect">
            <a:avLst>
              <a:gd name="adj" fmla="val 15455"/>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6" name="Text 11"/>
          <p:cNvSpPr/>
          <p:nvPr/>
        </p:nvSpPr>
        <p:spPr>
          <a:xfrm>
            <a:off x="4818960" y="2020680"/>
            <a:ext cx="2285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2100" b="1" u="none" strike="noStrike">
                <a:solidFill>
                  <a:srgbClr val="14283F"/>
                </a:solidFill>
                <a:effectLst/>
                <a:uFillTx/>
                <a:latin typeface="Aptos"/>
                <a:ea typeface="Aptos"/>
              </a:rPr>
              <a:t>LLM AGENT</a:t>
            </a:r>
            <a:endParaRPr lang="en-US" sz="2100" b="0" u="none" strike="noStrike">
              <a:solidFill>
                <a:srgbClr val="000000"/>
              </a:solidFill>
              <a:effectLst/>
              <a:uFillTx/>
              <a:latin typeface="Arial"/>
            </a:endParaRPr>
          </a:p>
        </p:txBody>
      </p:sp>
      <p:sp>
        <p:nvSpPr>
          <p:cNvPr id="157" name="Text 12"/>
          <p:cNvSpPr/>
          <p:nvPr/>
        </p:nvSpPr>
        <p:spPr>
          <a:xfrm>
            <a:off x="4809600" y="2423160"/>
            <a:ext cx="2285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0" u="none" strike="noStrike">
                <a:solidFill>
                  <a:srgbClr val="64778B"/>
                </a:solidFill>
                <a:effectLst/>
                <a:uFillTx/>
                <a:latin typeface="Aptos"/>
                <a:ea typeface="Aptos"/>
              </a:rPr>
              <a:t>choose / ask / act</a:t>
            </a:r>
            <a:endParaRPr lang="en-US" sz="1300" b="0" u="none" strike="noStrike">
              <a:solidFill>
                <a:srgbClr val="000000"/>
              </a:solidFill>
              <a:effectLst/>
              <a:uFillTx/>
              <a:latin typeface="Arial"/>
            </a:endParaRPr>
          </a:p>
        </p:txBody>
      </p:sp>
      <p:sp>
        <p:nvSpPr>
          <p:cNvPr id="158" name="Shape 13"/>
          <p:cNvSpPr/>
          <p:nvPr/>
        </p:nvSpPr>
        <p:spPr>
          <a:xfrm>
            <a:off x="8421480" y="1847160"/>
            <a:ext cx="2871000" cy="1005480"/>
          </a:xfrm>
          <a:prstGeom prst="roundRect">
            <a:avLst>
              <a:gd name="adj" fmla="val 15455"/>
            </a:avLst>
          </a:prstGeom>
          <a:solidFill>
            <a:srgbClr val="FFF2DF"/>
          </a:solidFill>
          <a:ln w="12700">
            <a:solidFill>
              <a:srgbClr val="FFF2D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9" name="Text 14"/>
          <p:cNvSpPr/>
          <p:nvPr/>
        </p:nvSpPr>
        <p:spPr>
          <a:xfrm>
            <a:off x="8650080" y="2020680"/>
            <a:ext cx="239544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900" b="1" u="none" strike="noStrike">
                <a:solidFill>
                  <a:srgbClr val="14283F"/>
                </a:solidFill>
                <a:effectLst/>
                <a:uFillTx/>
                <a:latin typeface="Aptos"/>
                <a:ea typeface="Aptos"/>
              </a:rPr>
              <a:t>ENVIRONMENT</a:t>
            </a:r>
            <a:endParaRPr lang="en-US" sz="1900" b="0" u="none" strike="noStrike">
              <a:solidFill>
                <a:srgbClr val="000000"/>
              </a:solidFill>
              <a:effectLst/>
              <a:uFillTx/>
              <a:latin typeface="Arial"/>
            </a:endParaRPr>
          </a:p>
        </p:txBody>
      </p:sp>
      <p:sp>
        <p:nvSpPr>
          <p:cNvPr id="160" name="Text 15"/>
          <p:cNvSpPr/>
          <p:nvPr/>
        </p:nvSpPr>
        <p:spPr>
          <a:xfrm>
            <a:off x="8632080" y="2414160"/>
            <a:ext cx="2431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0" u="none" strike="noStrike">
                <a:solidFill>
                  <a:srgbClr val="64778B"/>
                </a:solidFill>
                <a:effectLst/>
                <a:uFillTx/>
                <a:latin typeface="Aptos"/>
                <a:ea typeface="Aptos"/>
              </a:rPr>
              <a:t>state  ·  context  ·  data</a:t>
            </a:r>
            <a:endParaRPr lang="en-US" sz="1300" b="0" u="none" strike="noStrike">
              <a:solidFill>
                <a:srgbClr val="000000"/>
              </a:solidFill>
              <a:effectLst/>
              <a:uFillTx/>
              <a:latin typeface="Arial"/>
            </a:endParaRPr>
          </a:p>
        </p:txBody>
      </p:sp>
      <p:sp>
        <p:nvSpPr>
          <p:cNvPr id="161" name="Shape 16"/>
          <p:cNvSpPr/>
          <p:nvPr/>
        </p:nvSpPr>
        <p:spPr>
          <a:xfrm>
            <a:off x="3502080" y="2340720"/>
            <a:ext cx="1014840" cy="360"/>
          </a:xfrm>
          <a:prstGeom prst="line">
            <a:avLst/>
          </a:prstGeom>
          <a:ln w="3556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62" name="Shape 17"/>
          <p:cNvSpPr/>
          <p:nvPr/>
        </p:nvSpPr>
        <p:spPr>
          <a:xfrm>
            <a:off x="7360920" y="2340720"/>
            <a:ext cx="969120" cy="360"/>
          </a:xfrm>
          <a:prstGeom prst="line">
            <a:avLst/>
          </a:prstGeom>
          <a:ln w="3556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63" name="Shape 18"/>
          <p:cNvSpPr/>
          <p:nvPr/>
        </p:nvSpPr>
        <p:spPr>
          <a:xfrm>
            <a:off x="4782240" y="3346560"/>
            <a:ext cx="2368080" cy="776880"/>
          </a:xfrm>
          <a:prstGeom prst="roundRect">
            <a:avLst>
              <a:gd name="adj" fmla="val 20000"/>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4" name="Text 19"/>
          <p:cNvSpPr/>
          <p:nvPr/>
        </p:nvSpPr>
        <p:spPr>
          <a:xfrm>
            <a:off x="4956120" y="3502080"/>
            <a:ext cx="2020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14283F"/>
                </a:solidFill>
                <a:effectLst/>
                <a:uFillTx/>
                <a:latin typeface="Aptos"/>
                <a:ea typeface="Aptos"/>
              </a:rPr>
              <a:t>58 TOOLS</a:t>
            </a:r>
            <a:endParaRPr lang="en-US" sz="2000" b="0" u="none" strike="noStrike">
              <a:solidFill>
                <a:srgbClr val="000000"/>
              </a:solidFill>
              <a:effectLst/>
              <a:uFillTx/>
              <a:latin typeface="Arial"/>
            </a:endParaRPr>
          </a:p>
        </p:txBody>
      </p:sp>
      <p:sp>
        <p:nvSpPr>
          <p:cNvPr id="165" name="Shape 20"/>
          <p:cNvSpPr/>
          <p:nvPr/>
        </p:nvSpPr>
        <p:spPr>
          <a:xfrm>
            <a:off x="5943600" y="2907720"/>
            <a:ext cx="360" cy="365760"/>
          </a:xfrm>
          <a:prstGeom prst="line">
            <a:avLst/>
          </a:prstGeom>
          <a:ln w="2540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66" name="Shape 21"/>
          <p:cNvSpPr/>
          <p:nvPr/>
        </p:nvSpPr>
        <p:spPr>
          <a:xfrm>
            <a:off x="4782240" y="4590360"/>
            <a:ext cx="2368080" cy="776880"/>
          </a:xfrm>
          <a:prstGeom prst="roundRect">
            <a:avLst>
              <a:gd name="adj" fmla="val 20000"/>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7" name="Text 22"/>
          <p:cNvSpPr/>
          <p:nvPr/>
        </p:nvSpPr>
        <p:spPr>
          <a:xfrm>
            <a:off x="4946760" y="4736520"/>
            <a:ext cx="2029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900" b="1" u="none" strike="noStrike">
                <a:solidFill>
                  <a:srgbClr val="14283F"/>
                </a:solidFill>
                <a:effectLst/>
                <a:uFillTx/>
                <a:latin typeface="Aptos"/>
                <a:ea typeface="Aptos"/>
              </a:rPr>
              <a:t>19 POLICIES</a:t>
            </a:r>
            <a:endParaRPr lang="en-US" sz="1900" b="0" u="none" strike="noStrike">
              <a:solidFill>
                <a:srgbClr val="000000"/>
              </a:solidFill>
              <a:effectLst/>
              <a:uFillTx/>
              <a:latin typeface="Arial"/>
            </a:endParaRPr>
          </a:p>
        </p:txBody>
      </p:sp>
      <p:sp>
        <p:nvSpPr>
          <p:cNvPr id="168" name="Shape 23"/>
          <p:cNvSpPr/>
          <p:nvPr/>
        </p:nvSpPr>
        <p:spPr>
          <a:xfrm flipV="1">
            <a:off x="5943600" y="4187880"/>
            <a:ext cx="360" cy="329040"/>
          </a:xfrm>
          <a:prstGeom prst="line">
            <a:avLst/>
          </a:prstGeom>
          <a:ln w="25400">
            <a:solidFill>
              <a:srgbClr val="D65F62"/>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69" name="Shape 24"/>
          <p:cNvSpPr/>
          <p:nvPr/>
        </p:nvSpPr>
        <p:spPr>
          <a:xfrm>
            <a:off x="8522280" y="3730680"/>
            <a:ext cx="2669760" cy="1407960"/>
          </a:xfrm>
          <a:prstGeom prst="roundRect">
            <a:avLst>
              <a:gd name="adj" fmla="val 11039"/>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0" name="Text 25"/>
          <p:cNvSpPr/>
          <p:nvPr/>
        </p:nvSpPr>
        <p:spPr>
          <a:xfrm>
            <a:off x="8723520" y="3858840"/>
            <a:ext cx="231300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Environment</a:t>
            </a:r>
            <a:endParaRPr lang="en-US" sz="1700" b="0" u="none" strike="noStrike">
              <a:solidFill>
                <a:srgbClr val="000000"/>
              </a:solidFill>
              <a:effectLst/>
              <a:uFillTx/>
              <a:latin typeface="Arial"/>
            </a:endParaRPr>
          </a:p>
        </p:txBody>
      </p:sp>
      <p:sp>
        <p:nvSpPr>
          <p:cNvPr id="171" name="Text 26"/>
          <p:cNvSpPr/>
          <p:nvPr/>
        </p:nvSpPr>
        <p:spPr>
          <a:xfrm>
            <a:off x="8714160" y="4270320"/>
            <a:ext cx="2358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400" b="0" u="none" strike="noStrike">
                <a:solidFill>
                  <a:srgbClr val="64778B"/>
                </a:solidFill>
                <a:effectLst/>
                <a:uFillTx/>
                <a:latin typeface="Aptos"/>
                <a:ea typeface="Aptos"/>
              </a:rPr>
              <a:t>Mutable state</a:t>
            </a: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64778B"/>
                </a:solidFill>
                <a:effectLst/>
                <a:uFillTx/>
                <a:latin typeface="Aptos"/>
                <a:ea typeface="Aptos"/>
              </a:rPr>
              <a:t>Fixed context</a:t>
            </a: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64778B"/>
                </a:solidFill>
                <a:effectLst/>
                <a:uFillTx/>
                <a:latin typeface="Aptos"/>
                <a:ea typeface="Aptos"/>
              </a:rPr>
              <a:t>Linked databases</a:t>
            </a:r>
            <a:endParaRPr lang="en-US" sz="1400" b="0" u="none" strike="noStrike">
              <a:solidFill>
                <a:srgbClr val="000000"/>
              </a:solidFill>
              <a:effectLst/>
              <a:uFillTx/>
              <a:latin typeface="Arial"/>
            </a:endParaRPr>
          </a:p>
        </p:txBody>
      </p:sp>
      <p:sp>
        <p:nvSpPr>
          <p:cNvPr id="172" name="Shape 27"/>
          <p:cNvSpPr/>
          <p:nvPr/>
        </p:nvSpPr>
        <p:spPr>
          <a:xfrm>
            <a:off x="887040" y="3740040"/>
            <a:ext cx="2514240" cy="1161000"/>
          </a:xfrm>
          <a:prstGeom prst="roundRect">
            <a:avLst>
              <a:gd name="adj" fmla="val 1338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3" name="Text 28"/>
          <p:cNvSpPr/>
          <p:nvPr/>
        </p:nvSpPr>
        <p:spPr>
          <a:xfrm>
            <a:off x="1060560" y="3940920"/>
            <a:ext cx="214848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4283F"/>
                </a:solidFill>
                <a:effectLst/>
                <a:uFillTx/>
                <a:latin typeface="Aptos"/>
                <a:ea typeface="Aptos"/>
              </a:rPr>
              <a:t>Hidden control word</a:t>
            </a:r>
            <a:endParaRPr lang="en-US" sz="1600" b="0" u="none" strike="noStrike">
              <a:solidFill>
                <a:srgbClr val="000000"/>
              </a:solidFill>
              <a:effectLst/>
              <a:uFillTx/>
              <a:latin typeface="Arial"/>
            </a:endParaRPr>
          </a:p>
        </p:txBody>
      </p:sp>
      <p:sp>
        <p:nvSpPr>
          <p:cNvPr id="174" name="Text 29"/>
          <p:cNvSpPr/>
          <p:nvPr/>
        </p:nvSpPr>
        <p:spPr>
          <a:xfrm>
            <a:off x="1060560" y="4370760"/>
            <a:ext cx="214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stop / error / continue</a:t>
            </a:r>
            <a:endParaRPr lang="en-US" sz="1300" b="0" u="none" strike="noStrike">
              <a:solidFill>
                <a:srgbClr val="000000"/>
              </a:solidFill>
              <a:effectLst/>
              <a:uFillTx/>
              <a:latin typeface="Arial"/>
            </a:endParaRPr>
          </a:p>
        </p:txBody>
      </p:sp>
      <p:sp>
        <p:nvSpPr>
          <p:cNvPr id="175" name="Shape 30"/>
          <p:cNvSpPr/>
          <p:nvPr/>
        </p:nvSpPr>
        <p:spPr>
          <a:xfrm>
            <a:off x="2112120" y="2889360"/>
            <a:ext cx="360" cy="777240"/>
          </a:xfrm>
          <a:prstGeom prst="line">
            <a:avLst/>
          </a:prstGeom>
          <a:ln w="25400">
            <a:solidFill>
              <a:srgbClr val="4779C9"/>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76" name="Shape 31"/>
          <p:cNvSpPr/>
          <p:nvPr/>
        </p:nvSpPr>
        <p:spPr>
          <a:xfrm>
            <a:off x="713160" y="5943600"/>
            <a:ext cx="10762200" cy="411120"/>
          </a:xfrm>
          <a:prstGeom prst="roundRect">
            <a:avLst>
              <a:gd name="adj" fmla="val 26667"/>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7" name="Text 32"/>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Agent can observe the world with GET tools and change it with SET tools.</a:t>
            </a:r>
            <a:endParaRPr lang="en-US" sz="15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78"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179"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METHODOLOGY</a:t>
            </a:r>
            <a:endParaRPr lang="en-US" sz="1100" b="0" u="none" strike="noStrike">
              <a:solidFill>
                <a:srgbClr val="000000"/>
              </a:solidFill>
              <a:effectLst/>
              <a:uFillTx/>
              <a:latin typeface="Arial"/>
            </a:endParaRPr>
          </a:p>
        </p:txBody>
      </p:sp>
      <p:sp>
        <p:nvSpPr>
          <p:cNvPr id="180"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A realistic testbed: tools, policies and data</a:t>
            </a:r>
            <a:endParaRPr lang="en-US" sz="3000" b="0" u="none" strike="noStrike">
              <a:solidFill>
                <a:srgbClr val="000000"/>
              </a:solidFill>
              <a:effectLst/>
              <a:uFillTx/>
              <a:latin typeface="Arial"/>
            </a:endParaRPr>
          </a:p>
        </p:txBody>
      </p:sp>
      <p:sp>
        <p:nvSpPr>
          <p:cNvPr id="181"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82"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83"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Tables 2–3 and Section 3.1, pp. 4–5</a:t>
            </a:r>
            <a:endParaRPr lang="en-US" sz="860" b="0" u="none" strike="noStrike">
              <a:solidFill>
                <a:srgbClr val="000000"/>
              </a:solidFill>
              <a:effectLst/>
              <a:uFillTx/>
              <a:latin typeface="Arial"/>
            </a:endParaRPr>
          </a:p>
        </p:txBody>
      </p:sp>
      <p:sp>
        <p:nvSpPr>
          <p:cNvPr id="184"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07</a:t>
            </a:r>
            <a:endParaRPr lang="en-US" sz="1000" b="0" u="none" strike="noStrike">
              <a:solidFill>
                <a:srgbClr val="000000"/>
              </a:solidFill>
              <a:effectLst/>
              <a:uFillTx/>
              <a:latin typeface="Arial"/>
            </a:endParaRPr>
          </a:p>
        </p:txBody>
      </p:sp>
      <p:sp>
        <p:nvSpPr>
          <p:cNvPr id="185" name="Shape 7"/>
          <p:cNvSpPr/>
          <p:nvPr/>
        </p:nvSpPr>
        <p:spPr>
          <a:xfrm>
            <a:off x="831960" y="1746360"/>
            <a:ext cx="3474360" cy="2057040"/>
          </a:xfrm>
          <a:prstGeom prst="roundRect">
            <a:avLst>
              <a:gd name="adj" fmla="val 755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6" name="Text 8"/>
          <p:cNvSpPr/>
          <p:nvPr/>
        </p:nvSpPr>
        <p:spPr>
          <a:xfrm>
            <a:off x="996840" y="2011680"/>
            <a:ext cx="31359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3700" b="1" u="none" strike="noStrike">
                <a:solidFill>
                  <a:srgbClr val="119F9A"/>
                </a:solidFill>
                <a:effectLst/>
                <a:uFillTx/>
                <a:latin typeface="Aptos"/>
                <a:ea typeface="Aptos"/>
              </a:rPr>
              <a:t>58</a:t>
            </a:r>
            <a:endParaRPr lang="en-US" sz="3700" b="0" u="none" strike="noStrike">
              <a:solidFill>
                <a:srgbClr val="000000"/>
              </a:solidFill>
              <a:effectLst/>
              <a:uFillTx/>
              <a:latin typeface="Arial"/>
            </a:endParaRPr>
          </a:p>
        </p:txBody>
      </p:sp>
      <p:sp>
        <p:nvSpPr>
          <p:cNvPr id="187" name="Text 9"/>
          <p:cNvSpPr/>
          <p:nvPr/>
        </p:nvSpPr>
        <p:spPr>
          <a:xfrm>
            <a:off x="996840" y="2679120"/>
            <a:ext cx="313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spc="99">
                <a:solidFill>
                  <a:srgbClr val="14283F"/>
                </a:solidFill>
                <a:effectLst/>
                <a:uFillTx/>
                <a:latin typeface="Aptos"/>
                <a:ea typeface="Aptos"/>
              </a:rPr>
              <a:t>TOOLS</a:t>
            </a:r>
            <a:endParaRPr lang="en-US" sz="1300" b="0" u="none" strike="noStrike">
              <a:solidFill>
                <a:srgbClr val="000000"/>
              </a:solidFill>
              <a:effectLst/>
              <a:uFillTx/>
              <a:latin typeface="Arial"/>
            </a:endParaRPr>
          </a:p>
        </p:txBody>
      </p:sp>
      <p:sp>
        <p:nvSpPr>
          <p:cNvPr id="188" name="Text 10"/>
          <p:cNvSpPr/>
          <p:nvPr/>
        </p:nvSpPr>
        <p:spPr>
          <a:xfrm>
            <a:off x="996840" y="3017520"/>
            <a:ext cx="31359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29 get  ·  27 set</a:t>
            </a:r>
            <a:endParaRPr lang="en-US" sz="1400" b="0" u="none" strike="noStrike">
              <a:solidFill>
                <a:srgbClr val="000000"/>
              </a:solidFill>
              <a:effectLst/>
              <a:uFillTx/>
              <a:latin typeface="Arial"/>
            </a:endParaRPr>
          </a:p>
          <a:p>
            <a:pPr algn="ctr" defTabSz="914400">
              <a:lnSpc>
                <a:spcPct val="100000"/>
              </a:lnSpc>
              <a:tabLst>
                <a:tab pos="0" algn="l"/>
              </a:tabLst>
            </a:pPr>
            <a:r>
              <a:rPr lang="en-US" sz="1400" b="0" u="none" strike="noStrike">
                <a:solidFill>
                  <a:srgbClr val="64778B"/>
                </a:solidFill>
                <a:effectLst/>
                <a:uFillTx/>
                <a:latin typeface="Aptos"/>
                <a:ea typeface="Aptos"/>
              </a:rPr>
              <a:t>2 no-op</a:t>
            </a:r>
            <a:endParaRPr lang="en-US" sz="1400" b="0" u="none" strike="noStrike">
              <a:solidFill>
                <a:srgbClr val="000000"/>
              </a:solidFill>
              <a:effectLst/>
              <a:uFillTx/>
              <a:latin typeface="Arial"/>
            </a:endParaRPr>
          </a:p>
        </p:txBody>
      </p:sp>
      <p:sp>
        <p:nvSpPr>
          <p:cNvPr id="189" name="Shape 11"/>
          <p:cNvSpPr/>
          <p:nvPr/>
        </p:nvSpPr>
        <p:spPr>
          <a:xfrm>
            <a:off x="4645080" y="1746360"/>
            <a:ext cx="3474360" cy="2057040"/>
          </a:xfrm>
          <a:prstGeom prst="roundRect">
            <a:avLst>
              <a:gd name="adj" fmla="val 755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0" name="Text 12"/>
          <p:cNvSpPr/>
          <p:nvPr/>
        </p:nvSpPr>
        <p:spPr>
          <a:xfrm>
            <a:off x="4809600" y="2011680"/>
            <a:ext cx="31359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3700" b="1" u="none" strike="noStrike">
                <a:solidFill>
                  <a:srgbClr val="4779C9"/>
                </a:solidFill>
                <a:effectLst/>
                <a:uFillTx/>
                <a:latin typeface="Aptos"/>
                <a:ea typeface="Aptos"/>
              </a:rPr>
              <a:t>19</a:t>
            </a:r>
            <a:endParaRPr lang="en-US" sz="3700" b="0" u="none" strike="noStrike">
              <a:solidFill>
                <a:srgbClr val="000000"/>
              </a:solidFill>
              <a:effectLst/>
              <a:uFillTx/>
              <a:latin typeface="Arial"/>
            </a:endParaRPr>
          </a:p>
        </p:txBody>
      </p:sp>
      <p:sp>
        <p:nvSpPr>
          <p:cNvPr id="191" name="Text 13"/>
          <p:cNvSpPr/>
          <p:nvPr/>
        </p:nvSpPr>
        <p:spPr>
          <a:xfrm>
            <a:off x="4809600" y="2679120"/>
            <a:ext cx="313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spc="99">
                <a:solidFill>
                  <a:srgbClr val="14283F"/>
                </a:solidFill>
                <a:effectLst/>
                <a:uFillTx/>
                <a:latin typeface="Aptos"/>
                <a:ea typeface="Aptos"/>
              </a:rPr>
              <a:t>POLICIES</a:t>
            </a:r>
            <a:endParaRPr lang="en-US" sz="1300" b="0" u="none" strike="noStrike">
              <a:solidFill>
                <a:srgbClr val="000000"/>
              </a:solidFill>
              <a:effectLst/>
              <a:uFillTx/>
              <a:latin typeface="Arial"/>
            </a:endParaRPr>
          </a:p>
        </p:txBody>
      </p:sp>
      <p:sp>
        <p:nvSpPr>
          <p:cNvPr id="192" name="Text 14"/>
          <p:cNvSpPr/>
          <p:nvPr/>
        </p:nvSpPr>
        <p:spPr>
          <a:xfrm>
            <a:off x="4809600" y="3017520"/>
            <a:ext cx="31359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12 code checks</a:t>
            </a:r>
            <a:endParaRPr lang="en-US" sz="1400" b="0" u="none" strike="noStrike">
              <a:solidFill>
                <a:srgbClr val="000000"/>
              </a:solidFill>
              <a:effectLst/>
              <a:uFillTx/>
              <a:latin typeface="Arial"/>
            </a:endParaRPr>
          </a:p>
          <a:p>
            <a:pPr algn="ctr" defTabSz="914400">
              <a:lnSpc>
                <a:spcPct val="100000"/>
              </a:lnSpc>
              <a:tabLst>
                <a:tab pos="0" algn="l"/>
              </a:tabLst>
            </a:pPr>
            <a:r>
              <a:rPr lang="en-US" sz="1400" b="0" u="none" strike="noStrike">
                <a:solidFill>
                  <a:srgbClr val="64778B"/>
                </a:solidFill>
                <a:effectLst/>
                <a:uFillTx/>
                <a:latin typeface="Aptos"/>
                <a:ea typeface="Aptos"/>
              </a:rPr>
              <a:t>7 LLM checks</a:t>
            </a:r>
            <a:endParaRPr lang="en-US" sz="1400" b="0" u="none" strike="noStrike">
              <a:solidFill>
                <a:srgbClr val="000000"/>
              </a:solidFill>
              <a:effectLst/>
              <a:uFillTx/>
              <a:latin typeface="Arial"/>
            </a:endParaRPr>
          </a:p>
        </p:txBody>
      </p:sp>
      <p:sp>
        <p:nvSpPr>
          <p:cNvPr id="193" name="Shape 15"/>
          <p:cNvSpPr/>
          <p:nvPr/>
        </p:nvSpPr>
        <p:spPr>
          <a:xfrm>
            <a:off x="8458200" y="1746360"/>
            <a:ext cx="3474360" cy="2057040"/>
          </a:xfrm>
          <a:prstGeom prst="roundRect">
            <a:avLst>
              <a:gd name="adj" fmla="val 755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4" name="Text 16"/>
          <p:cNvSpPr/>
          <p:nvPr/>
        </p:nvSpPr>
        <p:spPr>
          <a:xfrm>
            <a:off x="8622720" y="2011680"/>
            <a:ext cx="31359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3700" b="1" u="none" strike="noStrike">
                <a:solidFill>
                  <a:srgbClr val="F0A04B"/>
                </a:solidFill>
                <a:effectLst/>
                <a:uFillTx/>
                <a:latin typeface="Aptos"/>
                <a:ea typeface="Aptos"/>
              </a:rPr>
              <a:t>31 + 12</a:t>
            </a:r>
            <a:endParaRPr lang="en-US" sz="3700" b="0" u="none" strike="noStrike">
              <a:solidFill>
                <a:srgbClr val="000000"/>
              </a:solidFill>
              <a:effectLst/>
              <a:uFillTx/>
              <a:latin typeface="Arial"/>
            </a:endParaRPr>
          </a:p>
        </p:txBody>
      </p:sp>
      <p:sp>
        <p:nvSpPr>
          <p:cNvPr id="195" name="Text 17"/>
          <p:cNvSpPr/>
          <p:nvPr/>
        </p:nvSpPr>
        <p:spPr>
          <a:xfrm>
            <a:off x="8622720" y="2679120"/>
            <a:ext cx="3135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spc="99">
                <a:solidFill>
                  <a:srgbClr val="14283F"/>
                </a:solidFill>
                <a:effectLst/>
                <a:uFillTx/>
                <a:latin typeface="Aptos"/>
                <a:ea typeface="Aptos"/>
              </a:rPr>
              <a:t>VARIABLES</a:t>
            </a:r>
            <a:endParaRPr lang="en-US" sz="1300" b="0" u="none" strike="noStrike">
              <a:solidFill>
                <a:srgbClr val="000000"/>
              </a:solidFill>
              <a:effectLst/>
              <a:uFillTx/>
              <a:latin typeface="Arial"/>
            </a:endParaRPr>
          </a:p>
        </p:txBody>
      </p:sp>
      <p:sp>
        <p:nvSpPr>
          <p:cNvPr id="196" name="Text 18"/>
          <p:cNvSpPr/>
          <p:nvPr/>
        </p:nvSpPr>
        <p:spPr>
          <a:xfrm>
            <a:off x="8622720" y="3017520"/>
            <a:ext cx="31359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31 changing states</a:t>
            </a:r>
            <a:endParaRPr lang="en-US" sz="1400" b="0" u="none" strike="noStrike">
              <a:solidFill>
                <a:srgbClr val="000000"/>
              </a:solidFill>
              <a:effectLst/>
              <a:uFillTx/>
              <a:latin typeface="Arial"/>
            </a:endParaRPr>
          </a:p>
          <a:p>
            <a:pPr algn="ctr" defTabSz="914400">
              <a:lnSpc>
                <a:spcPct val="100000"/>
              </a:lnSpc>
              <a:tabLst>
                <a:tab pos="0" algn="l"/>
              </a:tabLst>
            </a:pPr>
            <a:r>
              <a:rPr lang="en-US" sz="1400" b="0" u="none" strike="noStrike">
                <a:solidFill>
                  <a:srgbClr val="64778B"/>
                </a:solidFill>
                <a:effectLst/>
                <a:uFillTx/>
                <a:latin typeface="Aptos"/>
                <a:ea typeface="Aptos"/>
              </a:rPr>
              <a:t>12 fixed context</a:t>
            </a:r>
            <a:endParaRPr lang="en-US" sz="1400" b="0" u="none" strike="noStrike">
              <a:solidFill>
                <a:srgbClr val="000000"/>
              </a:solidFill>
              <a:effectLst/>
              <a:uFillTx/>
              <a:latin typeface="Arial"/>
            </a:endParaRPr>
          </a:p>
        </p:txBody>
      </p:sp>
      <p:sp>
        <p:nvSpPr>
          <p:cNvPr id="197" name="Shape 19"/>
          <p:cNvSpPr/>
          <p:nvPr/>
        </p:nvSpPr>
        <p:spPr>
          <a:xfrm>
            <a:off x="831960" y="4123800"/>
            <a:ext cx="10853640" cy="1307160"/>
          </a:xfrm>
          <a:prstGeom prst="roundRect">
            <a:avLst>
              <a:gd name="adj" fmla="val 11888"/>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8" name="Text 20"/>
          <p:cNvSpPr/>
          <p:nvPr/>
        </p:nvSpPr>
        <p:spPr>
          <a:xfrm>
            <a:off x="1051560" y="4370760"/>
            <a:ext cx="247752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70D8D0"/>
                </a:solidFill>
                <a:effectLst/>
                <a:uFillTx/>
                <a:latin typeface="Aptos"/>
                <a:ea typeface="Aptos"/>
              </a:rPr>
              <a:t>SIX TOOL DOMAINS</a:t>
            </a:r>
            <a:endParaRPr lang="en-US" sz="1600" b="0" u="none" strike="noStrike">
              <a:solidFill>
                <a:srgbClr val="000000"/>
              </a:solidFill>
              <a:effectLst/>
              <a:uFillTx/>
              <a:latin typeface="Arial"/>
            </a:endParaRPr>
          </a:p>
        </p:txBody>
      </p:sp>
      <p:sp>
        <p:nvSpPr>
          <p:cNvPr id="199" name="Text 21"/>
          <p:cNvSpPr/>
          <p:nvPr/>
        </p:nvSpPr>
        <p:spPr>
          <a:xfrm>
            <a:off x="1060560" y="4818960"/>
            <a:ext cx="1013112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0" u="none" strike="noStrike">
                <a:solidFill>
                  <a:srgbClr val="FFFFFF"/>
                </a:solidFill>
                <a:effectLst/>
                <a:uFillTx/>
                <a:latin typeface="Aptos"/>
                <a:ea typeface="Aptos"/>
              </a:rPr>
              <a:t>Vehicle   •   Navigation   •   Charging   •   Productivity   •   Weather   •   Cross-domain</a:t>
            </a:r>
            <a:endParaRPr lang="en-US" sz="17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00"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201"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METHODOLOGY</a:t>
            </a:r>
            <a:endParaRPr lang="en-US" sz="1100" b="0" u="none" strike="noStrike">
              <a:solidFill>
                <a:srgbClr val="000000"/>
              </a:solidFill>
              <a:effectLst/>
              <a:uFillTx/>
              <a:latin typeface="Arial"/>
            </a:endParaRPr>
          </a:p>
        </p:txBody>
      </p:sp>
      <p:sp>
        <p:nvSpPr>
          <p:cNvPr id="202"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Three task types test three different abilities</a:t>
            </a:r>
            <a:endParaRPr lang="en-US" sz="3000" b="0" u="none" strike="noStrike">
              <a:solidFill>
                <a:srgbClr val="000000"/>
              </a:solidFill>
              <a:effectLst/>
              <a:uFillTx/>
              <a:latin typeface="Arial"/>
            </a:endParaRPr>
          </a:p>
        </p:txBody>
      </p:sp>
      <p:sp>
        <p:nvSpPr>
          <p:cNvPr id="203"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04"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05"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Figure 2 and Section 3.2, p. 5</a:t>
            </a:r>
            <a:endParaRPr lang="en-US" sz="860" b="0" u="none" strike="noStrike">
              <a:solidFill>
                <a:srgbClr val="000000"/>
              </a:solidFill>
              <a:effectLst/>
              <a:uFillTx/>
              <a:latin typeface="Arial"/>
            </a:endParaRPr>
          </a:p>
        </p:txBody>
      </p:sp>
      <p:sp>
        <p:nvSpPr>
          <p:cNvPr id="206"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08</a:t>
            </a:r>
            <a:endParaRPr lang="en-US" sz="1000" b="0" u="none" strike="noStrike">
              <a:solidFill>
                <a:srgbClr val="000000"/>
              </a:solidFill>
              <a:effectLst/>
              <a:uFillTx/>
              <a:latin typeface="Arial"/>
            </a:endParaRPr>
          </a:p>
        </p:txBody>
      </p:sp>
      <p:sp>
        <p:nvSpPr>
          <p:cNvPr id="207" name="Shape 7"/>
          <p:cNvSpPr/>
          <p:nvPr/>
        </p:nvSpPr>
        <p:spPr>
          <a:xfrm>
            <a:off x="804600" y="1764720"/>
            <a:ext cx="3556800" cy="3474360"/>
          </a:xfrm>
          <a:prstGeom prst="roundRect">
            <a:avLst>
              <a:gd name="adj" fmla="val 4474"/>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8" name="Shape 8"/>
          <p:cNvSpPr/>
          <p:nvPr/>
        </p:nvSpPr>
        <p:spPr>
          <a:xfrm>
            <a:off x="951120" y="1920240"/>
            <a:ext cx="3254760" cy="456840"/>
          </a:xfrm>
          <a:prstGeom prst="roundRect">
            <a:avLst>
              <a:gd name="adj" fmla="val 34000"/>
            </a:avLst>
          </a:prstGeom>
          <a:solidFill>
            <a:srgbClr val="E9F0FC"/>
          </a:solidFill>
          <a:ln w="12700">
            <a:solidFill>
              <a:srgbClr val="E9F0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9" name="Text 9"/>
          <p:cNvSpPr/>
          <p:nvPr/>
        </p:nvSpPr>
        <p:spPr>
          <a:xfrm>
            <a:off x="1033200" y="2002680"/>
            <a:ext cx="30718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4779C9"/>
                </a:solidFill>
                <a:effectLst/>
                <a:uFillTx/>
                <a:latin typeface="Aptos"/>
                <a:ea typeface="Aptos"/>
              </a:rPr>
              <a:t>BASE</a:t>
            </a:r>
            <a:endParaRPr lang="en-US" sz="1700" b="0" u="none" strike="noStrike">
              <a:solidFill>
                <a:srgbClr val="000000"/>
              </a:solidFill>
              <a:effectLst/>
              <a:uFillTx/>
              <a:latin typeface="Arial"/>
            </a:endParaRPr>
          </a:p>
        </p:txBody>
      </p:sp>
      <p:sp>
        <p:nvSpPr>
          <p:cNvPr id="210" name="Text 10"/>
          <p:cNvSpPr/>
          <p:nvPr/>
        </p:nvSpPr>
        <p:spPr>
          <a:xfrm>
            <a:off x="1042560" y="2569320"/>
            <a:ext cx="3026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100" b="1" u="none" strike="noStrike">
                <a:solidFill>
                  <a:srgbClr val="14283F"/>
                </a:solidFill>
                <a:effectLst/>
                <a:uFillTx/>
                <a:latin typeface="Aptos"/>
                <a:ea typeface="Aptos"/>
              </a:rPr>
              <a:t>100 tasks</a:t>
            </a:r>
            <a:endParaRPr lang="en-US" sz="2100" b="0" u="none" strike="noStrike">
              <a:solidFill>
                <a:srgbClr val="000000"/>
              </a:solidFill>
              <a:effectLst/>
              <a:uFillTx/>
              <a:latin typeface="Arial"/>
            </a:endParaRPr>
          </a:p>
        </p:txBody>
      </p:sp>
      <p:sp>
        <p:nvSpPr>
          <p:cNvPr id="211" name="Text 11"/>
          <p:cNvSpPr/>
          <p:nvPr/>
        </p:nvSpPr>
        <p:spPr>
          <a:xfrm>
            <a:off x="1051560" y="3282840"/>
            <a:ext cx="302616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Normal, solvable request</a:t>
            </a:r>
            <a:endParaRPr lang="en-US" sz="1700" b="0" u="none" strike="noStrike">
              <a:solidFill>
                <a:srgbClr val="000000"/>
              </a:solidFill>
              <a:effectLst/>
              <a:uFillTx/>
              <a:latin typeface="Arial"/>
            </a:endParaRPr>
          </a:p>
        </p:txBody>
      </p:sp>
      <p:sp>
        <p:nvSpPr>
          <p:cNvPr id="212" name="Shape 12"/>
          <p:cNvSpPr/>
          <p:nvPr/>
        </p:nvSpPr>
        <p:spPr>
          <a:xfrm>
            <a:off x="1106280" y="4096440"/>
            <a:ext cx="2944440" cy="360"/>
          </a:xfrm>
          <a:prstGeom prst="line">
            <a:avLst/>
          </a:prstGeom>
          <a:ln w="1524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3" name="Text 13"/>
          <p:cNvSpPr/>
          <p:nvPr/>
        </p:nvSpPr>
        <p:spPr>
          <a:xfrm>
            <a:off x="1106280" y="4316040"/>
            <a:ext cx="10879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64778B"/>
                </a:solidFill>
                <a:effectLst/>
                <a:uFillTx/>
                <a:latin typeface="Aptos"/>
                <a:ea typeface="Aptos"/>
              </a:rPr>
              <a:t>Success:</a:t>
            </a:r>
            <a:endParaRPr lang="en-US" sz="1400" b="0" u="none" strike="noStrike">
              <a:solidFill>
                <a:srgbClr val="000000"/>
              </a:solidFill>
              <a:effectLst/>
              <a:uFillTx/>
              <a:latin typeface="Arial"/>
            </a:endParaRPr>
          </a:p>
        </p:txBody>
      </p:sp>
      <p:sp>
        <p:nvSpPr>
          <p:cNvPr id="214" name="Text 14"/>
          <p:cNvSpPr/>
          <p:nvPr/>
        </p:nvSpPr>
        <p:spPr>
          <a:xfrm>
            <a:off x="1106280" y="4672440"/>
            <a:ext cx="289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4779C9"/>
                </a:solidFill>
                <a:effectLst/>
                <a:uFillTx/>
                <a:latin typeface="Aptos"/>
                <a:ea typeface="Aptos"/>
              </a:rPr>
              <a:t>Reach correct state</a:t>
            </a:r>
            <a:endParaRPr lang="en-US" sz="1700" b="0" u="none" strike="noStrike">
              <a:solidFill>
                <a:srgbClr val="000000"/>
              </a:solidFill>
              <a:effectLst/>
              <a:uFillTx/>
              <a:latin typeface="Arial"/>
            </a:endParaRPr>
          </a:p>
        </p:txBody>
      </p:sp>
      <p:sp>
        <p:nvSpPr>
          <p:cNvPr id="215" name="Shape 15"/>
          <p:cNvSpPr/>
          <p:nvPr/>
        </p:nvSpPr>
        <p:spPr>
          <a:xfrm>
            <a:off x="4636080" y="1764720"/>
            <a:ext cx="3556800" cy="3474360"/>
          </a:xfrm>
          <a:prstGeom prst="roundRect">
            <a:avLst>
              <a:gd name="adj" fmla="val 4474"/>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6" name="Shape 16"/>
          <p:cNvSpPr/>
          <p:nvPr/>
        </p:nvSpPr>
        <p:spPr>
          <a:xfrm>
            <a:off x="4782240" y="1920240"/>
            <a:ext cx="3254760" cy="456840"/>
          </a:xfrm>
          <a:prstGeom prst="roundRect">
            <a:avLst>
              <a:gd name="adj" fmla="val 34000"/>
            </a:avLst>
          </a:prstGeom>
          <a:solidFill>
            <a:srgbClr val="FBEAED"/>
          </a:solidFill>
          <a:ln w="12700">
            <a:solidFill>
              <a:srgbClr val="FBEAE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7" name="Text 17"/>
          <p:cNvSpPr/>
          <p:nvPr/>
        </p:nvSpPr>
        <p:spPr>
          <a:xfrm>
            <a:off x="4864680" y="2002680"/>
            <a:ext cx="30718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D65F62"/>
                </a:solidFill>
                <a:effectLst/>
                <a:uFillTx/>
                <a:latin typeface="Aptos"/>
                <a:ea typeface="Aptos"/>
              </a:rPr>
              <a:t>HALLUCINATION</a:t>
            </a:r>
            <a:endParaRPr lang="en-US" sz="1700" b="0" u="none" strike="noStrike">
              <a:solidFill>
                <a:srgbClr val="000000"/>
              </a:solidFill>
              <a:effectLst/>
              <a:uFillTx/>
              <a:latin typeface="Arial"/>
            </a:endParaRPr>
          </a:p>
        </p:txBody>
      </p:sp>
      <p:sp>
        <p:nvSpPr>
          <p:cNvPr id="218" name="Text 18"/>
          <p:cNvSpPr/>
          <p:nvPr/>
        </p:nvSpPr>
        <p:spPr>
          <a:xfrm>
            <a:off x="4873680" y="2569320"/>
            <a:ext cx="3026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100" b="1" u="none" strike="noStrike">
                <a:solidFill>
                  <a:srgbClr val="14283F"/>
                </a:solidFill>
                <a:effectLst/>
                <a:uFillTx/>
                <a:latin typeface="Aptos"/>
                <a:ea typeface="Aptos"/>
              </a:rPr>
              <a:t>90 tasks</a:t>
            </a:r>
            <a:endParaRPr lang="en-US" sz="2100" b="0" u="none" strike="noStrike">
              <a:solidFill>
                <a:srgbClr val="000000"/>
              </a:solidFill>
              <a:effectLst/>
              <a:uFillTx/>
              <a:latin typeface="Arial"/>
            </a:endParaRPr>
          </a:p>
        </p:txBody>
      </p:sp>
      <p:sp>
        <p:nvSpPr>
          <p:cNvPr id="219" name="Text 19"/>
          <p:cNvSpPr/>
          <p:nvPr/>
        </p:nvSpPr>
        <p:spPr>
          <a:xfrm>
            <a:off x="4883040" y="3282840"/>
            <a:ext cx="302616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Remove required tool / data</a:t>
            </a:r>
            <a:endParaRPr lang="en-US" sz="1700" b="0" u="none" strike="noStrike">
              <a:solidFill>
                <a:srgbClr val="000000"/>
              </a:solidFill>
              <a:effectLst/>
              <a:uFillTx/>
              <a:latin typeface="Arial"/>
            </a:endParaRPr>
          </a:p>
        </p:txBody>
      </p:sp>
      <p:sp>
        <p:nvSpPr>
          <p:cNvPr id="220" name="Shape 20"/>
          <p:cNvSpPr/>
          <p:nvPr/>
        </p:nvSpPr>
        <p:spPr>
          <a:xfrm>
            <a:off x="4937760" y="4096440"/>
            <a:ext cx="2944080" cy="360"/>
          </a:xfrm>
          <a:prstGeom prst="line">
            <a:avLst/>
          </a:prstGeom>
          <a:ln w="1524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21" name="Text 21"/>
          <p:cNvSpPr/>
          <p:nvPr/>
        </p:nvSpPr>
        <p:spPr>
          <a:xfrm>
            <a:off x="4937760" y="4316040"/>
            <a:ext cx="10879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64778B"/>
                </a:solidFill>
                <a:effectLst/>
                <a:uFillTx/>
                <a:latin typeface="Aptos"/>
                <a:ea typeface="Aptos"/>
              </a:rPr>
              <a:t>Success:</a:t>
            </a:r>
            <a:endParaRPr lang="en-US" sz="1400" b="0" u="none" strike="noStrike">
              <a:solidFill>
                <a:srgbClr val="000000"/>
              </a:solidFill>
              <a:effectLst/>
              <a:uFillTx/>
              <a:latin typeface="Arial"/>
            </a:endParaRPr>
          </a:p>
        </p:txBody>
      </p:sp>
      <p:sp>
        <p:nvSpPr>
          <p:cNvPr id="222" name="Text 22"/>
          <p:cNvSpPr/>
          <p:nvPr/>
        </p:nvSpPr>
        <p:spPr>
          <a:xfrm>
            <a:off x="4937760" y="4672440"/>
            <a:ext cx="289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D65F62"/>
                </a:solidFill>
                <a:effectLst/>
                <a:uFillTx/>
                <a:latin typeface="Aptos"/>
                <a:ea typeface="Aptos"/>
              </a:rPr>
              <a:t>Admit the limitation</a:t>
            </a:r>
            <a:endParaRPr lang="en-US" sz="1700" b="0" u="none" strike="noStrike">
              <a:solidFill>
                <a:srgbClr val="000000"/>
              </a:solidFill>
              <a:effectLst/>
              <a:uFillTx/>
              <a:latin typeface="Arial"/>
            </a:endParaRPr>
          </a:p>
        </p:txBody>
      </p:sp>
      <p:sp>
        <p:nvSpPr>
          <p:cNvPr id="223" name="Shape 23"/>
          <p:cNvSpPr/>
          <p:nvPr/>
        </p:nvSpPr>
        <p:spPr>
          <a:xfrm>
            <a:off x="8467200" y="1764720"/>
            <a:ext cx="3556800" cy="3474360"/>
          </a:xfrm>
          <a:prstGeom prst="roundRect">
            <a:avLst>
              <a:gd name="adj" fmla="val 4474"/>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4" name="Shape 24"/>
          <p:cNvSpPr/>
          <p:nvPr/>
        </p:nvSpPr>
        <p:spPr>
          <a:xfrm>
            <a:off x="8613720" y="1920240"/>
            <a:ext cx="3254760" cy="456840"/>
          </a:xfrm>
          <a:prstGeom prst="roundRect">
            <a:avLst>
              <a:gd name="adj" fmla="val 34000"/>
            </a:avLst>
          </a:prstGeom>
          <a:solidFill>
            <a:srgbClr val="FFF2DF"/>
          </a:solidFill>
          <a:ln w="12700">
            <a:solidFill>
              <a:srgbClr val="FFF2D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5" name="Text 25"/>
          <p:cNvSpPr/>
          <p:nvPr/>
        </p:nvSpPr>
        <p:spPr>
          <a:xfrm>
            <a:off x="8695800" y="2002680"/>
            <a:ext cx="307188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F0A04B"/>
                </a:solidFill>
                <a:effectLst/>
                <a:uFillTx/>
                <a:latin typeface="Aptos"/>
                <a:ea typeface="Aptos"/>
              </a:rPr>
              <a:t>DISAMBIGUATION</a:t>
            </a:r>
            <a:endParaRPr lang="en-US" sz="1700" b="0" u="none" strike="noStrike">
              <a:solidFill>
                <a:srgbClr val="000000"/>
              </a:solidFill>
              <a:effectLst/>
              <a:uFillTx/>
              <a:latin typeface="Arial"/>
            </a:endParaRPr>
          </a:p>
        </p:txBody>
      </p:sp>
      <p:sp>
        <p:nvSpPr>
          <p:cNvPr id="226" name="Text 26"/>
          <p:cNvSpPr/>
          <p:nvPr/>
        </p:nvSpPr>
        <p:spPr>
          <a:xfrm>
            <a:off x="8705160" y="2569320"/>
            <a:ext cx="3026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100" b="1" u="none" strike="noStrike">
                <a:solidFill>
                  <a:srgbClr val="14283F"/>
                </a:solidFill>
                <a:effectLst/>
                <a:uFillTx/>
                <a:latin typeface="Aptos"/>
                <a:ea typeface="Aptos"/>
              </a:rPr>
              <a:t>50 tasks</a:t>
            </a:r>
            <a:endParaRPr lang="en-US" sz="2100" b="0" u="none" strike="noStrike">
              <a:solidFill>
                <a:srgbClr val="000000"/>
              </a:solidFill>
              <a:effectLst/>
              <a:uFillTx/>
              <a:latin typeface="Arial"/>
            </a:endParaRPr>
          </a:p>
        </p:txBody>
      </p:sp>
      <p:sp>
        <p:nvSpPr>
          <p:cNvPr id="227" name="Text 27"/>
          <p:cNvSpPr/>
          <p:nvPr/>
        </p:nvSpPr>
        <p:spPr>
          <a:xfrm>
            <a:off x="8714160" y="3282840"/>
            <a:ext cx="302616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64778B"/>
                </a:solidFill>
                <a:effectLst/>
                <a:uFillTx/>
                <a:latin typeface="Aptos"/>
                <a:ea typeface="Aptos"/>
              </a:rPr>
              <a:t>Make the request unclear</a:t>
            </a:r>
            <a:endParaRPr lang="en-US" sz="1700" b="0" u="none" strike="noStrike">
              <a:solidFill>
                <a:srgbClr val="000000"/>
              </a:solidFill>
              <a:effectLst/>
              <a:uFillTx/>
              <a:latin typeface="Arial"/>
            </a:endParaRPr>
          </a:p>
        </p:txBody>
      </p:sp>
      <p:sp>
        <p:nvSpPr>
          <p:cNvPr id="228" name="Shape 28"/>
          <p:cNvSpPr/>
          <p:nvPr/>
        </p:nvSpPr>
        <p:spPr>
          <a:xfrm>
            <a:off x="8768880" y="4096440"/>
            <a:ext cx="2944440" cy="360"/>
          </a:xfrm>
          <a:prstGeom prst="line">
            <a:avLst/>
          </a:prstGeom>
          <a:ln w="1524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29" name="Text 29"/>
          <p:cNvSpPr/>
          <p:nvPr/>
        </p:nvSpPr>
        <p:spPr>
          <a:xfrm>
            <a:off x="8769240" y="4316040"/>
            <a:ext cx="10879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64778B"/>
                </a:solidFill>
                <a:effectLst/>
                <a:uFillTx/>
                <a:latin typeface="Aptos"/>
                <a:ea typeface="Aptos"/>
              </a:rPr>
              <a:t>Success:</a:t>
            </a:r>
            <a:endParaRPr lang="en-US" sz="1400" b="0" u="none" strike="noStrike">
              <a:solidFill>
                <a:srgbClr val="000000"/>
              </a:solidFill>
              <a:effectLst/>
              <a:uFillTx/>
              <a:latin typeface="Arial"/>
            </a:endParaRPr>
          </a:p>
        </p:txBody>
      </p:sp>
      <p:sp>
        <p:nvSpPr>
          <p:cNvPr id="230" name="Text 30"/>
          <p:cNvSpPr/>
          <p:nvPr/>
        </p:nvSpPr>
        <p:spPr>
          <a:xfrm>
            <a:off x="8769240" y="4672440"/>
            <a:ext cx="2898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F0A04B"/>
                </a:solidFill>
                <a:effectLst/>
                <a:uFillTx/>
                <a:latin typeface="Aptos"/>
                <a:ea typeface="Aptos"/>
              </a:rPr>
              <a:t>Resolve before action</a:t>
            </a:r>
            <a:endParaRPr lang="en-US" sz="1700" b="0" u="none" strike="noStrike">
              <a:solidFill>
                <a:srgbClr val="000000"/>
              </a:solidFill>
              <a:effectLst/>
              <a:uFillTx/>
              <a:latin typeface="Arial"/>
            </a:endParaRPr>
          </a:p>
        </p:txBody>
      </p:sp>
      <p:sp>
        <p:nvSpPr>
          <p:cNvPr id="231" name="Shape 31"/>
          <p:cNvSpPr/>
          <p:nvPr/>
        </p:nvSpPr>
        <p:spPr>
          <a:xfrm>
            <a:off x="713160" y="5943600"/>
            <a:ext cx="10762200" cy="411120"/>
          </a:xfrm>
          <a:prstGeom prst="roundRect">
            <a:avLst>
              <a:gd name="adj" fmla="val 26667"/>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2" name="Text 32"/>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Hallucination and Disambiguation are built by modifying Base tasks.</a:t>
            </a:r>
            <a:endParaRPr lang="en-US" sz="15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33"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234"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METHODOLOGY</a:t>
            </a:r>
            <a:endParaRPr lang="en-US" sz="1100" b="0" u="none" strike="noStrike">
              <a:solidFill>
                <a:srgbClr val="000000"/>
              </a:solidFill>
              <a:effectLst/>
              <a:uFillTx/>
              <a:latin typeface="Arial"/>
            </a:endParaRPr>
          </a:p>
        </p:txBody>
      </p:sp>
      <p:sp>
        <p:nvSpPr>
          <p:cNvPr id="235"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Hallucination tests: remove what the agent needs</a:t>
            </a:r>
            <a:endParaRPr lang="en-US" sz="3000" b="0" u="none" strike="noStrike">
              <a:solidFill>
                <a:srgbClr val="000000"/>
              </a:solidFill>
              <a:effectLst/>
              <a:uFillTx/>
              <a:latin typeface="Arial"/>
            </a:endParaRPr>
          </a:p>
        </p:txBody>
      </p:sp>
      <p:sp>
        <p:nvSpPr>
          <p:cNvPr id="236"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7"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8"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Figure 2, p. 5; Appendix C.5, pp. 19–20</a:t>
            </a:r>
            <a:endParaRPr lang="en-US" sz="860" b="0" u="none" strike="noStrike">
              <a:solidFill>
                <a:srgbClr val="000000"/>
              </a:solidFill>
              <a:effectLst/>
              <a:uFillTx/>
              <a:latin typeface="Arial"/>
            </a:endParaRPr>
          </a:p>
        </p:txBody>
      </p:sp>
      <p:sp>
        <p:nvSpPr>
          <p:cNvPr id="239"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09</a:t>
            </a:r>
            <a:endParaRPr lang="en-US" sz="1000" b="0" u="none" strike="noStrike">
              <a:solidFill>
                <a:srgbClr val="000000"/>
              </a:solidFill>
              <a:effectLst/>
              <a:uFillTx/>
              <a:latin typeface="Arial"/>
            </a:endParaRPr>
          </a:p>
        </p:txBody>
      </p:sp>
      <p:sp>
        <p:nvSpPr>
          <p:cNvPr id="240" name="Shape 7"/>
          <p:cNvSpPr/>
          <p:nvPr/>
        </p:nvSpPr>
        <p:spPr>
          <a:xfrm>
            <a:off x="795600" y="1901880"/>
            <a:ext cx="3538440" cy="2239920"/>
          </a:xfrm>
          <a:prstGeom prst="roundRect">
            <a:avLst>
              <a:gd name="adj" fmla="val 6939"/>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1" name="Shape 8"/>
          <p:cNvSpPr/>
          <p:nvPr/>
        </p:nvSpPr>
        <p:spPr>
          <a:xfrm>
            <a:off x="978480" y="2148840"/>
            <a:ext cx="493560" cy="49356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2" name="Text 9"/>
          <p:cNvSpPr/>
          <p:nvPr/>
        </p:nvSpPr>
        <p:spPr>
          <a:xfrm>
            <a:off x="996840" y="2267640"/>
            <a:ext cx="456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1</a:t>
            </a:r>
            <a:endParaRPr lang="en-US" sz="1400" b="0" u="none" strike="noStrike">
              <a:solidFill>
                <a:srgbClr val="000000"/>
              </a:solidFill>
              <a:effectLst/>
              <a:uFillTx/>
              <a:latin typeface="Arial"/>
            </a:endParaRPr>
          </a:p>
        </p:txBody>
      </p:sp>
      <p:sp>
        <p:nvSpPr>
          <p:cNvPr id="243" name="Text 10"/>
          <p:cNvSpPr/>
          <p:nvPr/>
        </p:nvSpPr>
        <p:spPr>
          <a:xfrm>
            <a:off x="978480" y="2843640"/>
            <a:ext cx="31910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14283F"/>
                </a:solidFill>
                <a:effectLst/>
                <a:uFillTx/>
                <a:latin typeface="Aptos"/>
                <a:ea typeface="Aptos"/>
              </a:rPr>
              <a:t>REMOVE TOOL</a:t>
            </a:r>
            <a:endParaRPr lang="en-US" sz="1800" b="0" u="none" strike="noStrike">
              <a:solidFill>
                <a:srgbClr val="000000"/>
              </a:solidFill>
              <a:effectLst/>
              <a:uFillTx/>
              <a:latin typeface="Arial"/>
            </a:endParaRPr>
          </a:p>
        </p:txBody>
      </p:sp>
      <p:sp>
        <p:nvSpPr>
          <p:cNvPr id="244" name="Text 11"/>
          <p:cNvSpPr/>
          <p:nvPr/>
        </p:nvSpPr>
        <p:spPr>
          <a:xfrm>
            <a:off x="978480" y="3337560"/>
            <a:ext cx="31359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get_routes() is missing</a:t>
            </a:r>
            <a:endParaRPr lang="en-US" sz="1600" b="0" u="none" strike="noStrike">
              <a:solidFill>
                <a:srgbClr val="000000"/>
              </a:solidFill>
              <a:effectLst/>
              <a:uFillTx/>
              <a:latin typeface="Arial"/>
            </a:endParaRPr>
          </a:p>
        </p:txBody>
      </p:sp>
      <p:sp>
        <p:nvSpPr>
          <p:cNvPr id="245" name="Shape 12"/>
          <p:cNvSpPr/>
          <p:nvPr/>
        </p:nvSpPr>
        <p:spPr>
          <a:xfrm>
            <a:off x="4617720" y="1901880"/>
            <a:ext cx="3538440" cy="2239920"/>
          </a:xfrm>
          <a:prstGeom prst="roundRect">
            <a:avLst>
              <a:gd name="adj" fmla="val 6939"/>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6" name="Shape 13"/>
          <p:cNvSpPr/>
          <p:nvPr/>
        </p:nvSpPr>
        <p:spPr>
          <a:xfrm>
            <a:off x="4800600" y="2148840"/>
            <a:ext cx="493560" cy="49356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7" name="Text 14"/>
          <p:cNvSpPr/>
          <p:nvPr/>
        </p:nvSpPr>
        <p:spPr>
          <a:xfrm>
            <a:off x="4818960" y="2267640"/>
            <a:ext cx="456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2</a:t>
            </a:r>
            <a:endParaRPr lang="en-US" sz="1400" b="0" u="none" strike="noStrike">
              <a:solidFill>
                <a:srgbClr val="000000"/>
              </a:solidFill>
              <a:effectLst/>
              <a:uFillTx/>
              <a:latin typeface="Arial"/>
            </a:endParaRPr>
          </a:p>
        </p:txBody>
      </p:sp>
      <p:sp>
        <p:nvSpPr>
          <p:cNvPr id="248" name="Text 15"/>
          <p:cNvSpPr/>
          <p:nvPr/>
        </p:nvSpPr>
        <p:spPr>
          <a:xfrm>
            <a:off x="4800600" y="2843640"/>
            <a:ext cx="31910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14283F"/>
                </a:solidFill>
                <a:effectLst/>
                <a:uFillTx/>
                <a:latin typeface="Aptos"/>
                <a:ea typeface="Aptos"/>
              </a:rPr>
              <a:t>REMOVE PARAMETER</a:t>
            </a:r>
            <a:endParaRPr lang="en-US" sz="1800" b="0" u="none" strike="noStrike">
              <a:solidFill>
                <a:srgbClr val="000000"/>
              </a:solidFill>
              <a:effectLst/>
              <a:uFillTx/>
              <a:latin typeface="Arial"/>
            </a:endParaRPr>
          </a:p>
        </p:txBody>
      </p:sp>
      <p:sp>
        <p:nvSpPr>
          <p:cNvPr id="249" name="Text 16"/>
          <p:cNvSpPr/>
          <p:nvPr/>
        </p:nvSpPr>
        <p:spPr>
          <a:xfrm>
            <a:off x="4800600" y="3337560"/>
            <a:ext cx="31359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destination_id is missing</a:t>
            </a:r>
            <a:endParaRPr lang="en-US" sz="1600" b="0" u="none" strike="noStrike">
              <a:solidFill>
                <a:srgbClr val="000000"/>
              </a:solidFill>
              <a:effectLst/>
              <a:uFillTx/>
              <a:latin typeface="Arial"/>
            </a:endParaRPr>
          </a:p>
        </p:txBody>
      </p:sp>
      <p:sp>
        <p:nvSpPr>
          <p:cNvPr id="250" name="Shape 17"/>
          <p:cNvSpPr/>
          <p:nvPr/>
        </p:nvSpPr>
        <p:spPr>
          <a:xfrm>
            <a:off x="8439840" y="1901880"/>
            <a:ext cx="3538440" cy="2239920"/>
          </a:xfrm>
          <a:prstGeom prst="roundRect">
            <a:avLst>
              <a:gd name="adj" fmla="val 6939"/>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1" name="Shape 18"/>
          <p:cNvSpPr/>
          <p:nvPr/>
        </p:nvSpPr>
        <p:spPr>
          <a:xfrm>
            <a:off x="8622720" y="2148840"/>
            <a:ext cx="493560" cy="49356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2" name="Text 19"/>
          <p:cNvSpPr/>
          <p:nvPr/>
        </p:nvSpPr>
        <p:spPr>
          <a:xfrm>
            <a:off x="8641080" y="2267640"/>
            <a:ext cx="456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3</a:t>
            </a:r>
            <a:endParaRPr lang="en-US" sz="1400" b="0" u="none" strike="noStrike">
              <a:solidFill>
                <a:srgbClr val="000000"/>
              </a:solidFill>
              <a:effectLst/>
              <a:uFillTx/>
              <a:latin typeface="Arial"/>
            </a:endParaRPr>
          </a:p>
        </p:txBody>
      </p:sp>
      <p:sp>
        <p:nvSpPr>
          <p:cNvPr id="253" name="Text 20"/>
          <p:cNvSpPr/>
          <p:nvPr/>
        </p:nvSpPr>
        <p:spPr>
          <a:xfrm>
            <a:off x="8622720" y="2843640"/>
            <a:ext cx="31910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14283F"/>
                </a:solidFill>
                <a:effectLst/>
                <a:uFillTx/>
                <a:latin typeface="Aptos"/>
                <a:ea typeface="Aptos"/>
              </a:rPr>
              <a:t>REMOVE TOOL RESULT</a:t>
            </a:r>
            <a:endParaRPr lang="en-US" sz="1800" b="0" u="none" strike="noStrike">
              <a:solidFill>
                <a:srgbClr val="000000"/>
              </a:solidFill>
              <a:effectLst/>
              <a:uFillTx/>
              <a:latin typeface="Arial"/>
            </a:endParaRPr>
          </a:p>
        </p:txBody>
      </p:sp>
      <p:sp>
        <p:nvSpPr>
          <p:cNvPr id="254" name="Text 21"/>
          <p:cNvSpPr/>
          <p:nvPr/>
        </p:nvSpPr>
        <p:spPr>
          <a:xfrm>
            <a:off x="8622720" y="3337560"/>
            <a:ext cx="31359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available_routes = unknown</a:t>
            </a:r>
            <a:endParaRPr lang="en-US" sz="1600" b="0" u="none" strike="noStrike">
              <a:solidFill>
                <a:srgbClr val="000000"/>
              </a:solidFill>
              <a:effectLst/>
              <a:uFillTx/>
              <a:latin typeface="Arial"/>
            </a:endParaRPr>
          </a:p>
        </p:txBody>
      </p:sp>
      <p:sp>
        <p:nvSpPr>
          <p:cNvPr id="255" name="Shape 22"/>
          <p:cNvSpPr/>
          <p:nvPr/>
        </p:nvSpPr>
        <p:spPr>
          <a:xfrm>
            <a:off x="822960" y="4645080"/>
            <a:ext cx="5129280" cy="978120"/>
          </a:xfrm>
          <a:prstGeom prst="roundRect">
            <a:avLst>
              <a:gd name="adj" fmla="val 15888"/>
            </a:avLst>
          </a:prstGeom>
          <a:solidFill>
            <a:srgbClr val="E7F6EF"/>
          </a:solidFill>
          <a:ln w="12700">
            <a:solidFill>
              <a:srgbClr val="E7F6E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6" name="Text 23"/>
          <p:cNvSpPr/>
          <p:nvPr/>
        </p:nvSpPr>
        <p:spPr>
          <a:xfrm>
            <a:off x="1024200" y="4928760"/>
            <a:ext cx="474552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228C6D"/>
                </a:solidFill>
                <a:effectLst/>
                <a:uFillTx/>
                <a:latin typeface="Aptos"/>
                <a:ea typeface="Aptos"/>
              </a:rPr>
              <a:t>✓  Good: “I cannot check that right now.”</a:t>
            </a:r>
            <a:endParaRPr lang="en-US" sz="1800" b="0" u="none" strike="noStrike">
              <a:solidFill>
                <a:srgbClr val="000000"/>
              </a:solidFill>
              <a:effectLst/>
              <a:uFillTx/>
              <a:latin typeface="Arial"/>
            </a:endParaRPr>
          </a:p>
        </p:txBody>
      </p:sp>
      <p:sp>
        <p:nvSpPr>
          <p:cNvPr id="257" name="Shape 24"/>
          <p:cNvSpPr/>
          <p:nvPr/>
        </p:nvSpPr>
        <p:spPr>
          <a:xfrm>
            <a:off x="6199560" y="4645080"/>
            <a:ext cx="5147640" cy="978120"/>
          </a:xfrm>
          <a:prstGeom prst="roundRect">
            <a:avLst>
              <a:gd name="adj" fmla="val 15888"/>
            </a:avLst>
          </a:prstGeom>
          <a:solidFill>
            <a:srgbClr val="FBEAED"/>
          </a:solidFill>
          <a:ln w="12700">
            <a:solidFill>
              <a:srgbClr val="FBEAE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8" name="Text 25"/>
          <p:cNvSpPr/>
          <p:nvPr/>
        </p:nvSpPr>
        <p:spPr>
          <a:xfrm>
            <a:off x="6419160" y="4928760"/>
            <a:ext cx="475452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1" u="none" strike="noStrike">
                <a:solidFill>
                  <a:srgbClr val="D65F62"/>
                </a:solidFill>
                <a:effectLst/>
                <a:uFillTx/>
                <a:latin typeface="Aptos"/>
                <a:ea typeface="Aptos"/>
              </a:rPr>
              <a:t>✗  Bad: “Done!” without evidence</a:t>
            </a:r>
            <a:endParaRPr lang="en-US" sz="18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59"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260"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METHODOLOGY</a:t>
            </a:r>
            <a:endParaRPr lang="en-US" sz="1100" b="0" u="none" strike="noStrike">
              <a:solidFill>
                <a:srgbClr val="000000"/>
              </a:solidFill>
              <a:effectLst/>
              <a:uFillTx/>
              <a:latin typeface="Arial"/>
            </a:endParaRPr>
          </a:p>
        </p:txBody>
      </p:sp>
      <p:sp>
        <p:nvSpPr>
          <p:cNvPr id="261"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Disambiguation: check first, ask only if needed</a:t>
            </a:r>
            <a:endParaRPr lang="en-US" sz="3000" b="0" u="none" strike="noStrike">
              <a:solidFill>
                <a:srgbClr val="000000"/>
              </a:solidFill>
              <a:effectLst/>
              <a:uFillTx/>
              <a:latin typeface="Arial"/>
            </a:endParaRPr>
          </a:p>
        </p:txBody>
      </p:sp>
      <p:sp>
        <p:nvSpPr>
          <p:cNvPr id="262"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3"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64"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 3.2 and Appendix A.1, pp. 5, 14–15</a:t>
            </a:r>
            <a:endParaRPr lang="en-US" sz="860" b="0" u="none" strike="noStrike">
              <a:solidFill>
                <a:srgbClr val="000000"/>
              </a:solidFill>
              <a:effectLst/>
              <a:uFillTx/>
              <a:latin typeface="Arial"/>
            </a:endParaRPr>
          </a:p>
        </p:txBody>
      </p:sp>
      <p:sp>
        <p:nvSpPr>
          <p:cNvPr id="265"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10</a:t>
            </a:r>
            <a:endParaRPr lang="en-US" sz="1000" b="0" u="none" strike="noStrike">
              <a:solidFill>
                <a:srgbClr val="000000"/>
              </a:solidFill>
              <a:effectLst/>
              <a:uFillTx/>
              <a:latin typeface="Arial"/>
            </a:endParaRPr>
          </a:p>
        </p:txBody>
      </p:sp>
      <p:sp>
        <p:nvSpPr>
          <p:cNvPr id="266" name="Shape 7"/>
          <p:cNvSpPr/>
          <p:nvPr/>
        </p:nvSpPr>
        <p:spPr>
          <a:xfrm>
            <a:off x="749880" y="2002680"/>
            <a:ext cx="2157480" cy="2066040"/>
          </a:xfrm>
          <a:prstGeom prst="roundRect">
            <a:avLst>
              <a:gd name="adj" fmla="val 7522"/>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7" name="Text 8"/>
          <p:cNvSpPr/>
          <p:nvPr/>
        </p:nvSpPr>
        <p:spPr>
          <a:xfrm>
            <a:off x="914400" y="2277000"/>
            <a:ext cx="1828440" cy="61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1" u="none" strike="noStrike">
                <a:solidFill>
                  <a:srgbClr val="14283F"/>
                </a:solidFill>
                <a:effectLst/>
                <a:uFillTx/>
                <a:latin typeface="Aptos"/>
                <a:ea typeface="Aptos"/>
              </a:rPr>
              <a:t>Unclear request</a:t>
            </a:r>
            <a:endParaRPr lang="en-US" sz="1900" b="0" u="none" strike="noStrike">
              <a:solidFill>
                <a:srgbClr val="000000"/>
              </a:solidFill>
              <a:effectLst/>
              <a:uFillTx/>
              <a:latin typeface="Arial"/>
            </a:endParaRPr>
          </a:p>
        </p:txBody>
      </p:sp>
      <p:sp>
        <p:nvSpPr>
          <p:cNvPr id="268" name="Text 9"/>
          <p:cNvSpPr/>
          <p:nvPr/>
        </p:nvSpPr>
        <p:spPr>
          <a:xfrm>
            <a:off x="859680" y="3035880"/>
            <a:ext cx="1938240" cy="70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0" u="none" strike="noStrike">
                <a:solidFill>
                  <a:srgbClr val="64778B"/>
                </a:solidFill>
                <a:effectLst/>
                <a:uFillTx/>
                <a:latin typeface="Aptos"/>
                <a:ea typeface="Aptos"/>
              </a:rPr>
              <a:t>“Go to Paris”</a:t>
            </a:r>
            <a:endParaRPr lang="en-US" sz="1500" b="0" u="none" strike="noStrike">
              <a:solidFill>
                <a:srgbClr val="000000"/>
              </a:solidFill>
              <a:effectLst/>
              <a:uFillTx/>
              <a:latin typeface="Arial"/>
            </a:endParaRPr>
          </a:p>
        </p:txBody>
      </p:sp>
      <p:sp>
        <p:nvSpPr>
          <p:cNvPr id="269" name="Shape 10"/>
          <p:cNvSpPr/>
          <p:nvPr/>
        </p:nvSpPr>
        <p:spPr>
          <a:xfrm>
            <a:off x="2980800" y="3053880"/>
            <a:ext cx="155520" cy="360"/>
          </a:xfrm>
          <a:prstGeom prst="line">
            <a:avLst/>
          </a:prstGeom>
          <a:ln w="3175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70" name="Shape 11"/>
          <p:cNvSpPr/>
          <p:nvPr/>
        </p:nvSpPr>
        <p:spPr>
          <a:xfrm>
            <a:off x="3227760" y="2002680"/>
            <a:ext cx="2834280" cy="2066040"/>
          </a:xfrm>
          <a:prstGeom prst="roundRect">
            <a:avLst>
              <a:gd name="adj" fmla="val 7522"/>
            </a:avLst>
          </a:prstGeom>
          <a:solidFill>
            <a:srgbClr val="E9F0FC"/>
          </a:solidFill>
          <a:ln w="12700">
            <a:solidFill>
              <a:srgbClr val="E9F0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1" name="Text 12"/>
          <p:cNvSpPr/>
          <p:nvPr/>
        </p:nvSpPr>
        <p:spPr>
          <a:xfrm>
            <a:off x="3392280" y="2277000"/>
            <a:ext cx="2505240" cy="61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1" u="none" strike="noStrike">
                <a:solidFill>
                  <a:srgbClr val="14283F"/>
                </a:solidFill>
                <a:effectLst/>
                <a:uFillTx/>
                <a:latin typeface="Aptos"/>
                <a:ea typeface="Aptos"/>
              </a:rPr>
              <a:t>Check internal info</a:t>
            </a:r>
            <a:endParaRPr lang="en-US" sz="1900" b="0" u="none" strike="noStrike">
              <a:solidFill>
                <a:srgbClr val="000000"/>
              </a:solidFill>
              <a:effectLst/>
              <a:uFillTx/>
              <a:latin typeface="Arial"/>
            </a:endParaRPr>
          </a:p>
        </p:txBody>
      </p:sp>
      <p:sp>
        <p:nvSpPr>
          <p:cNvPr id="272" name="Text 13"/>
          <p:cNvSpPr/>
          <p:nvPr/>
        </p:nvSpPr>
        <p:spPr>
          <a:xfrm>
            <a:off x="3337560" y="3035880"/>
            <a:ext cx="2614680" cy="70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0" u="none" strike="noStrike">
                <a:solidFill>
                  <a:srgbClr val="64778B"/>
                </a:solidFill>
                <a:effectLst/>
                <a:uFillTx/>
                <a:latin typeface="Aptos"/>
                <a:ea typeface="Aptos"/>
              </a:rPr>
              <a:t>Policy + preferences</a:t>
            </a:r>
            <a:endParaRPr lang="en-US" sz="1500" b="0" u="none" strike="noStrike">
              <a:solidFill>
                <a:srgbClr val="000000"/>
              </a:solidFill>
              <a:effectLst/>
              <a:uFillTx/>
              <a:latin typeface="Arial"/>
            </a:endParaRPr>
          </a:p>
          <a:p>
            <a:pPr algn="ctr" defTabSz="914400">
              <a:lnSpc>
                <a:spcPct val="100000"/>
              </a:lnSpc>
              <a:tabLst>
                <a:tab pos="0" algn="l"/>
              </a:tabLst>
            </a:pPr>
            <a:r>
              <a:rPr lang="en-US" sz="1500" b="0" u="none" strike="noStrike">
                <a:solidFill>
                  <a:srgbClr val="64778B"/>
                </a:solidFill>
                <a:effectLst/>
                <a:uFillTx/>
                <a:latin typeface="Aptos"/>
                <a:ea typeface="Aptos"/>
              </a:rPr>
              <a:t>context + current state</a:t>
            </a:r>
            <a:endParaRPr lang="en-US" sz="1500" b="0" u="none" strike="noStrike">
              <a:solidFill>
                <a:srgbClr val="000000"/>
              </a:solidFill>
              <a:effectLst/>
              <a:uFillTx/>
              <a:latin typeface="Arial"/>
            </a:endParaRPr>
          </a:p>
        </p:txBody>
      </p:sp>
      <p:sp>
        <p:nvSpPr>
          <p:cNvPr id="273" name="Shape 14"/>
          <p:cNvSpPr/>
          <p:nvPr/>
        </p:nvSpPr>
        <p:spPr>
          <a:xfrm>
            <a:off x="6135480" y="3053880"/>
            <a:ext cx="210240" cy="360"/>
          </a:xfrm>
          <a:prstGeom prst="line">
            <a:avLst/>
          </a:prstGeom>
          <a:ln w="3175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74" name="Shape 15"/>
          <p:cNvSpPr/>
          <p:nvPr/>
        </p:nvSpPr>
        <p:spPr>
          <a:xfrm>
            <a:off x="6437520" y="2002680"/>
            <a:ext cx="2304000" cy="2066040"/>
          </a:xfrm>
          <a:prstGeom prst="roundRect">
            <a:avLst>
              <a:gd name="adj" fmla="val 7522"/>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5" name="Text 16"/>
          <p:cNvSpPr/>
          <p:nvPr/>
        </p:nvSpPr>
        <p:spPr>
          <a:xfrm>
            <a:off x="6602040" y="2277000"/>
            <a:ext cx="1974600" cy="61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1" u="none" strike="noStrike">
                <a:solidFill>
                  <a:srgbClr val="14283F"/>
                </a:solidFill>
                <a:effectLst/>
                <a:uFillTx/>
                <a:latin typeface="Aptos"/>
                <a:ea typeface="Aptos"/>
              </a:rPr>
              <a:t>One valid choice?</a:t>
            </a:r>
            <a:endParaRPr lang="en-US" sz="1900" b="0" u="none" strike="noStrike">
              <a:solidFill>
                <a:srgbClr val="000000"/>
              </a:solidFill>
              <a:effectLst/>
              <a:uFillTx/>
              <a:latin typeface="Arial"/>
            </a:endParaRPr>
          </a:p>
        </p:txBody>
      </p:sp>
      <p:sp>
        <p:nvSpPr>
          <p:cNvPr id="276" name="Text 17"/>
          <p:cNvSpPr/>
          <p:nvPr/>
        </p:nvSpPr>
        <p:spPr>
          <a:xfrm>
            <a:off x="6546960" y="3035880"/>
            <a:ext cx="2084400" cy="70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0" u="none" strike="noStrike">
                <a:solidFill>
                  <a:srgbClr val="64778B"/>
                </a:solidFill>
                <a:effectLst/>
                <a:uFillTx/>
                <a:latin typeface="Aptos"/>
                <a:ea typeface="Aptos"/>
              </a:rPr>
              <a:t>Yes → choose it</a:t>
            </a:r>
            <a:endParaRPr lang="en-US" sz="1500" b="0" u="none" strike="noStrike">
              <a:solidFill>
                <a:srgbClr val="000000"/>
              </a:solidFill>
              <a:effectLst/>
              <a:uFillTx/>
              <a:latin typeface="Arial"/>
            </a:endParaRPr>
          </a:p>
        </p:txBody>
      </p:sp>
      <p:sp>
        <p:nvSpPr>
          <p:cNvPr id="277" name="Shape 18"/>
          <p:cNvSpPr/>
          <p:nvPr/>
        </p:nvSpPr>
        <p:spPr>
          <a:xfrm>
            <a:off x="8814600" y="3053880"/>
            <a:ext cx="192240" cy="360"/>
          </a:xfrm>
          <a:prstGeom prst="line">
            <a:avLst/>
          </a:prstGeom>
          <a:ln w="3175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78" name="Shape 19"/>
          <p:cNvSpPr/>
          <p:nvPr/>
        </p:nvSpPr>
        <p:spPr>
          <a:xfrm>
            <a:off x="9098280" y="2002680"/>
            <a:ext cx="2230920" cy="2066040"/>
          </a:xfrm>
          <a:prstGeom prst="roundRect">
            <a:avLst>
              <a:gd name="adj" fmla="val 7522"/>
            </a:avLst>
          </a:prstGeom>
          <a:solidFill>
            <a:srgbClr val="FFF2DF"/>
          </a:solidFill>
          <a:ln w="12700">
            <a:solidFill>
              <a:srgbClr val="FFF2D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9" name="Text 20"/>
          <p:cNvSpPr/>
          <p:nvPr/>
        </p:nvSpPr>
        <p:spPr>
          <a:xfrm>
            <a:off x="9262800" y="2277000"/>
            <a:ext cx="1901520" cy="61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1" u="none" strike="noStrike">
                <a:solidFill>
                  <a:srgbClr val="14283F"/>
                </a:solidFill>
                <a:effectLst/>
                <a:uFillTx/>
                <a:latin typeface="Aptos"/>
                <a:ea typeface="Aptos"/>
              </a:rPr>
              <a:t>Still unclear?</a:t>
            </a:r>
            <a:endParaRPr lang="en-US" sz="1900" b="0" u="none" strike="noStrike">
              <a:solidFill>
                <a:srgbClr val="000000"/>
              </a:solidFill>
              <a:effectLst/>
              <a:uFillTx/>
              <a:latin typeface="Arial"/>
            </a:endParaRPr>
          </a:p>
        </p:txBody>
      </p:sp>
      <p:sp>
        <p:nvSpPr>
          <p:cNvPr id="280" name="Text 21"/>
          <p:cNvSpPr/>
          <p:nvPr/>
        </p:nvSpPr>
        <p:spPr>
          <a:xfrm>
            <a:off x="9208080" y="3035880"/>
            <a:ext cx="2011320" cy="70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0" u="none" strike="noStrike">
                <a:solidFill>
                  <a:srgbClr val="64778B"/>
                </a:solidFill>
                <a:effectLst/>
                <a:uFillTx/>
                <a:latin typeface="Aptos"/>
                <a:ea typeface="Aptos"/>
              </a:rPr>
              <a:t>Ask the user</a:t>
            </a:r>
            <a:endParaRPr lang="en-US" sz="1500" b="0" u="none" strike="noStrike">
              <a:solidFill>
                <a:srgbClr val="000000"/>
              </a:solidFill>
              <a:effectLst/>
              <a:uFillTx/>
              <a:latin typeface="Arial"/>
            </a:endParaRPr>
          </a:p>
        </p:txBody>
      </p:sp>
      <p:sp>
        <p:nvSpPr>
          <p:cNvPr id="281" name="Shape 22"/>
          <p:cNvSpPr/>
          <p:nvPr/>
        </p:nvSpPr>
        <p:spPr>
          <a:xfrm>
            <a:off x="1874520" y="4736520"/>
            <a:ext cx="8448840" cy="804240"/>
          </a:xfrm>
          <a:prstGeom prst="roundRect">
            <a:avLst>
              <a:gd name="adj" fmla="val 19318"/>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2" name="Text 23"/>
          <p:cNvSpPr/>
          <p:nvPr/>
        </p:nvSpPr>
        <p:spPr>
          <a:xfrm>
            <a:off x="2103120" y="4983480"/>
            <a:ext cx="7991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2000" b="1" u="none" strike="noStrike">
                <a:solidFill>
                  <a:srgbClr val="D65F62"/>
                </a:solidFill>
                <a:effectLst/>
                <a:uFillTx/>
                <a:latin typeface="Aptos"/>
                <a:ea typeface="Aptos"/>
              </a:rPr>
              <a:t>Never guess when more than one valid option remains.</a:t>
            </a:r>
            <a:endParaRPr lang="en-US" sz="20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83"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284"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METHODOLOGY</a:t>
            </a:r>
            <a:endParaRPr lang="en-US" sz="1100" b="0" u="none" strike="noStrike">
              <a:solidFill>
                <a:srgbClr val="000000"/>
              </a:solidFill>
              <a:effectLst/>
              <a:uFillTx/>
              <a:latin typeface="Arial"/>
            </a:endParaRPr>
          </a:p>
        </p:txBody>
      </p:sp>
      <p:sp>
        <p:nvSpPr>
          <p:cNvPr id="285"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From tool graph to checked ground truth</a:t>
            </a:r>
            <a:endParaRPr lang="en-US" sz="3000" b="0" u="none" strike="noStrike">
              <a:solidFill>
                <a:srgbClr val="000000"/>
              </a:solidFill>
              <a:effectLst/>
              <a:uFillTx/>
              <a:latin typeface="Arial"/>
            </a:endParaRPr>
          </a:p>
        </p:txBody>
      </p:sp>
      <p:sp>
        <p:nvSpPr>
          <p:cNvPr id="286"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87"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88"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 3.5, p. 6</a:t>
            </a:r>
            <a:endParaRPr lang="en-US" sz="860" b="0" u="none" strike="noStrike">
              <a:solidFill>
                <a:srgbClr val="000000"/>
              </a:solidFill>
              <a:effectLst/>
              <a:uFillTx/>
              <a:latin typeface="Arial"/>
            </a:endParaRPr>
          </a:p>
        </p:txBody>
      </p:sp>
      <p:sp>
        <p:nvSpPr>
          <p:cNvPr id="289"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11</a:t>
            </a:r>
            <a:endParaRPr lang="en-US" sz="1000" b="0" u="none" strike="noStrike">
              <a:solidFill>
                <a:srgbClr val="000000"/>
              </a:solidFill>
              <a:effectLst/>
              <a:uFillTx/>
              <a:latin typeface="Arial"/>
            </a:endParaRPr>
          </a:p>
        </p:txBody>
      </p:sp>
      <p:sp>
        <p:nvSpPr>
          <p:cNvPr id="290" name="Shape 7"/>
          <p:cNvSpPr/>
          <p:nvPr/>
        </p:nvSpPr>
        <p:spPr>
          <a:xfrm>
            <a:off x="740520" y="2194560"/>
            <a:ext cx="2011320" cy="1846800"/>
          </a:xfrm>
          <a:prstGeom prst="roundRect">
            <a:avLst>
              <a:gd name="adj" fmla="val 841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1" name="Shape 8"/>
          <p:cNvSpPr/>
          <p:nvPr/>
        </p:nvSpPr>
        <p:spPr>
          <a:xfrm>
            <a:off x="1481400" y="2377440"/>
            <a:ext cx="502560" cy="50256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2" name="Text 9"/>
          <p:cNvSpPr/>
          <p:nvPr/>
        </p:nvSpPr>
        <p:spPr>
          <a:xfrm>
            <a:off x="1499760" y="2477880"/>
            <a:ext cx="465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Aptos"/>
                <a:ea typeface="Aptos"/>
              </a:rPr>
              <a:t>1</a:t>
            </a:r>
            <a:endParaRPr lang="en-US" sz="1400" b="0" u="none" strike="noStrike">
              <a:solidFill>
                <a:srgbClr val="000000"/>
              </a:solidFill>
              <a:effectLst/>
              <a:uFillTx/>
              <a:latin typeface="Arial"/>
            </a:endParaRPr>
          </a:p>
        </p:txBody>
      </p:sp>
      <p:sp>
        <p:nvSpPr>
          <p:cNvPr id="293" name="Text 10"/>
          <p:cNvSpPr/>
          <p:nvPr/>
        </p:nvSpPr>
        <p:spPr>
          <a:xfrm>
            <a:off x="859680" y="296280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800" b="1" u="none" strike="noStrike">
                <a:solidFill>
                  <a:srgbClr val="14283F"/>
                </a:solidFill>
                <a:effectLst/>
                <a:uFillTx/>
                <a:latin typeface="Aptos"/>
                <a:ea typeface="Aptos"/>
              </a:rPr>
              <a:t>API graph</a:t>
            </a:r>
            <a:endParaRPr lang="en-US" sz="1800" b="0" u="none" strike="noStrike">
              <a:solidFill>
                <a:srgbClr val="000000"/>
              </a:solidFill>
              <a:effectLst/>
              <a:uFillTx/>
              <a:latin typeface="Arial"/>
            </a:endParaRPr>
          </a:p>
        </p:txBody>
      </p:sp>
      <p:sp>
        <p:nvSpPr>
          <p:cNvPr id="294" name="Text 11"/>
          <p:cNvSpPr/>
          <p:nvPr/>
        </p:nvSpPr>
        <p:spPr>
          <a:xfrm>
            <a:off x="859680" y="344736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Link tools and data</a:t>
            </a:r>
            <a:endParaRPr lang="en-US" sz="1400" b="0" u="none" strike="noStrike">
              <a:solidFill>
                <a:srgbClr val="000000"/>
              </a:solidFill>
              <a:effectLst/>
              <a:uFillTx/>
              <a:latin typeface="Arial"/>
            </a:endParaRPr>
          </a:p>
        </p:txBody>
      </p:sp>
      <p:sp>
        <p:nvSpPr>
          <p:cNvPr id="295" name="Shape 12"/>
          <p:cNvSpPr/>
          <p:nvPr/>
        </p:nvSpPr>
        <p:spPr>
          <a:xfrm>
            <a:off x="2788920" y="3081240"/>
            <a:ext cx="200880" cy="360"/>
          </a:xfrm>
          <a:prstGeom prst="line">
            <a:avLst/>
          </a:prstGeom>
          <a:ln w="2286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96" name="Shape 13"/>
          <p:cNvSpPr/>
          <p:nvPr/>
        </p:nvSpPr>
        <p:spPr>
          <a:xfrm>
            <a:off x="3072240" y="2194560"/>
            <a:ext cx="2011320" cy="1846800"/>
          </a:xfrm>
          <a:prstGeom prst="roundRect">
            <a:avLst>
              <a:gd name="adj" fmla="val 841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7" name="Shape 14"/>
          <p:cNvSpPr/>
          <p:nvPr/>
        </p:nvSpPr>
        <p:spPr>
          <a:xfrm>
            <a:off x="3813120" y="2377440"/>
            <a:ext cx="502560" cy="50256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8" name="Text 15"/>
          <p:cNvSpPr/>
          <p:nvPr/>
        </p:nvSpPr>
        <p:spPr>
          <a:xfrm>
            <a:off x="3831480" y="2477880"/>
            <a:ext cx="465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Aptos"/>
                <a:ea typeface="Aptos"/>
              </a:rPr>
              <a:t>2</a:t>
            </a:r>
            <a:endParaRPr lang="en-US" sz="1400" b="0" u="none" strike="noStrike">
              <a:solidFill>
                <a:srgbClr val="000000"/>
              </a:solidFill>
              <a:effectLst/>
              <a:uFillTx/>
              <a:latin typeface="Arial"/>
            </a:endParaRPr>
          </a:p>
        </p:txBody>
      </p:sp>
      <p:sp>
        <p:nvSpPr>
          <p:cNvPr id="299" name="Text 16"/>
          <p:cNvSpPr/>
          <p:nvPr/>
        </p:nvSpPr>
        <p:spPr>
          <a:xfrm>
            <a:off x="3191400" y="296280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800" b="1" u="none" strike="noStrike">
                <a:solidFill>
                  <a:srgbClr val="14283F"/>
                </a:solidFill>
                <a:effectLst/>
                <a:uFillTx/>
                <a:latin typeface="Aptos"/>
                <a:ea typeface="Aptos"/>
              </a:rPr>
              <a:t>Sample path</a:t>
            </a:r>
            <a:endParaRPr lang="en-US" sz="1800" b="0" u="none" strike="noStrike">
              <a:solidFill>
                <a:srgbClr val="000000"/>
              </a:solidFill>
              <a:effectLst/>
              <a:uFillTx/>
              <a:latin typeface="Arial"/>
            </a:endParaRPr>
          </a:p>
        </p:txBody>
      </p:sp>
      <p:sp>
        <p:nvSpPr>
          <p:cNvPr id="300" name="Text 17"/>
          <p:cNvSpPr/>
          <p:nvPr/>
        </p:nvSpPr>
        <p:spPr>
          <a:xfrm>
            <a:off x="3191400" y="344736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Choose 1–9 actions</a:t>
            </a:r>
            <a:endParaRPr lang="en-US" sz="1400" b="0" u="none" strike="noStrike">
              <a:solidFill>
                <a:srgbClr val="000000"/>
              </a:solidFill>
              <a:effectLst/>
              <a:uFillTx/>
              <a:latin typeface="Arial"/>
            </a:endParaRPr>
          </a:p>
        </p:txBody>
      </p:sp>
      <p:sp>
        <p:nvSpPr>
          <p:cNvPr id="301" name="Shape 18"/>
          <p:cNvSpPr/>
          <p:nvPr/>
        </p:nvSpPr>
        <p:spPr>
          <a:xfrm>
            <a:off x="5120640" y="3081240"/>
            <a:ext cx="200880" cy="360"/>
          </a:xfrm>
          <a:prstGeom prst="line">
            <a:avLst/>
          </a:prstGeom>
          <a:ln w="2286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02" name="Shape 19"/>
          <p:cNvSpPr/>
          <p:nvPr/>
        </p:nvSpPr>
        <p:spPr>
          <a:xfrm>
            <a:off x="5403960" y="2194560"/>
            <a:ext cx="2011320" cy="1846800"/>
          </a:xfrm>
          <a:prstGeom prst="roundRect">
            <a:avLst>
              <a:gd name="adj" fmla="val 841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3" name="Shape 20"/>
          <p:cNvSpPr/>
          <p:nvPr/>
        </p:nvSpPr>
        <p:spPr>
          <a:xfrm>
            <a:off x="6144840" y="2377440"/>
            <a:ext cx="502560" cy="50256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4" name="Text 21"/>
          <p:cNvSpPr/>
          <p:nvPr/>
        </p:nvSpPr>
        <p:spPr>
          <a:xfrm>
            <a:off x="6163200" y="2477880"/>
            <a:ext cx="465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Aptos"/>
                <a:ea typeface="Aptos"/>
              </a:rPr>
              <a:t>3</a:t>
            </a:r>
            <a:endParaRPr lang="en-US" sz="1400" b="0" u="none" strike="noStrike">
              <a:solidFill>
                <a:srgbClr val="000000"/>
              </a:solidFill>
              <a:effectLst/>
              <a:uFillTx/>
              <a:latin typeface="Arial"/>
            </a:endParaRPr>
          </a:p>
        </p:txBody>
      </p:sp>
      <p:sp>
        <p:nvSpPr>
          <p:cNvPr id="305" name="Text 22"/>
          <p:cNvSpPr/>
          <p:nvPr/>
        </p:nvSpPr>
        <p:spPr>
          <a:xfrm>
            <a:off x="5523120" y="296280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800" b="1" u="none" strike="noStrike">
                <a:solidFill>
                  <a:srgbClr val="14283F"/>
                </a:solidFill>
                <a:effectLst/>
                <a:uFillTx/>
                <a:latin typeface="Aptos"/>
                <a:ea typeface="Aptos"/>
              </a:rPr>
              <a:t>Set initial world</a:t>
            </a:r>
            <a:endParaRPr lang="en-US" sz="1800" b="0" u="none" strike="noStrike">
              <a:solidFill>
                <a:srgbClr val="000000"/>
              </a:solidFill>
              <a:effectLst/>
              <a:uFillTx/>
              <a:latin typeface="Arial"/>
            </a:endParaRPr>
          </a:p>
        </p:txBody>
      </p:sp>
      <p:sp>
        <p:nvSpPr>
          <p:cNvPr id="306" name="Text 23"/>
          <p:cNvSpPr/>
          <p:nvPr/>
        </p:nvSpPr>
        <p:spPr>
          <a:xfrm>
            <a:off x="5523120" y="344736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States + context</a:t>
            </a:r>
            <a:endParaRPr lang="en-US" sz="1400" b="0" u="none" strike="noStrike">
              <a:solidFill>
                <a:srgbClr val="000000"/>
              </a:solidFill>
              <a:effectLst/>
              <a:uFillTx/>
              <a:latin typeface="Arial"/>
            </a:endParaRPr>
          </a:p>
        </p:txBody>
      </p:sp>
      <p:sp>
        <p:nvSpPr>
          <p:cNvPr id="307" name="Shape 24"/>
          <p:cNvSpPr/>
          <p:nvPr/>
        </p:nvSpPr>
        <p:spPr>
          <a:xfrm>
            <a:off x="7452360" y="3081240"/>
            <a:ext cx="200880" cy="360"/>
          </a:xfrm>
          <a:prstGeom prst="line">
            <a:avLst/>
          </a:prstGeom>
          <a:ln w="2286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08" name="Shape 25"/>
          <p:cNvSpPr/>
          <p:nvPr/>
        </p:nvSpPr>
        <p:spPr>
          <a:xfrm>
            <a:off x="7735680" y="2194560"/>
            <a:ext cx="2011320" cy="1846800"/>
          </a:xfrm>
          <a:prstGeom prst="roundRect">
            <a:avLst>
              <a:gd name="adj" fmla="val 841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9" name="Shape 26"/>
          <p:cNvSpPr/>
          <p:nvPr/>
        </p:nvSpPr>
        <p:spPr>
          <a:xfrm>
            <a:off x="8476560" y="2377440"/>
            <a:ext cx="502560" cy="50256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0" name="Text 27"/>
          <p:cNvSpPr/>
          <p:nvPr/>
        </p:nvSpPr>
        <p:spPr>
          <a:xfrm>
            <a:off x="8494920" y="2477880"/>
            <a:ext cx="465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Aptos"/>
                <a:ea typeface="Aptos"/>
              </a:rPr>
              <a:t>4</a:t>
            </a:r>
            <a:endParaRPr lang="en-US" sz="1400" b="0" u="none" strike="noStrike">
              <a:solidFill>
                <a:srgbClr val="000000"/>
              </a:solidFill>
              <a:effectLst/>
              <a:uFillTx/>
              <a:latin typeface="Arial"/>
            </a:endParaRPr>
          </a:p>
        </p:txBody>
      </p:sp>
      <p:sp>
        <p:nvSpPr>
          <p:cNvPr id="311" name="Text 28"/>
          <p:cNvSpPr/>
          <p:nvPr/>
        </p:nvSpPr>
        <p:spPr>
          <a:xfrm>
            <a:off x="7854840" y="296280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800" b="1" u="none" strike="noStrike">
                <a:solidFill>
                  <a:srgbClr val="14283F"/>
                </a:solidFill>
                <a:effectLst/>
                <a:uFillTx/>
                <a:latin typeface="Aptos"/>
                <a:ea typeface="Aptos"/>
              </a:rPr>
              <a:t>Write user task</a:t>
            </a:r>
            <a:endParaRPr lang="en-US" sz="1800" b="0" u="none" strike="noStrike">
              <a:solidFill>
                <a:srgbClr val="000000"/>
              </a:solidFill>
              <a:effectLst/>
              <a:uFillTx/>
              <a:latin typeface="Arial"/>
            </a:endParaRPr>
          </a:p>
        </p:txBody>
      </p:sp>
      <p:sp>
        <p:nvSpPr>
          <p:cNvPr id="312" name="Text 29"/>
          <p:cNvSpPr/>
          <p:nvPr/>
        </p:nvSpPr>
        <p:spPr>
          <a:xfrm>
            <a:off x="7854840" y="344736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LLM-assisted</a:t>
            </a:r>
            <a:endParaRPr lang="en-US" sz="1400" b="0" u="none" strike="noStrike">
              <a:solidFill>
                <a:srgbClr val="000000"/>
              </a:solidFill>
              <a:effectLst/>
              <a:uFillTx/>
              <a:latin typeface="Arial"/>
            </a:endParaRPr>
          </a:p>
        </p:txBody>
      </p:sp>
      <p:sp>
        <p:nvSpPr>
          <p:cNvPr id="313" name="Shape 30"/>
          <p:cNvSpPr/>
          <p:nvPr/>
        </p:nvSpPr>
        <p:spPr>
          <a:xfrm>
            <a:off x="9784080" y="3081240"/>
            <a:ext cx="200880" cy="360"/>
          </a:xfrm>
          <a:prstGeom prst="line">
            <a:avLst/>
          </a:prstGeom>
          <a:ln w="22860">
            <a:solidFill>
              <a:srgbClr val="119F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14" name="Shape 31"/>
          <p:cNvSpPr/>
          <p:nvPr/>
        </p:nvSpPr>
        <p:spPr>
          <a:xfrm>
            <a:off x="10067400" y="2194560"/>
            <a:ext cx="2011320" cy="1846800"/>
          </a:xfrm>
          <a:prstGeom prst="roundRect">
            <a:avLst>
              <a:gd name="adj" fmla="val 8416"/>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5" name="Shape 32"/>
          <p:cNvSpPr/>
          <p:nvPr/>
        </p:nvSpPr>
        <p:spPr>
          <a:xfrm>
            <a:off x="10808280" y="2377440"/>
            <a:ext cx="502560" cy="502560"/>
          </a:xfrm>
          <a:prstGeom prst="ellipse">
            <a:avLst/>
          </a:prstGeom>
          <a:solidFill>
            <a:srgbClr val="228C6D"/>
          </a:solidFill>
          <a:ln w="12700">
            <a:solidFill>
              <a:srgbClr val="228C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6" name="Text 33"/>
          <p:cNvSpPr/>
          <p:nvPr/>
        </p:nvSpPr>
        <p:spPr>
          <a:xfrm>
            <a:off x="10826640" y="2477880"/>
            <a:ext cx="465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Aptos"/>
                <a:ea typeface="Aptos"/>
              </a:rPr>
              <a:t>5</a:t>
            </a:r>
            <a:endParaRPr lang="en-US" sz="1400" b="0" u="none" strike="noStrike">
              <a:solidFill>
                <a:srgbClr val="000000"/>
              </a:solidFill>
              <a:effectLst/>
              <a:uFillTx/>
              <a:latin typeface="Arial"/>
            </a:endParaRPr>
          </a:p>
        </p:txBody>
      </p:sp>
      <p:sp>
        <p:nvSpPr>
          <p:cNvPr id="317" name="Text 34"/>
          <p:cNvSpPr/>
          <p:nvPr/>
        </p:nvSpPr>
        <p:spPr>
          <a:xfrm>
            <a:off x="10186560" y="296280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800" b="1" u="none" strike="noStrike">
                <a:solidFill>
                  <a:srgbClr val="14283F"/>
                </a:solidFill>
                <a:effectLst/>
                <a:uFillTx/>
                <a:latin typeface="Aptos"/>
                <a:ea typeface="Aptos"/>
              </a:rPr>
              <a:t>Manual check</a:t>
            </a:r>
            <a:endParaRPr lang="en-US" sz="1800" b="0" u="none" strike="noStrike">
              <a:solidFill>
                <a:srgbClr val="000000"/>
              </a:solidFill>
              <a:effectLst/>
              <a:uFillTx/>
              <a:latin typeface="Arial"/>
            </a:endParaRPr>
          </a:p>
        </p:txBody>
      </p:sp>
      <p:sp>
        <p:nvSpPr>
          <p:cNvPr id="318" name="Text 35"/>
          <p:cNvSpPr/>
          <p:nvPr/>
        </p:nvSpPr>
        <p:spPr>
          <a:xfrm>
            <a:off x="10186560" y="3447360"/>
            <a:ext cx="17737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Fix unclear cases</a:t>
            </a:r>
            <a:endParaRPr lang="en-US" sz="1400" b="0" u="none" strike="noStrike">
              <a:solidFill>
                <a:srgbClr val="000000"/>
              </a:solidFill>
              <a:effectLst/>
              <a:uFillTx/>
              <a:latin typeface="Arial"/>
            </a:endParaRPr>
          </a:p>
        </p:txBody>
      </p:sp>
      <p:sp>
        <p:nvSpPr>
          <p:cNvPr id="319" name="Shape 36"/>
          <p:cNvSpPr/>
          <p:nvPr/>
        </p:nvSpPr>
        <p:spPr>
          <a:xfrm>
            <a:off x="713160" y="5943600"/>
            <a:ext cx="10762200" cy="411120"/>
          </a:xfrm>
          <a:prstGeom prst="roundRect">
            <a:avLst>
              <a:gd name="adj" fmla="val 26667"/>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0" name="Text 37"/>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A task is not accepted until its wording, actions and final state are checked.</a:t>
            </a:r>
            <a:endParaRPr lang="en-US" sz="15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21"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322"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EVALUATION</a:t>
            </a:r>
            <a:endParaRPr lang="en-US" sz="1100" b="0" u="none" strike="noStrike">
              <a:solidFill>
                <a:srgbClr val="000000"/>
              </a:solidFill>
              <a:effectLst/>
              <a:uFillTx/>
              <a:latin typeface="Arial"/>
            </a:endParaRPr>
          </a:p>
        </p:txBody>
      </p:sp>
      <p:sp>
        <p:nvSpPr>
          <p:cNvPr id="323"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For Base tasks, ALL checks must pass</a:t>
            </a:r>
            <a:endParaRPr lang="en-US" sz="3000" b="0" u="none" strike="noStrike">
              <a:solidFill>
                <a:srgbClr val="000000"/>
              </a:solidFill>
              <a:effectLst/>
              <a:uFillTx/>
              <a:latin typeface="Arial"/>
            </a:endParaRPr>
          </a:p>
        </p:txBody>
      </p:sp>
      <p:sp>
        <p:nvSpPr>
          <p:cNvPr id="324"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25"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26"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 3.3, pp. 5–6</a:t>
            </a:r>
            <a:endParaRPr lang="en-US" sz="860" b="0" u="none" strike="noStrike">
              <a:solidFill>
                <a:srgbClr val="000000"/>
              </a:solidFill>
              <a:effectLst/>
              <a:uFillTx/>
              <a:latin typeface="Arial"/>
            </a:endParaRPr>
          </a:p>
        </p:txBody>
      </p:sp>
      <p:sp>
        <p:nvSpPr>
          <p:cNvPr id="327"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12</a:t>
            </a:r>
            <a:endParaRPr lang="en-US" sz="1000" b="0" u="none" strike="noStrike">
              <a:solidFill>
                <a:srgbClr val="000000"/>
              </a:solidFill>
              <a:effectLst/>
              <a:uFillTx/>
              <a:latin typeface="Arial"/>
            </a:endParaRPr>
          </a:p>
        </p:txBody>
      </p:sp>
      <p:sp>
        <p:nvSpPr>
          <p:cNvPr id="328" name="Shape 7"/>
          <p:cNvSpPr/>
          <p:nvPr/>
        </p:nvSpPr>
        <p:spPr>
          <a:xfrm>
            <a:off x="768240" y="1755720"/>
            <a:ext cx="3556800" cy="1225080"/>
          </a:xfrm>
          <a:prstGeom prst="roundRect">
            <a:avLst>
              <a:gd name="adj" fmla="val 12687"/>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9" name="Shape 8"/>
          <p:cNvSpPr/>
          <p:nvPr/>
        </p:nvSpPr>
        <p:spPr>
          <a:xfrm>
            <a:off x="941760" y="2075760"/>
            <a:ext cx="429480" cy="4294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0" name="Text 9"/>
          <p:cNvSpPr/>
          <p:nvPr/>
        </p:nvSpPr>
        <p:spPr>
          <a:xfrm>
            <a:off x="960120" y="2148840"/>
            <a:ext cx="4021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a:t>
            </a:r>
            <a:endParaRPr lang="en-US" sz="1400" b="0" u="none" strike="noStrike">
              <a:solidFill>
                <a:srgbClr val="000000"/>
              </a:solidFill>
              <a:effectLst/>
              <a:uFillTx/>
              <a:latin typeface="Arial"/>
            </a:endParaRPr>
          </a:p>
        </p:txBody>
      </p:sp>
      <p:sp>
        <p:nvSpPr>
          <p:cNvPr id="331" name="Text 10"/>
          <p:cNvSpPr/>
          <p:nvPr/>
        </p:nvSpPr>
        <p:spPr>
          <a:xfrm>
            <a:off x="1481400" y="1929240"/>
            <a:ext cx="26604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Final state</a:t>
            </a:r>
            <a:endParaRPr lang="en-US" sz="1700" b="0" u="none" strike="noStrike">
              <a:solidFill>
                <a:srgbClr val="000000"/>
              </a:solidFill>
              <a:effectLst/>
              <a:uFillTx/>
              <a:latin typeface="Arial"/>
            </a:endParaRPr>
          </a:p>
        </p:txBody>
      </p:sp>
      <p:sp>
        <p:nvSpPr>
          <p:cNvPr id="332" name="Text 11"/>
          <p:cNvSpPr/>
          <p:nvPr/>
        </p:nvSpPr>
        <p:spPr>
          <a:xfrm>
            <a:off x="1481400" y="2395800"/>
            <a:ext cx="2669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Right end result</a:t>
            </a:r>
            <a:endParaRPr lang="en-US" sz="1300" b="0" u="none" strike="noStrike">
              <a:solidFill>
                <a:srgbClr val="000000"/>
              </a:solidFill>
              <a:effectLst/>
              <a:uFillTx/>
              <a:latin typeface="Arial"/>
            </a:endParaRPr>
          </a:p>
        </p:txBody>
      </p:sp>
      <p:sp>
        <p:nvSpPr>
          <p:cNvPr id="333" name="Shape 12"/>
          <p:cNvSpPr/>
          <p:nvPr/>
        </p:nvSpPr>
        <p:spPr>
          <a:xfrm>
            <a:off x="4617720" y="1755720"/>
            <a:ext cx="3556800" cy="1225080"/>
          </a:xfrm>
          <a:prstGeom prst="roundRect">
            <a:avLst>
              <a:gd name="adj" fmla="val 12687"/>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4" name="Shape 13"/>
          <p:cNvSpPr/>
          <p:nvPr/>
        </p:nvSpPr>
        <p:spPr>
          <a:xfrm>
            <a:off x="4791600" y="2075760"/>
            <a:ext cx="429480" cy="4294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5" name="Text 14"/>
          <p:cNvSpPr/>
          <p:nvPr/>
        </p:nvSpPr>
        <p:spPr>
          <a:xfrm>
            <a:off x="4809600" y="2148840"/>
            <a:ext cx="4021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a:t>
            </a:r>
            <a:endParaRPr lang="en-US" sz="1400" b="0" u="none" strike="noStrike">
              <a:solidFill>
                <a:srgbClr val="000000"/>
              </a:solidFill>
              <a:effectLst/>
              <a:uFillTx/>
              <a:latin typeface="Arial"/>
            </a:endParaRPr>
          </a:p>
        </p:txBody>
      </p:sp>
      <p:sp>
        <p:nvSpPr>
          <p:cNvPr id="336" name="Text 15"/>
          <p:cNvSpPr/>
          <p:nvPr/>
        </p:nvSpPr>
        <p:spPr>
          <a:xfrm>
            <a:off x="5330880" y="1929240"/>
            <a:ext cx="26604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Intermediate states</a:t>
            </a:r>
            <a:endParaRPr lang="en-US" sz="1700" b="0" u="none" strike="noStrike">
              <a:solidFill>
                <a:srgbClr val="000000"/>
              </a:solidFill>
              <a:effectLst/>
              <a:uFillTx/>
              <a:latin typeface="Arial"/>
            </a:endParaRPr>
          </a:p>
        </p:txBody>
      </p:sp>
      <p:sp>
        <p:nvSpPr>
          <p:cNvPr id="337" name="Text 16"/>
          <p:cNvSpPr/>
          <p:nvPr/>
        </p:nvSpPr>
        <p:spPr>
          <a:xfrm>
            <a:off x="5330880" y="2395800"/>
            <a:ext cx="2669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No wrong action on the way</a:t>
            </a:r>
            <a:endParaRPr lang="en-US" sz="1300" b="0" u="none" strike="noStrike">
              <a:solidFill>
                <a:srgbClr val="000000"/>
              </a:solidFill>
              <a:effectLst/>
              <a:uFillTx/>
              <a:latin typeface="Arial"/>
            </a:endParaRPr>
          </a:p>
        </p:txBody>
      </p:sp>
      <p:sp>
        <p:nvSpPr>
          <p:cNvPr id="338" name="Shape 17"/>
          <p:cNvSpPr/>
          <p:nvPr/>
        </p:nvSpPr>
        <p:spPr>
          <a:xfrm>
            <a:off x="8467200" y="1755720"/>
            <a:ext cx="3556800" cy="1225080"/>
          </a:xfrm>
          <a:prstGeom prst="roundRect">
            <a:avLst>
              <a:gd name="adj" fmla="val 12687"/>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9" name="Shape 18"/>
          <p:cNvSpPr/>
          <p:nvPr/>
        </p:nvSpPr>
        <p:spPr>
          <a:xfrm>
            <a:off x="8641080" y="2075760"/>
            <a:ext cx="429480" cy="4294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0" name="Text 19"/>
          <p:cNvSpPr/>
          <p:nvPr/>
        </p:nvSpPr>
        <p:spPr>
          <a:xfrm>
            <a:off x="8659440" y="2148840"/>
            <a:ext cx="4021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a:t>
            </a:r>
            <a:endParaRPr lang="en-US" sz="1400" b="0" u="none" strike="noStrike">
              <a:solidFill>
                <a:srgbClr val="000000"/>
              </a:solidFill>
              <a:effectLst/>
              <a:uFillTx/>
              <a:latin typeface="Arial"/>
            </a:endParaRPr>
          </a:p>
        </p:txBody>
      </p:sp>
      <p:sp>
        <p:nvSpPr>
          <p:cNvPr id="341" name="Text 20"/>
          <p:cNvSpPr/>
          <p:nvPr/>
        </p:nvSpPr>
        <p:spPr>
          <a:xfrm>
            <a:off x="9180720" y="1929240"/>
            <a:ext cx="26604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Required GET tools</a:t>
            </a:r>
            <a:endParaRPr lang="en-US" sz="1700" b="0" u="none" strike="noStrike">
              <a:solidFill>
                <a:srgbClr val="000000"/>
              </a:solidFill>
              <a:effectLst/>
              <a:uFillTx/>
              <a:latin typeface="Arial"/>
            </a:endParaRPr>
          </a:p>
        </p:txBody>
      </p:sp>
      <p:sp>
        <p:nvSpPr>
          <p:cNvPr id="342" name="Text 21"/>
          <p:cNvSpPr/>
          <p:nvPr/>
        </p:nvSpPr>
        <p:spPr>
          <a:xfrm>
            <a:off x="9180720" y="2395800"/>
            <a:ext cx="2669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Key information was queried</a:t>
            </a:r>
            <a:endParaRPr lang="en-US" sz="1300" b="0" u="none" strike="noStrike">
              <a:solidFill>
                <a:srgbClr val="000000"/>
              </a:solidFill>
              <a:effectLst/>
              <a:uFillTx/>
              <a:latin typeface="Arial"/>
            </a:endParaRPr>
          </a:p>
        </p:txBody>
      </p:sp>
      <p:sp>
        <p:nvSpPr>
          <p:cNvPr id="343" name="Shape 22"/>
          <p:cNvSpPr/>
          <p:nvPr/>
        </p:nvSpPr>
        <p:spPr>
          <a:xfrm>
            <a:off x="768240" y="3218760"/>
            <a:ext cx="3556800" cy="1225080"/>
          </a:xfrm>
          <a:prstGeom prst="roundRect">
            <a:avLst>
              <a:gd name="adj" fmla="val 12687"/>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4" name="Shape 23"/>
          <p:cNvSpPr/>
          <p:nvPr/>
        </p:nvSpPr>
        <p:spPr>
          <a:xfrm>
            <a:off x="941760" y="3538800"/>
            <a:ext cx="429480" cy="4294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5" name="Text 24"/>
          <p:cNvSpPr/>
          <p:nvPr/>
        </p:nvSpPr>
        <p:spPr>
          <a:xfrm>
            <a:off x="960120" y="3611880"/>
            <a:ext cx="4021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a:t>
            </a:r>
            <a:endParaRPr lang="en-US" sz="1400" b="0" u="none" strike="noStrike">
              <a:solidFill>
                <a:srgbClr val="000000"/>
              </a:solidFill>
              <a:effectLst/>
              <a:uFillTx/>
              <a:latin typeface="Arial"/>
            </a:endParaRPr>
          </a:p>
        </p:txBody>
      </p:sp>
      <p:sp>
        <p:nvSpPr>
          <p:cNvPr id="346" name="Text 25"/>
          <p:cNvSpPr/>
          <p:nvPr/>
        </p:nvSpPr>
        <p:spPr>
          <a:xfrm>
            <a:off x="1481400" y="3392280"/>
            <a:ext cx="26604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Tool execution</a:t>
            </a:r>
            <a:endParaRPr lang="en-US" sz="1700" b="0" u="none" strike="noStrike">
              <a:solidFill>
                <a:srgbClr val="000000"/>
              </a:solidFill>
              <a:effectLst/>
              <a:uFillTx/>
              <a:latin typeface="Arial"/>
            </a:endParaRPr>
          </a:p>
        </p:txBody>
      </p:sp>
      <p:sp>
        <p:nvSpPr>
          <p:cNvPr id="347" name="Text 26"/>
          <p:cNvSpPr/>
          <p:nvPr/>
        </p:nvSpPr>
        <p:spPr>
          <a:xfrm>
            <a:off x="1481400" y="3858840"/>
            <a:ext cx="2669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Calls and parameters worked</a:t>
            </a:r>
            <a:endParaRPr lang="en-US" sz="1300" b="0" u="none" strike="noStrike">
              <a:solidFill>
                <a:srgbClr val="000000"/>
              </a:solidFill>
              <a:effectLst/>
              <a:uFillTx/>
              <a:latin typeface="Arial"/>
            </a:endParaRPr>
          </a:p>
        </p:txBody>
      </p:sp>
      <p:sp>
        <p:nvSpPr>
          <p:cNvPr id="348" name="Shape 27"/>
          <p:cNvSpPr/>
          <p:nvPr/>
        </p:nvSpPr>
        <p:spPr>
          <a:xfrm>
            <a:off x="4617720" y="3218760"/>
            <a:ext cx="3556800" cy="1225080"/>
          </a:xfrm>
          <a:prstGeom prst="roundRect">
            <a:avLst>
              <a:gd name="adj" fmla="val 12687"/>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9" name="Shape 28"/>
          <p:cNvSpPr/>
          <p:nvPr/>
        </p:nvSpPr>
        <p:spPr>
          <a:xfrm>
            <a:off x="4791600" y="3538800"/>
            <a:ext cx="429480" cy="4294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0" name="Text 29"/>
          <p:cNvSpPr/>
          <p:nvPr/>
        </p:nvSpPr>
        <p:spPr>
          <a:xfrm>
            <a:off x="4809600" y="3611880"/>
            <a:ext cx="4021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a:t>
            </a:r>
            <a:endParaRPr lang="en-US" sz="1400" b="0" u="none" strike="noStrike">
              <a:solidFill>
                <a:srgbClr val="000000"/>
              </a:solidFill>
              <a:effectLst/>
              <a:uFillTx/>
              <a:latin typeface="Arial"/>
            </a:endParaRPr>
          </a:p>
        </p:txBody>
      </p:sp>
      <p:sp>
        <p:nvSpPr>
          <p:cNvPr id="351" name="Text 30"/>
          <p:cNvSpPr/>
          <p:nvPr/>
        </p:nvSpPr>
        <p:spPr>
          <a:xfrm>
            <a:off x="5330880" y="3392280"/>
            <a:ext cx="26604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Policy checks</a:t>
            </a:r>
            <a:endParaRPr lang="en-US" sz="1700" b="0" u="none" strike="noStrike">
              <a:solidFill>
                <a:srgbClr val="000000"/>
              </a:solidFill>
              <a:effectLst/>
              <a:uFillTx/>
              <a:latin typeface="Arial"/>
            </a:endParaRPr>
          </a:p>
        </p:txBody>
      </p:sp>
      <p:sp>
        <p:nvSpPr>
          <p:cNvPr id="352" name="Text 31"/>
          <p:cNvSpPr/>
          <p:nvPr/>
        </p:nvSpPr>
        <p:spPr>
          <a:xfrm>
            <a:off x="5330880" y="3858840"/>
            <a:ext cx="2669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Rules were followed</a:t>
            </a:r>
            <a:endParaRPr lang="en-US" sz="1300" b="0" u="none" strike="noStrike">
              <a:solidFill>
                <a:srgbClr val="000000"/>
              </a:solidFill>
              <a:effectLst/>
              <a:uFillTx/>
              <a:latin typeface="Arial"/>
            </a:endParaRPr>
          </a:p>
        </p:txBody>
      </p:sp>
      <p:sp>
        <p:nvSpPr>
          <p:cNvPr id="353" name="Shape 32"/>
          <p:cNvSpPr/>
          <p:nvPr/>
        </p:nvSpPr>
        <p:spPr>
          <a:xfrm>
            <a:off x="8467200" y="3218760"/>
            <a:ext cx="3556800" cy="1225080"/>
          </a:xfrm>
          <a:prstGeom prst="roundRect">
            <a:avLst>
              <a:gd name="adj" fmla="val 12687"/>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4" name="Shape 33"/>
          <p:cNvSpPr/>
          <p:nvPr/>
        </p:nvSpPr>
        <p:spPr>
          <a:xfrm>
            <a:off x="8641080" y="3538800"/>
            <a:ext cx="429480" cy="4294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5" name="Text 34"/>
          <p:cNvSpPr/>
          <p:nvPr/>
        </p:nvSpPr>
        <p:spPr>
          <a:xfrm>
            <a:off x="8659440" y="3611880"/>
            <a:ext cx="4021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400" b="1" u="none" strike="noStrike">
                <a:solidFill>
                  <a:srgbClr val="FFFFFF"/>
                </a:solidFill>
                <a:effectLst/>
                <a:uFillTx/>
                <a:latin typeface="Aptos"/>
                <a:ea typeface="Aptos"/>
              </a:rPr>
              <a:t>✓</a:t>
            </a:r>
            <a:endParaRPr lang="en-US" sz="1400" b="0" u="none" strike="noStrike">
              <a:solidFill>
                <a:srgbClr val="000000"/>
              </a:solidFill>
              <a:effectLst/>
              <a:uFillTx/>
              <a:latin typeface="Arial"/>
            </a:endParaRPr>
          </a:p>
        </p:txBody>
      </p:sp>
      <p:sp>
        <p:nvSpPr>
          <p:cNvPr id="356" name="Text 35"/>
          <p:cNvSpPr/>
          <p:nvPr/>
        </p:nvSpPr>
        <p:spPr>
          <a:xfrm>
            <a:off x="9180720" y="3392280"/>
            <a:ext cx="26604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Conversation end</a:t>
            </a:r>
            <a:endParaRPr lang="en-US" sz="1700" b="0" u="none" strike="noStrike">
              <a:solidFill>
                <a:srgbClr val="000000"/>
              </a:solidFill>
              <a:effectLst/>
              <a:uFillTx/>
              <a:latin typeface="Arial"/>
            </a:endParaRPr>
          </a:p>
        </p:txBody>
      </p:sp>
      <p:sp>
        <p:nvSpPr>
          <p:cNvPr id="357" name="Text 36"/>
          <p:cNvSpPr/>
          <p:nvPr/>
        </p:nvSpPr>
        <p:spPr>
          <a:xfrm>
            <a:off x="9180720" y="3858840"/>
            <a:ext cx="2669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64778B"/>
                </a:solidFill>
                <a:effectLst/>
                <a:uFillTx/>
                <a:latin typeface="Aptos"/>
                <a:ea typeface="Aptos"/>
              </a:rPr>
              <a:t>No out-of-scope error</a:t>
            </a:r>
            <a:endParaRPr lang="en-US" sz="1300" b="0" u="none" strike="noStrike">
              <a:solidFill>
                <a:srgbClr val="000000"/>
              </a:solidFill>
              <a:effectLst/>
              <a:uFillTx/>
              <a:latin typeface="Arial"/>
            </a:endParaRPr>
          </a:p>
        </p:txBody>
      </p:sp>
      <p:sp>
        <p:nvSpPr>
          <p:cNvPr id="358" name="Shape 37"/>
          <p:cNvSpPr/>
          <p:nvPr/>
        </p:nvSpPr>
        <p:spPr>
          <a:xfrm>
            <a:off x="2231280" y="5175360"/>
            <a:ext cx="7698960" cy="667080"/>
          </a:xfrm>
          <a:prstGeom prst="roundRect">
            <a:avLst>
              <a:gd name="adj" fmla="val 23288"/>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9" name="Text 38"/>
          <p:cNvSpPr/>
          <p:nvPr/>
        </p:nvSpPr>
        <p:spPr>
          <a:xfrm>
            <a:off x="2523600" y="5349240"/>
            <a:ext cx="7131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2200" b="1" u="none" strike="noStrike">
                <a:solidFill>
                  <a:srgbClr val="FFFFFF"/>
                </a:solidFill>
                <a:effectLst/>
                <a:uFillTx/>
                <a:latin typeface="Aptos"/>
                <a:ea typeface="Aptos"/>
              </a:rPr>
              <a:t>One failed check  →  the whole task fails</a:t>
            </a:r>
            <a:endParaRPr lang="en-US" sz="22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60"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361"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EVALUATION</a:t>
            </a:r>
            <a:endParaRPr lang="en-US" sz="1100" b="0" u="none" strike="noStrike">
              <a:solidFill>
                <a:srgbClr val="000000"/>
              </a:solidFill>
              <a:effectLst/>
              <a:uFillTx/>
              <a:latin typeface="Arial"/>
            </a:endParaRPr>
          </a:p>
        </p:txBody>
      </p:sp>
      <p:sp>
        <p:nvSpPr>
          <p:cNvPr id="362"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Success once is NOT the same as reliable success</a:t>
            </a:r>
            <a:endParaRPr lang="en-US" sz="3000" b="0" u="none" strike="noStrike">
              <a:solidFill>
                <a:srgbClr val="000000"/>
              </a:solidFill>
              <a:effectLst/>
              <a:uFillTx/>
              <a:latin typeface="Arial"/>
            </a:endParaRPr>
          </a:p>
        </p:txBody>
      </p:sp>
      <p:sp>
        <p:nvSpPr>
          <p:cNvPr id="363"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64"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65"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 3.4, p. 6</a:t>
            </a:r>
            <a:endParaRPr lang="en-US" sz="860" b="0" u="none" strike="noStrike">
              <a:solidFill>
                <a:srgbClr val="000000"/>
              </a:solidFill>
              <a:effectLst/>
              <a:uFillTx/>
              <a:latin typeface="Arial"/>
            </a:endParaRPr>
          </a:p>
        </p:txBody>
      </p:sp>
      <p:sp>
        <p:nvSpPr>
          <p:cNvPr id="366"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13</a:t>
            </a:r>
            <a:endParaRPr lang="en-US" sz="1000" b="0" u="none" strike="noStrike">
              <a:solidFill>
                <a:srgbClr val="000000"/>
              </a:solidFill>
              <a:effectLst/>
              <a:uFillTx/>
              <a:latin typeface="Arial"/>
            </a:endParaRPr>
          </a:p>
        </p:txBody>
      </p:sp>
      <p:sp>
        <p:nvSpPr>
          <p:cNvPr id="367" name="Shape 7"/>
          <p:cNvSpPr/>
          <p:nvPr/>
        </p:nvSpPr>
        <p:spPr>
          <a:xfrm>
            <a:off x="822960" y="1847160"/>
            <a:ext cx="5074560" cy="3145320"/>
          </a:xfrm>
          <a:prstGeom prst="roundRect">
            <a:avLst>
              <a:gd name="adj" fmla="val 4942"/>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8" name="Shape 8"/>
          <p:cNvSpPr/>
          <p:nvPr/>
        </p:nvSpPr>
        <p:spPr>
          <a:xfrm>
            <a:off x="6272640" y="1847160"/>
            <a:ext cx="5074560" cy="3145320"/>
          </a:xfrm>
          <a:prstGeom prst="roundRect">
            <a:avLst>
              <a:gd name="adj" fmla="val 4942"/>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9" name="Text 9"/>
          <p:cNvSpPr/>
          <p:nvPr/>
        </p:nvSpPr>
        <p:spPr>
          <a:xfrm>
            <a:off x="1097280" y="2157840"/>
            <a:ext cx="449856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3000" b="1" u="none" strike="noStrike">
                <a:solidFill>
                  <a:srgbClr val="4779C9"/>
                </a:solidFill>
                <a:effectLst/>
                <a:uFillTx/>
                <a:latin typeface="Aptos"/>
                <a:ea typeface="Aptos"/>
              </a:rPr>
              <a:t>Pass@3</a:t>
            </a:r>
            <a:endParaRPr lang="en-US" sz="3000" b="0" u="none" strike="noStrike">
              <a:solidFill>
                <a:srgbClr val="000000"/>
              </a:solidFill>
              <a:effectLst/>
              <a:uFillTx/>
              <a:latin typeface="Arial"/>
            </a:endParaRPr>
          </a:p>
        </p:txBody>
      </p:sp>
      <p:sp>
        <p:nvSpPr>
          <p:cNvPr id="370" name="Text 10"/>
          <p:cNvSpPr/>
          <p:nvPr/>
        </p:nvSpPr>
        <p:spPr>
          <a:xfrm>
            <a:off x="1078920" y="2788920"/>
            <a:ext cx="456264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0" u="none" strike="noStrike">
                <a:solidFill>
                  <a:srgbClr val="14283F"/>
                </a:solidFill>
                <a:effectLst/>
                <a:uFillTx/>
                <a:latin typeface="Aptos"/>
                <a:ea typeface="Aptos"/>
              </a:rPr>
              <a:t>At least ONE of 3 runs succeeds</a:t>
            </a:r>
            <a:endParaRPr lang="en-US" sz="1900" b="0" u="none" strike="noStrike">
              <a:solidFill>
                <a:srgbClr val="000000"/>
              </a:solidFill>
              <a:effectLst/>
              <a:uFillTx/>
              <a:latin typeface="Arial"/>
            </a:endParaRPr>
          </a:p>
        </p:txBody>
      </p:sp>
      <p:sp>
        <p:nvSpPr>
          <p:cNvPr id="371" name="Shape 11"/>
          <p:cNvSpPr/>
          <p:nvPr/>
        </p:nvSpPr>
        <p:spPr>
          <a:xfrm>
            <a:off x="1828800" y="3447360"/>
            <a:ext cx="603000" cy="603000"/>
          </a:xfrm>
          <a:prstGeom prst="ellipse">
            <a:avLst/>
          </a:prstGeom>
          <a:solidFill>
            <a:srgbClr val="228C6D"/>
          </a:solidFill>
          <a:ln w="12700">
            <a:solidFill>
              <a:srgbClr val="228C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2" name="Text 12"/>
          <p:cNvSpPr/>
          <p:nvPr/>
        </p:nvSpPr>
        <p:spPr>
          <a:xfrm>
            <a:off x="1865520" y="3547800"/>
            <a:ext cx="529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FFFFFF"/>
                </a:solidFill>
                <a:effectLst/>
                <a:uFillTx/>
                <a:latin typeface="Aptos"/>
                <a:ea typeface="Aptos"/>
              </a:rPr>
              <a:t>✓</a:t>
            </a:r>
            <a:endParaRPr lang="en-US" sz="2000" b="0" u="none" strike="noStrike">
              <a:solidFill>
                <a:srgbClr val="000000"/>
              </a:solidFill>
              <a:effectLst/>
              <a:uFillTx/>
              <a:latin typeface="Arial"/>
            </a:endParaRPr>
          </a:p>
        </p:txBody>
      </p:sp>
      <p:sp>
        <p:nvSpPr>
          <p:cNvPr id="373" name="Shape 13"/>
          <p:cNvSpPr/>
          <p:nvPr/>
        </p:nvSpPr>
        <p:spPr>
          <a:xfrm>
            <a:off x="2862000" y="3447360"/>
            <a:ext cx="603000" cy="60300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4" name="Text 14"/>
          <p:cNvSpPr/>
          <p:nvPr/>
        </p:nvSpPr>
        <p:spPr>
          <a:xfrm>
            <a:off x="2898720" y="3547800"/>
            <a:ext cx="529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FFFFFF"/>
                </a:solidFill>
                <a:effectLst/>
                <a:uFillTx/>
                <a:latin typeface="Aptos"/>
                <a:ea typeface="Aptos"/>
              </a:rPr>
              <a:t>✗</a:t>
            </a:r>
            <a:endParaRPr lang="en-US" sz="2000" b="0" u="none" strike="noStrike">
              <a:solidFill>
                <a:srgbClr val="000000"/>
              </a:solidFill>
              <a:effectLst/>
              <a:uFillTx/>
              <a:latin typeface="Arial"/>
            </a:endParaRPr>
          </a:p>
        </p:txBody>
      </p:sp>
      <p:sp>
        <p:nvSpPr>
          <p:cNvPr id="375" name="Shape 15"/>
          <p:cNvSpPr/>
          <p:nvPr/>
        </p:nvSpPr>
        <p:spPr>
          <a:xfrm>
            <a:off x="3895200" y="3447360"/>
            <a:ext cx="603000" cy="603000"/>
          </a:xfrm>
          <a:prstGeom prst="ellipse">
            <a:avLst/>
          </a:prstGeom>
          <a:solidFill>
            <a:srgbClr val="228C6D"/>
          </a:solidFill>
          <a:ln w="12700">
            <a:solidFill>
              <a:srgbClr val="228C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6" name="Text 16"/>
          <p:cNvSpPr/>
          <p:nvPr/>
        </p:nvSpPr>
        <p:spPr>
          <a:xfrm>
            <a:off x="3931920" y="3547800"/>
            <a:ext cx="529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FFFFFF"/>
                </a:solidFill>
                <a:effectLst/>
                <a:uFillTx/>
                <a:latin typeface="Aptos"/>
                <a:ea typeface="Aptos"/>
              </a:rPr>
              <a:t>✓</a:t>
            </a:r>
            <a:endParaRPr lang="en-US" sz="2000" b="0" u="none" strike="noStrike">
              <a:solidFill>
                <a:srgbClr val="000000"/>
              </a:solidFill>
              <a:effectLst/>
              <a:uFillTx/>
              <a:latin typeface="Arial"/>
            </a:endParaRPr>
          </a:p>
        </p:txBody>
      </p:sp>
      <p:sp>
        <p:nvSpPr>
          <p:cNvPr id="377" name="Text 17"/>
          <p:cNvSpPr/>
          <p:nvPr/>
        </p:nvSpPr>
        <p:spPr>
          <a:xfrm>
            <a:off x="2541960" y="4316040"/>
            <a:ext cx="155412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000" b="1" u="none" strike="noStrike">
                <a:solidFill>
                  <a:srgbClr val="4779C9"/>
                </a:solidFill>
                <a:effectLst/>
                <a:uFillTx/>
                <a:latin typeface="Aptos"/>
                <a:ea typeface="Aptos"/>
              </a:rPr>
              <a:t>= 1</a:t>
            </a:r>
            <a:endParaRPr lang="en-US" sz="2000" b="0" u="none" strike="noStrike">
              <a:solidFill>
                <a:srgbClr val="000000"/>
              </a:solidFill>
              <a:effectLst/>
              <a:uFillTx/>
              <a:latin typeface="Arial"/>
            </a:endParaRPr>
          </a:p>
        </p:txBody>
      </p:sp>
      <p:sp>
        <p:nvSpPr>
          <p:cNvPr id="378" name="Text 18"/>
          <p:cNvSpPr/>
          <p:nvPr/>
        </p:nvSpPr>
        <p:spPr>
          <a:xfrm>
            <a:off x="6556320" y="2157840"/>
            <a:ext cx="4498560" cy="4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3000" b="1" u="none" strike="noStrike">
                <a:solidFill>
                  <a:srgbClr val="119F9A"/>
                </a:solidFill>
                <a:effectLst/>
                <a:uFillTx/>
                <a:latin typeface="Aptos"/>
                <a:ea typeface="Aptos"/>
              </a:rPr>
              <a:t>Pass³</a:t>
            </a:r>
            <a:endParaRPr lang="en-US" sz="3000" b="0" u="none" strike="noStrike">
              <a:solidFill>
                <a:srgbClr val="000000"/>
              </a:solidFill>
              <a:effectLst/>
              <a:uFillTx/>
              <a:latin typeface="Arial"/>
            </a:endParaRPr>
          </a:p>
        </p:txBody>
      </p:sp>
      <p:sp>
        <p:nvSpPr>
          <p:cNvPr id="379" name="Text 19"/>
          <p:cNvSpPr/>
          <p:nvPr/>
        </p:nvSpPr>
        <p:spPr>
          <a:xfrm>
            <a:off x="6546960" y="2788920"/>
            <a:ext cx="456264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900" b="0" u="none" strike="noStrike">
                <a:solidFill>
                  <a:srgbClr val="14283F"/>
                </a:solidFill>
                <a:effectLst/>
                <a:uFillTx/>
                <a:latin typeface="Aptos"/>
                <a:ea typeface="Aptos"/>
              </a:rPr>
              <a:t>ALL THREE runs must succeed</a:t>
            </a:r>
            <a:endParaRPr lang="en-US" sz="1900" b="0" u="none" strike="noStrike">
              <a:solidFill>
                <a:srgbClr val="000000"/>
              </a:solidFill>
              <a:effectLst/>
              <a:uFillTx/>
              <a:latin typeface="Arial"/>
            </a:endParaRPr>
          </a:p>
        </p:txBody>
      </p:sp>
      <p:sp>
        <p:nvSpPr>
          <p:cNvPr id="380" name="Shape 20"/>
          <p:cNvSpPr/>
          <p:nvPr/>
        </p:nvSpPr>
        <p:spPr>
          <a:xfrm>
            <a:off x="7306200" y="3447360"/>
            <a:ext cx="603000" cy="603000"/>
          </a:xfrm>
          <a:prstGeom prst="ellipse">
            <a:avLst/>
          </a:prstGeom>
          <a:solidFill>
            <a:srgbClr val="228C6D"/>
          </a:solidFill>
          <a:ln w="12700">
            <a:solidFill>
              <a:srgbClr val="228C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1" name="Text 21"/>
          <p:cNvSpPr/>
          <p:nvPr/>
        </p:nvSpPr>
        <p:spPr>
          <a:xfrm>
            <a:off x="7342560" y="3547800"/>
            <a:ext cx="529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FFFFFF"/>
                </a:solidFill>
                <a:effectLst/>
                <a:uFillTx/>
                <a:latin typeface="Aptos"/>
                <a:ea typeface="Aptos"/>
              </a:rPr>
              <a:t>✓</a:t>
            </a:r>
            <a:endParaRPr lang="en-US" sz="2000" b="0" u="none" strike="noStrike">
              <a:solidFill>
                <a:srgbClr val="000000"/>
              </a:solidFill>
              <a:effectLst/>
              <a:uFillTx/>
              <a:latin typeface="Arial"/>
            </a:endParaRPr>
          </a:p>
        </p:txBody>
      </p:sp>
      <p:sp>
        <p:nvSpPr>
          <p:cNvPr id="382" name="Shape 22"/>
          <p:cNvSpPr/>
          <p:nvPr/>
        </p:nvSpPr>
        <p:spPr>
          <a:xfrm>
            <a:off x="8339400" y="3447360"/>
            <a:ext cx="603000" cy="60300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3" name="Text 23"/>
          <p:cNvSpPr/>
          <p:nvPr/>
        </p:nvSpPr>
        <p:spPr>
          <a:xfrm>
            <a:off x="8375760" y="3547800"/>
            <a:ext cx="529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FFFFFF"/>
                </a:solidFill>
                <a:effectLst/>
                <a:uFillTx/>
                <a:latin typeface="Aptos"/>
                <a:ea typeface="Aptos"/>
              </a:rPr>
              <a:t>✗</a:t>
            </a:r>
            <a:endParaRPr lang="en-US" sz="2000" b="0" u="none" strike="noStrike">
              <a:solidFill>
                <a:srgbClr val="000000"/>
              </a:solidFill>
              <a:effectLst/>
              <a:uFillTx/>
              <a:latin typeface="Arial"/>
            </a:endParaRPr>
          </a:p>
        </p:txBody>
      </p:sp>
      <p:sp>
        <p:nvSpPr>
          <p:cNvPr id="384" name="Shape 24"/>
          <p:cNvSpPr/>
          <p:nvPr/>
        </p:nvSpPr>
        <p:spPr>
          <a:xfrm>
            <a:off x="9372600" y="3447360"/>
            <a:ext cx="603000" cy="603000"/>
          </a:xfrm>
          <a:prstGeom prst="ellipse">
            <a:avLst/>
          </a:prstGeom>
          <a:solidFill>
            <a:srgbClr val="228C6D"/>
          </a:solidFill>
          <a:ln w="12700">
            <a:solidFill>
              <a:srgbClr val="228C6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5" name="Text 25"/>
          <p:cNvSpPr/>
          <p:nvPr/>
        </p:nvSpPr>
        <p:spPr>
          <a:xfrm>
            <a:off x="9409320" y="3547800"/>
            <a:ext cx="529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defTabSz="914400">
              <a:lnSpc>
                <a:spcPct val="100000"/>
              </a:lnSpc>
              <a:tabLst>
                <a:tab pos="0" algn="l"/>
              </a:tabLst>
            </a:pPr>
            <a:r>
              <a:rPr lang="en-US" sz="2000" b="1" u="none" strike="noStrike">
                <a:solidFill>
                  <a:srgbClr val="FFFFFF"/>
                </a:solidFill>
                <a:effectLst/>
                <a:uFillTx/>
                <a:latin typeface="Aptos"/>
                <a:ea typeface="Aptos"/>
              </a:rPr>
              <a:t>✓</a:t>
            </a:r>
            <a:endParaRPr lang="en-US" sz="2000" b="0" u="none" strike="noStrike">
              <a:solidFill>
                <a:srgbClr val="000000"/>
              </a:solidFill>
              <a:effectLst/>
              <a:uFillTx/>
              <a:latin typeface="Arial"/>
            </a:endParaRPr>
          </a:p>
        </p:txBody>
      </p:sp>
      <p:sp>
        <p:nvSpPr>
          <p:cNvPr id="386" name="Text 26"/>
          <p:cNvSpPr/>
          <p:nvPr/>
        </p:nvSpPr>
        <p:spPr>
          <a:xfrm>
            <a:off x="8010000" y="4316040"/>
            <a:ext cx="155412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000" b="1" u="none" strike="noStrike">
                <a:solidFill>
                  <a:srgbClr val="119F9A"/>
                </a:solidFill>
                <a:effectLst/>
                <a:uFillTx/>
                <a:latin typeface="Aptos"/>
                <a:ea typeface="Aptos"/>
              </a:rPr>
              <a:t>= 0</a:t>
            </a:r>
            <a:endParaRPr lang="en-US" sz="2000" b="0" u="none" strike="noStrike">
              <a:solidFill>
                <a:srgbClr val="000000"/>
              </a:solidFill>
              <a:effectLst/>
              <a:uFillTx/>
              <a:latin typeface="Arial"/>
            </a:endParaRPr>
          </a:p>
        </p:txBody>
      </p:sp>
      <p:sp>
        <p:nvSpPr>
          <p:cNvPr id="387" name="Shape 27"/>
          <p:cNvSpPr/>
          <p:nvPr/>
        </p:nvSpPr>
        <p:spPr>
          <a:xfrm>
            <a:off x="713160" y="5943600"/>
            <a:ext cx="10762200" cy="411120"/>
          </a:xfrm>
          <a:prstGeom prst="roundRect">
            <a:avLst>
              <a:gd name="adj" fmla="val 26667"/>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8" name="Text 28"/>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Both scores are averaged over tasks — not over individual runs.</a:t>
            </a:r>
            <a:endParaRPr lang="en-US" sz="15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89"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390"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EXPERIMENTS</a:t>
            </a:r>
            <a:endParaRPr lang="en-US" sz="1100" b="0" u="none" strike="noStrike">
              <a:solidFill>
                <a:srgbClr val="000000"/>
              </a:solidFill>
              <a:effectLst/>
              <a:uFillTx/>
              <a:latin typeface="Arial"/>
            </a:endParaRPr>
          </a:p>
        </p:txBody>
      </p:sp>
      <p:sp>
        <p:nvSpPr>
          <p:cNvPr id="391"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12 models tested on 240 tasks</a:t>
            </a:r>
            <a:endParaRPr lang="en-US" sz="3000" b="0" u="none" strike="noStrike">
              <a:solidFill>
                <a:srgbClr val="000000"/>
              </a:solidFill>
              <a:effectLst/>
              <a:uFillTx/>
              <a:latin typeface="Arial"/>
            </a:endParaRPr>
          </a:p>
        </p:txBody>
      </p:sp>
      <p:sp>
        <p:nvSpPr>
          <p:cNvPr id="392"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93"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94"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Sections 4.1–4.2 and Table 4, pp. 6–7</a:t>
            </a:r>
            <a:endParaRPr lang="en-US" sz="860" b="0" u="none" strike="noStrike">
              <a:solidFill>
                <a:srgbClr val="000000"/>
              </a:solidFill>
              <a:effectLst/>
              <a:uFillTx/>
              <a:latin typeface="Arial"/>
            </a:endParaRPr>
          </a:p>
        </p:txBody>
      </p:sp>
      <p:sp>
        <p:nvSpPr>
          <p:cNvPr id="395"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14</a:t>
            </a:r>
            <a:endParaRPr lang="en-US" sz="1000" b="0" u="none" strike="noStrike">
              <a:solidFill>
                <a:srgbClr val="000000"/>
              </a:solidFill>
              <a:effectLst/>
              <a:uFillTx/>
              <a:latin typeface="Arial"/>
            </a:endParaRPr>
          </a:p>
        </p:txBody>
      </p:sp>
      <p:sp>
        <p:nvSpPr>
          <p:cNvPr id="396" name="Shape 7"/>
          <p:cNvSpPr/>
          <p:nvPr/>
        </p:nvSpPr>
        <p:spPr>
          <a:xfrm>
            <a:off x="1801440" y="1929240"/>
            <a:ext cx="1416960" cy="1416960"/>
          </a:xfrm>
          <a:prstGeom prst="ellipse">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97" name="Text 8"/>
          <p:cNvSpPr/>
          <p:nvPr/>
        </p:nvSpPr>
        <p:spPr>
          <a:xfrm>
            <a:off x="1874520" y="2377440"/>
            <a:ext cx="12708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800" b="1" u="none" strike="noStrike">
                <a:solidFill>
                  <a:srgbClr val="FFFFFF"/>
                </a:solidFill>
                <a:effectLst/>
                <a:uFillTx/>
                <a:latin typeface="Aptos"/>
                <a:ea typeface="Aptos"/>
              </a:rPr>
              <a:t>100</a:t>
            </a:r>
            <a:endParaRPr lang="en-US" sz="2800" b="0" u="none" strike="noStrike">
              <a:solidFill>
                <a:srgbClr val="000000"/>
              </a:solidFill>
              <a:effectLst/>
              <a:uFillTx/>
              <a:latin typeface="Arial"/>
            </a:endParaRPr>
          </a:p>
        </p:txBody>
      </p:sp>
      <p:sp>
        <p:nvSpPr>
          <p:cNvPr id="398" name="Text 9"/>
          <p:cNvSpPr/>
          <p:nvPr/>
        </p:nvSpPr>
        <p:spPr>
          <a:xfrm>
            <a:off x="1005840" y="3593520"/>
            <a:ext cx="306288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14283F"/>
                </a:solidFill>
                <a:effectLst/>
                <a:uFillTx/>
                <a:latin typeface="Aptos"/>
                <a:ea typeface="Aptos"/>
              </a:rPr>
              <a:t>BASE</a:t>
            </a:r>
            <a:endParaRPr lang="en-US" sz="1700" b="0" u="none" strike="noStrike">
              <a:solidFill>
                <a:srgbClr val="000000"/>
              </a:solidFill>
              <a:effectLst/>
              <a:uFillTx/>
              <a:latin typeface="Arial"/>
            </a:endParaRPr>
          </a:p>
        </p:txBody>
      </p:sp>
      <p:sp>
        <p:nvSpPr>
          <p:cNvPr id="399" name="Shape 10"/>
          <p:cNvSpPr/>
          <p:nvPr/>
        </p:nvSpPr>
        <p:spPr>
          <a:xfrm>
            <a:off x="5678280" y="1929240"/>
            <a:ext cx="1416960" cy="1416960"/>
          </a:xfrm>
          <a:prstGeom prst="ellipse">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0" name="Text 11"/>
          <p:cNvSpPr/>
          <p:nvPr/>
        </p:nvSpPr>
        <p:spPr>
          <a:xfrm>
            <a:off x="5751720" y="2377440"/>
            <a:ext cx="12708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800" b="1" u="none" strike="noStrike">
                <a:solidFill>
                  <a:srgbClr val="FFFFFF"/>
                </a:solidFill>
                <a:effectLst/>
                <a:uFillTx/>
                <a:latin typeface="Aptos"/>
                <a:ea typeface="Aptos"/>
              </a:rPr>
              <a:t>90</a:t>
            </a:r>
            <a:endParaRPr lang="en-US" sz="2800" b="0" u="none" strike="noStrike">
              <a:solidFill>
                <a:srgbClr val="000000"/>
              </a:solidFill>
              <a:effectLst/>
              <a:uFillTx/>
              <a:latin typeface="Arial"/>
            </a:endParaRPr>
          </a:p>
        </p:txBody>
      </p:sp>
      <p:sp>
        <p:nvSpPr>
          <p:cNvPr id="401" name="Text 12"/>
          <p:cNvSpPr/>
          <p:nvPr/>
        </p:nvSpPr>
        <p:spPr>
          <a:xfrm>
            <a:off x="4883040" y="3593520"/>
            <a:ext cx="306288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14283F"/>
                </a:solidFill>
                <a:effectLst/>
                <a:uFillTx/>
                <a:latin typeface="Aptos"/>
                <a:ea typeface="Aptos"/>
              </a:rPr>
              <a:t>HALLUCINATION</a:t>
            </a:r>
            <a:endParaRPr lang="en-US" sz="1700" b="0" u="none" strike="noStrike">
              <a:solidFill>
                <a:srgbClr val="000000"/>
              </a:solidFill>
              <a:effectLst/>
              <a:uFillTx/>
              <a:latin typeface="Arial"/>
            </a:endParaRPr>
          </a:p>
        </p:txBody>
      </p:sp>
      <p:sp>
        <p:nvSpPr>
          <p:cNvPr id="402" name="Shape 13"/>
          <p:cNvSpPr/>
          <p:nvPr/>
        </p:nvSpPr>
        <p:spPr>
          <a:xfrm>
            <a:off x="9555480" y="1929240"/>
            <a:ext cx="1416960" cy="1416960"/>
          </a:xfrm>
          <a:prstGeom prst="ellipse">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3" name="Text 14"/>
          <p:cNvSpPr/>
          <p:nvPr/>
        </p:nvSpPr>
        <p:spPr>
          <a:xfrm>
            <a:off x="9628560" y="2377440"/>
            <a:ext cx="12708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2800" b="1" u="none" strike="noStrike">
                <a:solidFill>
                  <a:srgbClr val="FFFFFF"/>
                </a:solidFill>
                <a:effectLst/>
                <a:uFillTx/>
                <a:latin typeface="Aptos"/>
                <a:ea typeface="Aptos"/>
              </a:rPr>
              <a:t>50</a:t>
            </a:r>
            <a:endParaRPr lang="en-US" sz="2800" b="0" u="none" strike="noStrike">
              <a:solidFill>
                <a:srgbClr val="000000"/>
              </a:solidFill>
              <a:effectLst/>
              <a:uFillTx/>
              <a:latin typeface="Arial"/>
            </a:endParaRPr>
          </a:p>
        </p:txBody>
      </p:sp>
      <p:sp>
        <p:nvSpPr>
          <p:cNvPr id="404" name="Text 15"/>
          <p:cNvSpPr/>
          <p:nvPr/>
        </p:nvSpPr>
        <p:spPr>
          <a:xfrm>
            <a:off x="8759880" y="3593520"/>
            <a:ext cx="306288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1" u="none" strike="noStrike">
                <a:solidFill>
                  <a:srgbClr val="14283F"/>
                </a:solidFill>
                <a:effectLst/>
                <a:uFillTx/>
                <a:latin typeface="Aptos"/>
                <a:ea typeface="Aptos"/>
              </a:rPr>
              <a:t>DISAMBIGUATION</a:t>
            </a:r>
            <a:endParaRPr lang="en-US" sz="1700" b="0" u="none" strike="noStrike">
              <a:solidFill>
                <a:srgbClr val="000000"/>
              </a:solidFill>
              <a:effectLst/>
              <a:uFillTx/>
              <a:latin typeface="Arial"/>
            </a:endParaRPr>
          </a:p>
        </p:txBody>
      </p:sp>
      <p:sp>
        <p:nvSpPr>
          <p:cNvPr id="405" name="Shape 16"/>
          <p:cNvSpPr/>
          <p:nvPr/>
        </p:nvSpPr>
        <p:spPr>
          <a:xfrm>
            <a:off x="841320" y="4334400"/>
            <a:ext cx="10560960" cy="1051200"/>
          </a:xfrm>
          <a:prstGeom prst="roundRect">
            <a:avLst>
              <a:gd name="adj" fmla="val 14783"/>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6" name="Text 17"/>
          <p:cNvSpPr/>
          <p:nvPr/>
        </p:nvSpPr>
        <p:spPr>
          <a:xfrm>
            <a:off x="1088280" y="4535280"/>
            <a:ext cx="10058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800" b="1" u="none" strike="noStrike">
                <a:solidFill>
                  <a:srgbClr val="14283F"/>
                </a:solidFill>
                <a:effectLst/>
                <a:uFillTx/>
                <a:latin typeface="Aptos"/>
                <a:ea typeface="Aptos"/>
              </a:rPr>
              <a:t>Thinking + non-thinking models  •  k = 3 metrics  •  Native tool calling</a:t>
            </a:r>
            <a:endParaRPr lang="en-US" sz="1800" b="0" u="none" strike="noStrike">
              <a:solidFill>
                <a:srgbClr val="000000"/>
              </a:solidFill>
              <a:effectLst/>
              <a:uFillTx/>
              <a:latin typeface="Arial"/>
            </a:endParaRPr>
          </a:p>
        </p:txBody>
      </p:sp>
      <p:sp>
        <p:nvSpPr>
          <p:cNvPr id="407" name="Text 18"/>
          <p:cNvSpPr/>
          <p:nvPr/>
        </p:nvSpPr>
        <p:spPr>
          <a:xfrm>
            <a:off x="1097280" y="5010840"/>
            <a:ext cx="100213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0" u="none" strike="noStrike">
                <a:solidFill>
                  <a:srgbClr val="64778B"/>
                </a:solidFill>
                <a:effectLst/>
                <a:uFillTx/>
                <a:latin typeface="Aptos"/>
                <a:ea typeface="Aptos"/>
              </a:rPr>
              <a:t>No added CoT prompts or complex agent framework.</a:t>
            </a:r>
            <a:endParaRPr lang="en-US" sz="14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408"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409"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MAIN RESULTS</a:t>
            </a:r>
            <a:endParaRPr lang="en-US" sz="1100" b="0" u="none" strike="noStrike">
              <a:solidFill>
                <a:srgbClr val="000000"/>
              </a:solidFill>
              <a:effectLst/>
              <a:uFillTx/>
              <a:latin typeface="Arial"/>
            </a:endParaRPr>
          </a:p>
        </p:txBody>
      </p:sp>
      <p:sp>
        <p:nvSpPr>
          <p:cNvPr id="410"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Thinking helps — but uncertainty stays difficult</a:t>
            </a:r>
            <a:endParaRPr lang="en-US" sz="3000" b="0" u="none" strike="noStrike">
              <a:solidFill>
                <a:srgbClr val="000000"/>
              </a:solidFill>
              <a:effectLst/>
              <a:uFillTx/>
              <a:latin typeface="Arial"/>
            </a:endParaRPr>
          </a:p>
        </p:txBody>
      </p:sp>
      <p:sp>
        <p:nvSpPr>
          <p:cNvPr id="411"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12"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13"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Table 4, p. 7; Section 4.2, pp. 7–8</a:t>
            </a:r>
            <a:endParaRPr lang="en-US" sz="860" b="0" u="none" strike="noStrike">
              <a:solidFill>
                <a:srgbClr val="000000"/>
              </a:solidFill>
              <a:effectLst/>
              <a:uFillTx/>
              <a:latin typeface="Arial"/>
            </a:endParaRPr>
          </a:p>
        </p:txBody>
      </p:sp>
      <p:sp>
        <p:nvSpPr>
          <p:cNvPr id="414"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15</a:t>
            </a:r>
            <a:endParaRPr lang="en-US" sz="1000" b="0" u="none" strike="noStrike">
              <a:solidFill>
                <a:srgbClr val="000000"/>
              </a:solidFill>
              <a:effectLst/>
              <a:uFillTx/>
              <a:latin typeface="Arial"/>
            </a:endParaRPr>
          </a:p>
        </p:txBody>
      </p:sp>
      <p:sp>
        <p:nvSpPr>
          <p:cNvPr id="415" name="Shape 7"/>
          <p:cNvSpPr/>
          <p:nvPr/>
        </p:nvSpPr>
        <p:spPr>
          <a:xfrm>
            <a:off x="831960" y="1691640"/>
            <a:ext cx="200880" cy="20088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6" name="Text 8"/>
          <p:cNvSpPr/>
          <p:nvPr/>
        </p:nvSpPr>
        <p:spPr>
          <a:xfrm>
            <a:off x="1115640" y="1664280"/>
            <a:ext cx="338292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14283F"/>
                </a:solidFill>
                <a:effectLst/>
                <a:uFillTx/>
                <a:latin typeface="Aptos"/>
                <a:ea typeface="Aptos"/>
              </a:rPr>
              <a:t>Claude Opus 4.6 (thinking)</a:t>
            </a:r>
            <a:endParaRPr lang="en-US" sz="1250" b="0" u="none" strike="noStrike">
              <a:solidFill>
                <a:srgbClr val="000000"/>
              </a:solidFill>
              <a:effectLst/>
              <a:uFillTx/>
              <a:latin typeface="Arial"/>
            </a:endParaRPr>
          </a:p>
        </p:txBody>
      </p:sp>
      <p:sp>
        <p:nvSpPr>
          <p:cNvPr id="417" name="Shape 9"/>
          <p:cNvSpPr/>
          <p:nvPr/>
        </p:nvSpPr>
        <p:spPr>
          <a:xfrm>
            <a:off x="4626720" y="1691640"/>
            <a:ext cx="200880" cy="200880"/>
          </a:xfrm>
          <a:prstGeom prst="ellipse">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8" name="Text 10"/>
          <p:cNvSpPr/>
          <p:nvPr/>
        </p:nvSpPr>
        <p:spPr>
          <a:xfrm>
            <a:off x="4910400" y="1664280"/>
            <a:ext cx="338292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14283F"/>
                </a:solidFill>
                <a:effectLst/>
                <a:uFillTx/>
                <a:latin typeface="Aptos"/>
                <a:ea typeface="Aptos"/>
              </a:rPr>
              <a:t>GPT-5 (thinking)</a:t>
            </a:r>
            <a:endParaRPr lang="en-US" sz="1250" b="0" u="none" strike="noStrike">
              <a:solidFill>
                <a:srgbClr val="000000"/>
              </a:solidFill>
              <a:effectLst/>
              <a:uFillTx/>
              <a:latin typeface="Arial"/>
            </a:endParaRPr>
          </a:p>
        </p:txBody>
      </p:sp>
      <p:sp>
        <p:nvSpPr>
          <p:cNvPr id="419" name="Shape 11"/>
          <p:cNvSpPr/>
          <p:nvPr/>
        </p:nvSpPr>
        <p:spPr>
          <a:xfrm>
            <a:off x="8421480" y="1691640"/>
            <a:ext cx="200880" cy="200880"/>
          </a:xfrm>
          <a:prstGeom prst="ellipse">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0" name="Text 12"/>
          <p:cNvSpPr/>
          <p:nvPr/>
        </p:nvSpPr>
        <p:spPr>
          <a:xfrm>
            <a:off x="8705160" y="1664280"/>
            <a:ext cx="3382920" cy="28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14283F"/>
                </a:solidFill>
                <a:effectLst/>
                <a:uFillTx/>
                <a:latin typeface="Aptos"/>
                <a:ea typeface="Aptos"/>
              </a:rPr>
              <a:t>GPT-4.1 (non-thinking)</a:t>
            </a:r>
            <a:endParaRPr lang="en-US" sz="1250" b="0" u="none" strike="noStrike">
              <a:solidFill>
                <a:srgbClr val="000000"/>
              </a:solidFill>
              <a:effectLst/>
              <a:uFillTx/>
              <a:latin typeface="Arial"/>
            </a:endParaRPr>
          </a:p>
        </p:txBody>
      </p:sp>
      <p:sp>
        <p:nvSpPr>
          <p:cNvPr id="421" name="Shape 13"/>
          <p:cNvSpPr/>
          <p:nvPr/>
        </p:nvSpPr>
        <p:spPr>
          <a:xfrm>
            <a:off x="1023840" y="5212080"/>
            <a:ext cx="102506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22" name="Text 14"/>
          <p:cNvSpPr/>
          <p:nvPr/>
        </p:nvSpPr>
        <p:spPr>
          <a:xfrm>
            <a:off x="612720" y="5093280"/>
            <a:ext cx="3380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100" b="0" u="none" strike="noStrike">
                <a:solidFill>
                  <a:srgbClr val="64778B"/>
                </a:solidFill>
                <a:effectLst/>
                <a:uFillTx/>
                <a:latin typeface="Aptos"/>
                <a:ea typeface="Aptos"/>
              </a:rPr>
              <a:t>0</a:t>
            </a:r>
            <a:endParaRPr lang="en-US" sz="1100" b="0" u="none" strike="noStrike">
              <a:solidFill>
                <a:srgbClr val="000000"/>
              </a:solidFill>
              <a:effectLst/>
              <a:uFillTx/>
              <a:latin typeface="Arial"/>
            </a:endParaRPr>
          </a:p>
        </p:txBody>
      </p:sp>
      <p:sp>
        <p:nvSpPr>
          <p:cNvPr id="423" name="Shape 15"/>
          <p:cNvSpPr/>
          <p:nvPr/>
        </p:nvSpPr>
        <p:spPr>
          <a:xfrm>
            <a:off x="1023840" y="4498560"/>
            <a:ext cx="102506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24" name="Text 16"/>
          <p:cNvSpPr/>
          <p:nvPr/>
        </p:nvSpPr>
        <p:spPr>
          <a:xfrm>
            <a:off x="612720" y="4380120"/>
            <a:ext cx="3380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100" b="0" u="none" strike="noStrike">
                <a:solidFill>
                  <a:srgbClr val="64778B"/>
                </a:solidFill>
                <a:effectLst/>
                <a:uFillTx/>
                <a:latin typeface="Aptos"/>
                <a:ea typeface="Aptos"/>
              </a:rPr>
              <a:t>25</a:t>
            </a:r>
            <a:endParaRPr lang="en-US" sz="1100" b="0" u="none" strike="noStrike">
              <a:solidFill>
                <a:srgbClr val="000000"/>
              </a:solidFill>
              <a:effectLst/>
              <a:uFillTx/>
              <a:latin typeface="Arial"/>
            </a:endParaRPr>
          </a:p>
        </p:txBody>
      </p:sp>
      <p:sp>
        <p:nvSpPr>
          <p:cNvPr id="425" name="Shape 17"/>
          <p:cNvSpPr/>
          <p:nvPr/>
        </p:nvSpPr>
        <p:spPr>
          <a:xfrm>
            <a:off x="1023840" y="3785400"/>
            <a:ext cx="102506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26" name="Text 18"/>
          <p:cNvSpPr/>
          <p:nvPr/>
        </p:nvSpPr>
        <p:spPr>
          <a:xfrm>
            <a:off x="612720" y="3666600"/>
            <a:ext cx="3380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100" b="0" u="none" strike="noStrike">
                <a:solidFill>
                  <a:srgbClr val="64778B"/>
                </a:solidFill>
                <a:effectLst/>
                <a:uFillTx/>
                <a:latin typeface="Aptos"/>
                <a:ea typeface="Aptos"/>
              </a:rPr>
              <a:t>50</a:t>
            </a:r>
            <a:endParaRPr lang="en-US" sz="1100" b="0" u="none" strike="noStrike">
              <a:solidFill>
                <a:srgbClr val="000000"/>
              </a:solidFill>
              <a:effectLst/>
              <a:uFillTx/>
              <a:latin typeface="Arial"/>
            </a:endParaRPr>
          </a:p>
        </p:txBody>
      </p:sp>
      <p:sp>
        <p:nvSpPr>
          <p:cNvPr id="427" name="Shape 19"/>
          <p:cNvSpPr/>
          <p:nvPr/>
        </p:nvSpPr>
        <p:spPr>
          <a:xfrm>
            <a:off x="1023840" y="3072240"/>
            <a:ext cx="102506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28" name="Text 20"/>
          <p:cNvSpPr/>
          <p:nvPr/>
        </p:nvSpPr>
        <p:spPr>
          <a:xfrm>
            <a:off x="612720" y="2953440"/>
            <a:ext cx="3380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100" b="0" u="none" strike="noStrike">
                <a:solidFill>
                  <a:srgbClr val="64778B"/>
                </a:solidFill>
                <a:effectLst/>
                <a:uFillTx/>
                <a:latin typeface="Aptos"/>
                <a:ea typeface="Aptos"/>
              </a:rPr>
              <a:t>75</a:t>
            </a:r>
            <a:endParaRPr lang="en-US" sz="1100" b="0" u="none" strike="noStrike">
              <a:solidFill>
                <a:srgbClr val="000000"/>
              </a:solidFill>
              <a:effectLst/>
              <a:uFillTx/>
              <a:latin typeface="Arial"/>
            </a:endParaRPr>
          </a:p>
        </p:txBody>
      </p:sp>
      <p:sp>
        <p:nvSpPr>
          <p:cNvPr id="429" name="Shape 21"/>
          <p:cNvSpPr/>
          <p:nvPr/>
        </p:nvSpPr>
        <p:spPr>
          <a:xfrm>
            <a:off x="1023840" y="2359080"/>
            <a:ext cx="102506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30" name="Text 22"/>
          <p:cNvSpPr/>
          <p:nvPr/>
        </p:nvSpPr>
        <p:spPr>
          <a:xfrm>
            <a:off x="612720" y="2240280"/>
            <a:ext cx="3380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100" b="0" u="none" strike="noStrike">
                <a:solidFill>
                  <a:srgbClr val="64778B"/>
                </a:solidFill>
                <a:effectLst/>
                <a:uFillTx/>
                <a:latin typeface="Aptos"/>
                <a:ea typeface="Aptos"/>
              </a:rPr>
              <a:t>100</a:t>
            </a:r>
            <a:endParaRPr lang="en-US" sz="1100" b="0" u="none" strike="noStrike">
              <a:solidFill>
                <a:srgbClr val="000000"/>
              </a:solidFill>
              <a:effectLst/>
              <a:uFillTx/>
              <a:latin typeface="Arial"/>
            </a:endParaRPr>
          </a:p>
        </p:txBody>
      </p:sp>
      <p:sp>
        <p:nvSpPr>
          <p:cNvPr id="431" name="Shape 23"/>
          <p:cNvSpPr/>
          <p:nvPr/>
        </p:nvSpPr>
        <p:spPr>
          <a:xfrm>
            <a:off x="1636920" y="2929680"/>
            <a:ext cx="502560" cy="228204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2" name="Text 24"/>
          <p:cNvSpPr/>
          <p:nvPr/>
        </p:nvSpPr>
        <p:spPr>
          <a:xfrm>
            <a:off x="1554480" y="259128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80%</a:t>
            </a:r>
            <a:endParaRPr lang="en-US" sz="1200" b="0" u="none" strike="noStrike">
              <a:solidFill>
                <a:srgbClr val="000000"/>
              </a:solidFill>
              <a:effectLst/>
              <a:uFillTx/>
              <a:latin typeface="Arial"/>
            </a:endParaRPr>
          </a:p>
        </p:txBody>
      </p:sp>
      <p:sp>
        <p:nvSpPr>
          <p:cNvPr id="433" name="Shape 25"/>
          <p:cNvSpPr/>
          <p:nvPr/>
        </p:nvSpPr>
        <p:spPr>
          <a:xfrm>
            <a:off x="2322720" y="3329280"/>
            <a:ext cx="502560" cy="1882440"/>
          </a:xfrm>
          <a:prstGeom prst="rect">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4" name="Text 26"/>
          <p:cNvSpPr/>
          <p:nvPr/>
        </p:nvSpPr>
        <p:spPr>
          <a:xfrm>
            <a:off x="2240280" y="299088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66%</a:t>
            </a:r>
            <a:endParaRPr lang="en-US" sz="1200" b="0" u="none" strike="noStrike">
              <a:solidFill>
                <a:srgbClr val="000000"/>
              </a:solidFill>
              <a:effectLst/>
              <a:uFillTx/>
              <a:latin typeface="Arial"/>
            </a:endParaRPr>
          </a:p>
        </p:txBody>
      </p:sp>
      <p:sp>
        <p:nvSpPr>
          <p:cNvPr id="435" name="Shape 27"/>
          <p:cNvSpPr/>
          <p:nvPr/>
        </p:nvSpPr>
        <p:spPr>
          <a:xfrm>
            <a:off x="3008520" y="3585960"/>
            <a:ext cx="502560" cy="1625760"/>
          </a:xfrm>
          <a:prstGeom prst="rect">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6" name="Text 28"/>
          <p:cNvSpPr/>
          <p:nvPr/>
        </p:nvSpPr>
        <p:spPr>
          <a:xfrm>
            <a:off x="2926080" y="324756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57%</a:t>
            </a:r>
            <a:endParaRPr lang="en-US" sz="1200" b="0" u="none" strike="noStrike">
              <a:solidFill>
                <a:srgbClr val="000000"/>
              </a:solidFill>
              <a:effectLst/>
              <a:uFillTx/>
              <a:latin typeface="Arial"/>
            </a:endParaRPr>
          </a:p>
        </p:txBody>
      </p:sp>
      <p:sp>
        <p:nvSpPr>
          <p:cNvPr id="437" name="Text 29"/>
          <p:cNvSpPr/>
          <p:nvPr/>
        </p:nvSpPr>
        <p:spPr>
          <a:xfrm>
            <a:off x="1472040" y="5403960"/>
            <a:ext cx="2486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u="none" strike="noStrike">
                <a:solidFill>
                  <a:srgbClr val="14283F"/>
                </a:solidFill>
                <a:effectLst/>
                <a:uFillTx/>
                <a:latin typeface="Aptos"/>
                <a:ea typeface="Aptos"/>
              </a:rPr>
              <a:t>Base</a:t>
            </a:r>
            <a:endParaRPr lang="en-US" sz="1600" b="0" u="none" strike="noStrike">
              <a:solidFill>
                <a:srgbClr val="000000"/>
              </a:solidFill>
              <a:effectLst/>
              <a:uFillTx/>
              <a:latin typeface="Arial"/>
            </a:endParaRPr>
          </a:p>
        </p:txBody>
      </p:sp>
      <p:sp>
        <p:nvSpPr>
          <p:cNvPr id="438" name="Shape 30"/>
          <p:cNvSpPr/>
          <p:nvPr/>
        </p:nvSpPr>
        <p:spPr>
          <a:xfrm>
            <a:off x="5102280" y="3842640"/>
            <a:ext cx="502560" cy="136908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9" name="Text 31"/>
          <p:cNvSpPr/>
          <p:nvPr/>
        </p:nvSpPr>
        <p:spPr>
          <a:xfrm>
            <a:off x="5020200" y="350424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48%</a:t>
            </a:r>
            <a:endParaRPr lang="en-US" sz="1200" b="0" u="none" strike="noStrike">
              <a:solidFill>
                <a:srgbClr val="000000"/>
              </a:solidFill>
              <a:effectLst/>
              <a:uFillTx/>
              <a:latin typeface="Arial"/>
            </a:endParaRPr>
          </a:p>
        </p:txBody>
      </p:sp>
      <p:sp>
        <p:nvSpPr>
          <p:cNvPr id="440" name="Shape 32"/>
          <p:cNvSpPr/>
          <p:nvPr/>
        </p:nvSpPr>
        <p:spPr>
          <a:xfrm>
            <a:off x="5788080" y="3500280"/>
            <a:ext cx="502560" cy="1711440"/>
          </a:xfrm>
          <a:prstGeom prst="rect">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1" name="Text 33"/>
          <p:cNvSpPr/>
          <p:nvPr/>
        </p:nvSpPr>
        <p:spPr>
          <a:xfrm>
            <a:off x="5706000" y="316188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60%</a:t>
            </a:r>
            <a:endParaRPr lang="en-US" sz="1200" b="0" u="none" strike="noStrike">
              <a:solidFill>
                <a:srgbClr val="000000"/>
              </a:solidFill>
              <a:effectLst/>
              <a:uFillTx/>
              <a:latin typeface="Arial"/>
            </a:endParaRPr>
          </a:p>
        </p:txBody>
      </p:sp>
      <p:sp>
        <p:nvSpPr>
          <p:cNvPr id="442" name="Shape 34"/>
          <p:cNvSpPr/>
          <p:nvPr/>
        </p:nvSpPr>
        <p:spPr>
          <a:xfrm>
            <a:off x="6473880" y="4327560"/>
            <a:ext cx="502560" cy="884160"/>
          </a:xfrm>
          <a:prstGeom prst="rect">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3" name="Text 35"/>
          <p:cNvSpPr/>
          <p:nvPr/>
        </p:nvSpPr>
        <p:spPr>
          <a:xfrm>
            <a:off x="6391800" y="398952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31%</a:t>
            </a:r>
            <a:endParaRPr lang="en-US" sz="1200" b="0" u="none" strike="noStrike">
              <a:solidFill>
                <a:srgbClr val="000000"/>
              </a:solidFill>
              <a:effectLst/>
              <a:uFillTx/>
              <a:latin typeface="Arial"/>
            </a:endParaRPr>
          </a:p>
        </p:txBody>
      </p:sp>
      <p:sp>
        <p:nvSpPr>
          <p:cNvPr id="444" name="Text 36"/>
          <p:cNvSpPr/>
          <p:nvPr/>
        </p:nvSpPr>
        <p:spPr>
          <a:xfrm>
            <a:off x="4937760" y="5403960"/>
            <a:ext cx="2486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u="none" strike="noStrike">
                <a:solidFill>
                  <a:srgbClr val="14283F"/>
                </a:solidFill>
                <a:effectLst/>
                <a:uFillTx/>
                <a:latin typeface="Aptos"/>
                <a:ea typeface="Aptos"/>
              </a:rPr>
              <a:t>Hallucination</a:t>
            </a:r>
            <a:endParaRPr lang="en-US" sz="1600" b="0" u="none" strike="noStrike">
              <a:solidFill>
                <a:srgbClr val="000000"/>
              </a:solidFill>
              <a:effectLst/>
              <a:uFillTx/>
              <a:latin typeface="Arial"/>
            </a:endParaRPr>
          </a:p>
        </p:txBody>
      </p:sp>
      <p:sp>
        <p:nvSpPr>
          <p:cNvPr id="445" name="Shape 37"/>
          <p:cNvSpPr/>
          <p:nvPr/>
        </p:nvSpPr>
        <p:spPr>
          <a:xfrm>
            <a:off x="8568000" y="3899880"/>
            <a:ext cx="502560" cy="131184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6" name="Text 38"/>
          <p:cNvSpPr/>
          <p:nvPr/>
        </p:nvSpPr>
        <p:spPr>
          <a:xfrm>
            <a:off x="8485560" y="356148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46%</a:t>
            </a:r>
            <a:endParaRPr lang="en-US" sz="1200" b="0" u="none" strike="noStrike">
              <a:solidFill>
                <a:srgbClr val="000000"/>
              </a:solidFill>
              <a:effectLst/>
              <a:uFillTx/>
              <a:latin typeface="Arial"/>
            </a:endParaRPr>
          </a:p>
        </p:txBody>
      </p:sp>
      <p:sp>
        <p:nvSpPr>
          <p:cNvPr id="447" name="Shape 39"/>
          <p:cNvSpPr/>
          <p:nvPr/>
        </p:nvSpPr>
        <p:spPr>
          <a:xfrm>
            <a:off x="9253800" y="4185000"/>
            <a:ext cx="502560" cy="1026720"/>
          </a:xfrm>
          <a:prstGeom prst="rect">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8" name="Text 40"/>
          <p:cNvSpPr/>
          <p:nvPr/>
        </p:nvSpPr>
        <p:spPr>
          <a:xfrm>
            <a:off x="9171360" y="384660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36%</a:t>
            </a:r>
            <a:endParaRPr lang="en-US" sz="1200" b="0" u="none" strike="noStrike">
              <a:solidFill>
                <a:srgbClr val="000000"/>
              </a:solidFill>
              <a:effectLst/>
              <a:uFillTx/>
              <a:latin typeface="Arial"/>
            </a:endParaRPr>
          </a:p>
        </p:txBody>
      </p:sp>
      <p:sp>
        <p:nvSpPr>
          <p:cNvPr id="449" name="Shape 41"/>
          <p:cNvSpPr/>
          <p:nvPr/>
        </p:nvSpPr>
        <p:spPr>
          <a:xfrm>
            <a:off x="9939600" y="4584600"/>
            <a:ext cx="502560" cy="627120"/>
          </a:xfrm>
          <a:prstGeom prst="rect">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0" name="Text 42"/>
          <p:cNvSpPr/>
          <p:nvPr/>
        </p:nvSpPr>
        <p:spPr>
          <a:xfrm>
            <a:off x="9857160" y="4246200"/>
            <a:ext cx="676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00" b="1" u="none" strike="noStrike">
                <a:solidFill>
                  <a:srgbClr val="14283F"/>
                </a:solidFill>
                <a:effectLst/>
                <a:uFillTx/>
                <a:latin typeface="Aptos"/>
                <a:ea typeface="Aptos"/>
              </a:rPr>
              <a:t>22%</a:t>
            </a:r>
            <a:endParaRPr lang="en-US" sz="1200" b="0" u="none" strike="noStrike">
              <a:solidFill>
                <a:srgbClr val="000000"/>
              </a:solidFill>
              <a:effectLst/>
              <a:uFillTx/>
              <a:latin typeface="Arial"/>
            </a:endParaRPr>
          </a:p>
        </p:txBody>
      </p:sp>
      <p:sp>
        <p:nvSpPr>
          <p:cNvPr id="451" name="Text 43"/>
          <p:cNvSpPr/>
          <p:nvPr/>
        </p:nvSpPr>
        <p:spPr>
          <a:xfrm>
            <a:off x="8403480" y="5403960"/>
            <a:ext cx="2486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600" b="1" u="none" strike="noStrike">
                <a:solidFill>
                  <a:srgbClr val="14283F"/>
                </a:solidFill>
                <a:effectLst/>
                <a:uFillTx/>
                <a:latin typeface="Aptos"/>
                <a:ea typeface="Aptos"/>
              </a:rPr>
              <a:t>Disambiguation</a:t>
            </a:r>
            <a:endParaRPr lang="en-US" sz="1600" b="0" u="none" strike="noStrike">
              <a:solidFill>
                <a:srgbClr val="000000"/>
              </a:solidFill>
              <a:effectLst/>
              <a:uFillTx/>
              <a:latin typeface="Arial"/>
            </a:endParaRPr>
          </a:p>
        </p:txBody>
      </p:sp>
      <p:sp>
        <p:nvSpPr>
          <p:cNvPr id="452" name="Text 44"/>
          <p:cNvSpPr/>
          <p:nvPr/>
        </p:nvSpPr>
        <p:spPr>
          <a:xfrm>
            <a:off x="3950280" y="5989320"/>
            <a:ext cx="4388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0" u="none" strike="noStrike">
                <a:solidFill>
                  <a:srgbClr val="64778B"/>
                </a:solidFill>
                <a:effectLst/>
                <a:uFillTx/>
                <a:latin typeface="Aptos"/>
                <a:ea typeface="Aptos"/>
              </a:rPr>
              <a:t>Pass³ = all three runs succeed</a:t>
            </a:r>
            <a:endParaRPr lang="en-US" sz="1500" b="0" u="none" strike="noStrike">
              <a:solidFill>
                <a:srgbClr val="000000"/>
              </a:solidFill>
              <a:effectLst/>
              <a:uFillTx/>
              <a:latin typeface="Arial"/>
            </a:endParaRP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453"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454"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MAIN RESULTS</a:t>
            </a:r>
            <a:endParaRPr lang="en-US" sz="1100" b="0" u="none" strike="noStrike">
              <a:solidFill>
                <a:srgbClr val="000000"/>
              </a:solidFill>
              <a:effectLst/>
              <a:uFillTx/>
              <a:latin typeface="Arial"/>
            </a:endParaRPr>
          </a:p>
        </p:txBody>
      </p:sp>
      <p:sp>
        <p:nvSpPr>
          <p:cNvPr id="455"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The “consistency gap” is large</a:t>
            </a:r>
            <a:endParaRPr lang="en-US" sz="3000" b="0" u="none" strike="noStrike">
              <a:solidFill>
                <a:srgbClr val="000000"/>
              </a:solidFill>
              <a:effectLst/>
              <a:uFillTx/>
              <a:latin typeface="Arial"/>
            </a:endParaRPr>
          </a:p>
        </p:txBody>
      </p:sp>
      <p:sp>
        <p:nvSpPr>
          <p:cNvPr id="456"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57"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58"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Table 4, p. 7; Section 4.2, pp. 7–8</a:t>
            </a:r>
            <a:endParaRPr lang="en-US" sz="860" b="0" u="none" strike="noStrike">
              <a:solidFill>
                <a:srgbClr val="000000"/>
              </a:solidFill>
              <a:effectLst/>
              <a:uFillTx/>
              <a:latin typeface="Arial"/>
            </a:endParaRPr>
          </a:p>
        </p:txBody>
      </p:sp>
      <p:sp>
        <p:nvSpPr>
          <p:cNvPr id="459"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16</a:t>
            </a:r>
            <a:endParaRPr lang="en-US" sz="1000" b="0" u="none" strike="noStrike">
              <a:solidFill>
                <a:srgbClr val="000000"/>
              </a:solidFill>
              <a:effectLst/>
              <a:uFillTx/>
              <a:latin typeface="Arial"/>
            </a:endParaRPr>
          </a:p>
        </p:txBody>
      </p:sp>
      <p:sp>
        <p:nvSpPr>
          <p:cNvPr id="460" name="Shape 7"/>
          <p:cNvSpPr/>
          <p:nvPr/>
        </p:nvSpPr>
        <p:spPr>
          <a:xfrm>
            <a:off x="905400" y="1636920"/>
            <a:ext cx="3675600" cy="319680"/>
          </a:xfrm>
          <a:prstGeom prst="roundRect">
            <a:avLst>
              <a:gd name="adj" fmla="val 45714"/>
            </a:avLst>
          </a:prstGeom>
          <a:solidFill>
            <a:srgbClr val="E9F0FC"/>
          </a:solidFill>
          <a:ln w="12700">
            <a:solidFill>
              <a:srgbClr val="E9F0FC">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1" name="Text 8"/>
          <p:cNvSpPr/>
          <p:nvPr/>
        </p:nvSpPr>
        <p:spPr>
          <a:xfrm>
            <a:off x="978480" y="1664280"/>
            <a:ext cx="3529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1" u="none" strike="noStrike">
                <a:solidFill>
                  <a:srgbClr val="4779C9"/>
                </a:solidFill>
                <a:effectLst/>
                <a:uFillTx/>
                <a:latin typeface="Aptos"/>
                <a:ea typeface="Aptos"/>
              </a:rPr>
              <a:t>GPT-5 THINKING  ·  DISAMBIGUATION</a:t>
            </a:r>
            <a:endParaRPr lang="en-US" sz="1030" b="0" u="none" strike="noStrike">
              <a:solidFill>
                <a:srgbClr val="000000"/>
              </a:solidFill>
              <a:effectLst/>
              <a:uFillTx/>
              <a:latin typeface="Arial"/>
            </a:endParaRPr>
          </a:p>
        </p:txBody>
      </p:sp>
      <p:sp>
        <p:nvSpPr>
          <p:cNvPr id="462" name="Text 9"/>
          <p:cNvSpPr/>
          <p:nvPr/>
        </p:nvSpPr>
        <p:spPr>
          <a:xfrm>
            <a:off x="1051560" y="2295000"/>
            <a:ext cx="42516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2400" b="1" u="none" strike="noStrike">
                <a:solidFill>
                  <a:srgbClr val="14283F"/>
                </a:solidFill>
                <a:effectLst/>
                <a:uFillTx/>
                <a:latin typeface="Aptos"/>
                <a:ea typeface="Aptos"/>
              </a:rPr>
              <a:t>Pass@3</a:t>
            </a:r>
            <a:endParaRPr lang="en-US" sz="2400" b="0" u="none" strike="noStrike">
              <a:solidFill>
                <a:srgbClr val="000000"/>
              </a:solidFill>
              <a:effectLst/>
              <a:uFillTx/>
              <a:latin typeface="Arial"/>
            </a:endParaRPr>
          </a:p>
        </p:txBody>
      </p:sp>
      <p:sp>
        <p:nvSpPr>
          <p:cNvPr id="463" name="Shape 10"/>
          <p:cNvSpPr/>
          <p:nvPr/>
        </p:nvSpPr>
        <p:spPr>
          <a:xfrm>
            <a:off x="1051560" y="2907720"/>
            <a:ext cx="4434480" cy="694440"/>
          </a:xfrm>
          <a:prstGeom prst="roundRect">
            <a:avLst>
              <a:gd name="adj" fmla="val 22368"/>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4" name="Shape 11"/>
          <p:cNvSpPr/>
          <p:nvPr/>
        </p:nvSpPr>
        <p:spPr>
          <a:xfrm>
            <a:off x="1051560" y="2907720"/>
            <a:ext cx="3015360" cy="694440"/>
          </a:xfrm>
          <a:prstGeom prst="roundRect">
            <a:avLst>
              <a:gd name="adj" fmla="val 22368"/>
            </a:avLst>
          </a:prstGeom>
          <a:solidFill>
            <a:srgbClr val="4779C9"/>
          </a:solidFill>
          <a:ln w="12700">
            <a:solidFill>
              <a:srgbClr val="4779C9">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5" name="Text 12"/>
          <p:cNvSpPr/>
          <p:nvPr/>
        </p:nvSpPr>
        <p:spPr>
          <a:xfrm>
            <a:off x="1051560" y="3867840"/>
            <a:ext cx="4434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3800" b="1" u="none" strike="noStrike">
                <a:solidFill>
                  <a:srgbClr val="4779C9"/>
                </a:solidFill>
                <a:effectLst/>
                <a:uFillTx/>
                <a:latin typeface="Aptos"/>
                <a:ea typeface="Aptos"/>
              </a:rPr>
              <a:t>68%</a:t>
            </a:r>
            <a:endParaRPr lang="en-US" sz="3800" b="0" u="none" strike="noStrike">
              <a:solidFill>
                <a:srgbClr val="000000"/>
              </a:solidFill>
              <a:effectLst/>
              <a:uFillTx/>
              <a:latin typeface="Arial"/>
            </a:endParaRPr>
          </a:p>
        </p:txBody>
      </p:sp>
      <p:sp>
        <p:nvSpPr>
          <p:cNvPr id="466" name="Text 13"/>
          <p:cNvSpPr/>
          <p:nvPr/>
        </p:nvSpPr>
        <p:spPr>
          <a:xfrm>
            <a:off x="1051560" y="4489560"/>
            <a:ext cx="44985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0" u="none" strike="noStrike">
                <a:solidFill>
                  <a:srgbClr val="64778B"/>
                </a:solidFill>
                <a:effectLst/>
                <a:uFillTx/>
                <a:latin typeface="Aptos"/>
                <a:ea typeface="Aptos"/>
              </a:rPr>
              <a:t>At least one success</a:t>
            </a:r>
            <a:endParaRPr lang="en-US" sz="1700" b="0" u="none" strike="noStrike">
              <a:solidFill>
                <a:srgbClr val="000000"/>
              </a:solidFill>
              <a:effectLst/>
              <a:uFillTx/>
              <a:latin typeface="Arial"/>
            </a:endParaRPr>
          </a:p>
        </p:txBody>
      </p:sp>
      <p:sp>
        <p:nvSpPr>
          <p:cNvPr id="467" name="Text 14"/>
          <p:cNvSpPr/>
          <p:nvPr/>
        </p:nvSpPr>
        <p:spPr>
          <a:xfrm>
            <a:off x="6656760" y="2295000"/>
            <a:ext cx="425160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2400" b="1" u="none" strike="noStrike">
                <a:solidFill>
                  <a:srgbClr val="14283F"/>
                </a:solidFill>
                <a:effectLst/>
                <a:uFillTx/>
                <a:latin typeface="Aptos"/>
                <a:ea typeface="Aptos"/>
              </a:rPr>
              <a:t>Pass³</a:t>
            </a:r>
            <a:endParaRPr lang="en-US" sz="2400" b="0" u="none" strike="noStrike">
              <a:solidFill>
                <a:srgbClr val="000000"/>
              </a:solidFill>
              <a:effectLst/>
              <a:uFillTx/>
              <a:latin typeface="Arial"/>
            </a:endParaRPr>
          </a:p>
        </p:txBody>
      </p:sp>
      <p:sp>
        <p:nvSpPr>
          <p:cNvPr id="468" name="Shape 15"/>
          <p:cNvSpPr/>
          <p:nvPr/>
        </p:nvSpPr>
        <p:spPr>
          <a:xfrm>
            <a:off x="6656760" y="2907720"/>
            <a:ext cx="4434480" cy="694440"/>
          </a:xfrm>
          <a:prstGeom prst="roundRect">
            <a:avLst>
              <a:gd name="adj" fmla="val 22368"/>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9" name="Shape 16"/>
          <p:cNvSpPr/>
          <p:nvPr/>
        </p:nvSpPr>
        <p:spPr>
          <a:xfrm>
            <a:off x="6656760" y="2907720"/>
            <a:ext cx="1596240" cy="694440"/>
          </a:xfrm>
          <a:prstGeom prst="roundRect">
            <a:avLst>
              <a:gd name="adj" fmla="val 22368"/>
            </a:avLst>
          </a:prstGeom>
          <a:solidFill>
            <a:srgbClr val="119F9A"/>
          </a:solidFill>
          <a:ln w="12700">
            <a:solidFill>
              <a:srgbClr val="119F9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0" name="Text 17"/>
          <p:cNvSpPr/>
          <p:nvPr/>
        </p:nvSpPr>
        <p:spPr>
          <a:xfrm>
            <a:off x="6656760" y="3867840"/>
            <a:ext cx="4434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3800" b="1" u="none" strike="noStrike">
                <a:solidFill>
                  <a:srgbClr val="119F9A"/>
                </a:solidFill>
                <a:effectLst/>
                <a:uFillTx/>
                <a:latin typeface="Aptos"/>
                <a:ea typeface="Aptos"/>
              </a:rPr>
              <a:t>36%</a:t>
            </a:r>
            <a:endParaRPr lang="en-US" sz="3800" b="0" u="none" strike="noStrike">
              <a:solidFill>
                <a:srgbClr val="000000"/>
              </a:solidFill>
              <a:effectLst/>
              <a:uFillTx/>
              <a:latin typeface="Arial"/>
            </a:endParaRPr>
          </a:p>
        </p:txBody>
      </p:sp>
      <p:sp>
        <p:nvSpPr>
          <p:cNvPr id="471" name="Text 18"/>
          <p:cNvSpPr/>
          <p:nvPr/>
        </p:nvSpPr>
        <p:spPr>
          <a:xfrm>
            <a:off x="6656760" y="4489560"/>
            <a:ext cx="4498560" cy="39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0" u="none" strike="noStrike">
                <a:solidFill>
                  <a:srgbClr val="64778B"/>
                </a:solidFill>
                <a:effectLst/>
                <a:uFillTx/>
                <a:latin typeface="Aptos"/>
                <a:ea typeface="Aptos"/>
              </a:rPr>
              <a:t>Three successes</a:t>
            </a:r>
            <a:endParaRPr lang="en-US" sz="1700" b="0" u="none" strike="noStrike">
              <a:solidFill>
                <a:srgbClr val="000000"/>
              </a:solidFill>
              <a:effectLst/>
              <a:uFillTx/>
              <a:latin typeface="Arial"/>
            </a:endParaRPr>
          </a:p>
        </p:txBody>
      </p:sp>
      <p:sp>
        <p:nvSpPr>
          <p:cNvPr id="472" name="Shape 19"/>
          <p:cNvSpPr/>
          <p:nvPr/>
        </p:nvSpPr>
        <p:spPr>
          <a:xfrm>
            <a:off x="4096440" y="5376600"/>
            <a:ext cx="3958920" cy="630720"/>
          </a:xfrm>
          <a:prstGeom prst="roundRect">
            <a:avLst>
              <a:gd name="adj" fmla="val 24638"/>
            </a:avLst>
          </a:prstGeom>
          <a:solidFill>
            <a:srgbClr val="FFF2DF"/>
          </a:solidFill>
          <a:ln w="12700">
            <a:solidFill>
              <a:srgbClr val="FFF2D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3" name="Text 20"/>
          <p:cNvSpPr/>
          <p:nvPr/>
        </p:nvSpPr>
        <p:spPr>
          <a:xfrm>
            <a:off x="4270320" y="5541120"/>
            <a:ext cx="3638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tabLst>
                <a:tab pos="0" algn="l"/>
              </a:tabLst>
            </a:pPr>
            <a:r>
              <a:rPr lang="en-US" sz="1900" b="1" u="none" strike="noStrike">
                <a:solidFill>
                  <a:srgbClr val="14283F"/>
                </a:solidFill>
                <a:effectLst/>
                <a:uFillTx/>
                <a:latin typeface="Aptos"/>
                <a:ea typeface="Aptos"/>
              </a:rPr>
              <a:t>32-point gap</a:t>
            </a:r>
            <a:endParaRPr lang="en-US" sz="19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474"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475"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DISCUSSION</a:t>
            </a:r>
            <a:endParaRPr lang="en-US" sz="1100" b="0" u="none" strike="noStrike">
              <a:solidFill>
                <a:srgbClr val="000000"/>
              </a:solidFill>
              <a:effectLst/>
              <a:uFillTx/>
              <a:latin typeface="Arial"/>
            </a:endParaRPr>
          </a:p>
        </p:txBody>
      </p:sp>
      <p:sp>
        <p:nvSpPr>
          <p:cNvPr id="476"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Five ways agents fail</a:t>
            </a:r>
            <a:endParaRPr lang="en-US" sz="3000" b="0" u="none" strike="noStrike">
              <a:solidFill>
                <a:srgbClr val="000000"/>
              </a:solidFill>
              <a:effectLst/>
              <a:uFillTx/>
              <a:latin typeface="Arial"/>
            </a:endParaRPr>
          </a:p>
        </p:txBody>
      </p:sp>
      <p:sp>
        <p:nvSpPr>
          <p:cNvPr id="477"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78"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79"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 5 and Appendix C, pp. 8–9, 17–20</a:t>
            </a:r>
            <a:endParaRPr lang="en-US" sz="860" b="0" u="none" strike="noStrike">
              <a:solidFill>
                <a:srgbClr val="000000"/>
              </a:solidFill>
              <a:effectLst/>
              <a:uFillTx/>
              <a:latin typeface="Arial"/>
            </a:endParaRPr>
          </a:p>
        </p:txBody>
      </p:sp>
      <p:sp>
        <p:nvSpPr>
          <p:cNvPr id="480"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17</a:t>
            </a:r>
            <a:endParaRPr lang="en-US" sz="1000" b="0" u="none" strike="noStrike">
              <a:solidFill>
                <a:srgbClr val="000000"/>
              </a:solidFill>
              <a:effectLst/>
              <a:uFillTx/>
              <a:latin typeface="Arial"/>
            </a:endParaRPr>
          </a:p>
        </p:txBody>
      </p:sp>
      <p:sp>
        <p:nvSpPr>
          <p:cNvPr id="481" name="Shape 7"/>
          <p:cNvSpPr/>
          <p:nvPr/>
        </p:nvSpPr>
        <p:spPr>
          <a:xfrm>
            <a:off x="859680" y="1673280"/>
            <a:ext cx="10423800" cy="658080"/>
          </a:xfrm>
          <a:prstGeom prst="roundRect">
            <a:avLst>
              <a:gd name="adj" fmla="val 2361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2" name="Shape 8"/>
          <p:cNvSpPr/>
          <p:nvPr/>
        </p:nvSpPr>
        <p:spPr>
          <a:xfrm>
            <a:off x="996840" y="1837800"/>
            <a:ext cx="594000" cy="319680"/>
          </a:xfrm>
          <a:prstGeom prst="roundRect">
            <a:avLst>
              <a:gd name="adj" fmla="val 45714"/>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3" name="Text 9"/>
          <p:cNvSpPr/>
          <p:nvPr/>
        </p:nvSpPr>
        <p:spPr>
          <a:xfrm>
            <a:off x="1069920" y="1865520"/>
            <a:ext cx="4478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1" u="none" strike="noStrike">
                <a:solidFill>
                  <a:srgbClr val="D65F62"/>
                </a:solidFill>
                <a:effectLst/>
                <a:uFillTx/>
                <a:latin typeface="Aptos"/>
                <a:ea typeface="Aptos"/>
              </a:rPr>
              <a:t>E1</a:t>
            </a:r>
            <a:endParaRPr lang="en-US" sz="1030" b="0" u="none" strike="noStrike">
              <a:solidFill>
                <a:srgbClr val="000000"/>
              </a:solidFill>
              <a:effectLst/>
              <a:uFillTx/>
              <a:latin typeface="Arial"/>
            </a:endParaRPr>
          </a:p>
        </p:txBody>
      </p:sp>
      <p:sp>
        <p:nvSpPr>
          <p:cNvPr id="484" name="Text 10"/>
          <p:cNvSpPr/>
          <p:nvPr/>
        </p:nvSpPr>
        <p:spPr>
          <a:xfrm>
            <a:off x="1856160" y="1792080"/>
            <a:ext cx="2751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1" u="none" strike="noStrike">
                <a:solidFill>
                  <a:srgbClr val="14283F"/>
                </a:solidFill>
                <a:effectLst/>
                <a:uFillTx/>
                <a:latin typeface="Aptos"/>
                <a:ea typeface="Aptos"/>
              </a:rPr>
              <a:t>Act too early</a:t>
            </a:r>
            <a:endParaRPr lang="en-US" sz="1900" b="0" u="none" strike="noStrike">
              <a:solidFill>
                <a:srgbClr val="000000"/>
              </a:solidFill>
              <a:effectLst/>
              <a:uFillTx/>
              <a:latin typeface="Arial"/>
            </a:endParaRPr>
          </a:p>
        </p:txBody>
      </p:sp>
      <p:sp>
        <p:nvSpPr>
          <p:cNvPr id="485" name="Text 11"/>
          <p:cNvSpPr/>
          <p:nvPr/>
        </p:nvSpPr>
        <p:spPr>
          <a:xfrm>
            <a:off x="4709160" y="1819800"/>
            <a:ext cx="6162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Chooses a fan level before asking</a:t>
            </a:r>
            <a:endParaRPr lang="en-US" sz="1600" b="0" u="none" strike="noStrike">
              <a:solidFill>
                <a:srgbClr val="000000"/>
              </a:solidFill>
              <a:effectLst/>
              <a:uFillTx/>
              <a:latin typeface="Arial"/>
            </a:endParaRPr>
          </a:p>
        </p:txBody>
      </p:sp>
      <p:sp>
        <p:nvSpPr>
          <p:cNvPr id="486" name="Shape 12"/>
          <p:cNvSpPr/>
          <p:nvPr/>
        </p:nvSpPr>
        <p:spPr>
          <a:xfrm>
            <a:off x="859680" y="2423160"/>
            <a:ext cx="10423800" cy="658080"/>
          </a:xfrm>
          <a:prstGeom prst="roundRect">
            <a:avLst>
              <a:gd name="adj" fmla="val 2361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7" name="Shape 13"/>
          <p:cNvSpPr/>
          <p:nvPr/>
        </p:nvSpPr>
        <p:spPr>
          <a:xfrm>
            <a:off x="996840" y="2587680"/>
            <a:ext cx="594000" cy="319680"/>
          </a:xfrm>
          <a:prstGeom prst="roundRect">
            <a:avLst>
              <a:gd name="adj" fmla="val 45714"/>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8" name="Text 14"/>
          <p:cNvSpPr/>
          <p:nvPr/>
        </p:nvSpPr>
        <p:spPr>
          <a:xfrm>
            <a:off x="1069920" y="2615040"/>
            <a:ext cx="4478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1" u="none" strike="noStrike">
                <a:solidFill>
                  <a:srgbClr val="F0A04B"/>
                </a:solidFill>
                <a:effectLst/>
                <a:uFillTx/>
                <a:latin typeface="Aptos"/>
                <a:ea typeface="Aptos"/>
              </a:rPr>
              <a:t>E2</a:t>
            </a:r>
            <a:endParaRPr lang="en-US" sz="1030" b="0" u="none" strike="noStrike">
              <a:solidFill>
                <a:srgbClr val="000000"/>
              </a:solidFill>
              <a:effectLst/>
              <a:uFillTx/>
              <a:latin typeface="Arial"/>
            </a:endParaRPr>
          </a:p>
        </p:txBody>
      </p:sp>
      <p:sp>
        <p:nvSpPr>
          <p:cNvPr id="489" name="Text 15"/>
          <p:cNvSpPr/>
          <p:nvPr/>
        </p:nvSpPr>
        <p:spPr>
          <a:xfrm>
            <a:off x="1856160" y="2541960"/>
            <a:ext cx="2751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1" u="none" strike="noStrike">
                <a:solidFill>
                  <a:srgbClr val="14283F"/>
                </a:solidFill>
                <a:effectLst/>
                <a:uFillTx/>
                <a:latin typeface="Aptos"/>
                <a:ea typeface="Aptos"/>
              </a:rPr>
              <a:t>Break a rule</a:t>
            </a:r>
            <a:endParaRPr lang="en-US" sz="1900" b="0" u="none" strike="noStrike">
              <a:solidFill>
                <a:srgbClr val="000000"/>
              </a:solidFill>
              <a:effectLst/>
              <a:uFillTx/>
              <a:latin typeface="Arial"/>
            </a:endParaRPr>
          </a:p>
        </p:txBody>
      </p:sp>
      <p:sp>
        <p:nvSpPr>
          <p:cNvPr id="490" name="Text 16"/>
          <p:cNvSpPr/>
          <p:nvPr/>
        </p:nvSpPr>
        <p:spPr>
          <a:xfrm>
            <a:off x="4709160" y="2569320"/>
            <a:ext cx="6162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Skips a required route choice</a:t>
            </a:r>
            <a:endParaRPr lang="en-US" sz="1600" b="0" u="none" strike="noStrike">
              <a:solidFill>
                <a:srgbClr val="000000"/>
              </a:solidFill>
              <a:effectLst/>
              <a:uFillTx/>
              <a:latin typeface="Arial"/>
            </a:endParaRPr>
          </a:p>
        </p:txBody>
      </p:sp>
      <p:sp>
        <p:nvSpPr>
          <p:cNvPr id="491" name="Shape 17"/>
          <p:cNvSpPr/>
          <p:nvPr/>
        </p:nvSpPr>
        <p:spPr>
          <a:xfrm>
            <a:off x="859680" y="3173040"/>
            <a:ext cx="10423800" cy="658080"/>
          </a:xfrm>
          <a:prstGeom prst="roundRect">
            <a:avLst>
              <a:gd name="adj" fmla="val 2361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2" name="Shape 18"/>
          <p:cNvSpPr/>
          <p:nvPr/>
        </p:nvSpPr>
        <p:spPr>
          <a:xfrm>
            <a:off x="996840" y="3337560"/>
            <a:ext cx="594000" cy="319680"/>
          </a:xfrm>
          <a:prstGeom prst="roundRect">
            <a:avLst>
              <a:gd name="adj" fmla="val 45714"/>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3" name="Text 19"/>
          <p:cNvSpPr/>
          <p:nvPr/>
        </p:nvSpPr>
        <p:spPr>
          <a:xfrm>
            <a:off x="1069920" y="3364920"/>
            <a:ext cx="4478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1" u="none" strike="noStrike">
                <a:solidFill>
                  <a:srgbClr val="4779C9"/>
                </a:solidFill>
                <a:effectLst/>
                <a:uFillTx/>
                <a:latin typeface="Aptos"/>
                <a:ea typeface="Aptos"/>
              </a:rPr>
              <a:t>E3</a:t>
            </a:r>
            <a:endParaRPr lang="en-US" sz="1030" b="0" u="none" strike="noStrike">
              <a:solidFill>
                <a:srgbClr val="000000"/>
              </a:solidFill>
              <a:effectLst/>
              <a:uFillTx/>
              <a:latin typeface="Arial"/>
            </a:endParaRPr>
          </a:p>
        </p:txBody>
      </p:sp>
      <p:sp>
        <p:nvSpPr>
          <p:cNvPr id="494" name="Text 20"/>
          <p:cNvSpPr/>
          <p:nvPr/>
        </p:nvSpPr>
        <p:spPr>
          <a:xfrm>
            <a:off x="1856160" y="3291840"/>
            <a:ext cx="2751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1" u="none" strike="noStrike">
                <a:solidFill>
                  <a:srgbClr val="14283F"/>
                </a:solidFill>
                <a:effectLst/>
                <a:uFillTx/>
                <a:latin typeface="Aptos"/>
                <a:ea typeface="Aptos"/>
              </a:rPr>
              <a:t>Reason wrongly</a:t>
            </a:r>
            <a:endParaRPr lang="en-US" sz="1900" b="0" u="none" strike="noStrike">
              <a:solidFill>
                <a:srgbClr val="000000"/>
              </a:solidFill>
              <a:effectLst/>
              <a:uFillTx/>
              <a:latin typeface="Arial"/>
            </a:endParaRPr>
          </a:p>
        </p:txBody>
      </p:sp>
      <p:sp>
        <p:nvSpPr>
          <p:cNvPr id="495" name="Text 21"/>
          <p:cNvSpPr/>
          <p:nvPr/>
        </p:nvSpPr>
        <p:spPr>
          <a:xfrm>
            <a:off x="4709160" y="3319200"/>
            <a:ext cx="6162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Misreads the airflow requirement</a:t>
            </a:r>
            <a:endParaRPr lang="en-US" sz="1600" b="0" u="none" strike="noStrike">
              <a:solidFill>
                <a:srgbClr val="000000"/>
              </a:solidFill>
              <a:effectLst/>
              <a:uFillTx/>
              <a:latin typeface="Arial"/>
            </a:endParaRPr>
          </a:p>
        </p:txBody>
      </p:sp>
      <p:sp>
        <p:nvSpPr>
          <p:cNvPr id="496" name="Shape 22"/>
          <p:cNvSpPr/>
          <p:nvPr/>
        </p:nvSpPr>
        <p:spPr>
          <a:xfrm>
            <a:off x="859680" y="3922920"/>
            <a:ext cx="10423800" cy="658080"/>
          </a:xfrm>
          <a:prstGeom prst="roundRect">
            <a:avLst>
              <a:gd name="adj" fmla="val 2361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7" name="Shape 23"/>
          <p:cNvSpPr/>
          <p:nvPr/>
        </p:nvSpPr>
        <p:spPr>
          <a:xfrm>
            <a:off x="996840" y="4087440"/>
            <a:ext cx="594000" cy="319680"/>
          </a:xfrm>
          <a:prstGeom prst="roundRect">
            <a:avLst>
              <a:gd name="adj" fmla="val 45714"/>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8" name="Text 24"/>
          <p:cNvSpPr/>
          <p:nvPr/>
        </p:nvSpPr>
        <p:spPr>
          <a:xfrm>
            <a:off x="1069920" y="4114800"/>
            <a:ext cx="4478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1" u="none" strike="noStrike">
                <a:solidFill>
                  <a:srgbClr val="119F9A"/>
                </a:solidFill>
                <a:effectLst/>
                <a:uFillTx/>
                <a:latin typeface="Aptos"/>
                <a:ea typeface="Aptos"/>
              </a:rPr>
              <a:t>E4</a:t>
            </a:r>
            <a:endParaRPr lang="en-US" sz="1030" b="0" u="none" strike="noStrike">
              <a:solidFill>
                <a:srgbClr val="000000"/>
              </a:solidFill>
              <a:effectLst/>
              <a:uFillTx/>
              <a:latin typeface="Arial"/>
            </a:endParaRPr>
          </a:p>
        </p:txBody>
      </p:sp>
      <p:sp>
        <p:nvSpPr>
          <p:cNvPr id="499" name="Text 25"/>
          <p:cNvSpPr/>
          <p:nvPr/>
        </p:nvSpPr>
        <p:spPr>
          <a:xfrm>
            <a:off x="1856160" y="4041720"/>
            <a:ext cx="2751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1" u="none" strike="noStrike">
                <a:solidFill>
                  <a:srgbClr val="14283F"/>
                </a:solidFill>
                <a:effectLst/>
                <a:uFillTx/>
                <a:latin typeface="Aptos"/>
                <a:ea typeface="Aptos"/>
              </a:rPr>
              <a:t>Call tool wrongly</a:t>
            </a:r>
            <a:endParaRPr lang="en-US" sz="1900" b="0" u="none" strike="noStrike">
              <a:solidFill>
                <a:srgbClr val="000000"/>
              </a:solidFill>
              <a:effectLst/>
              <a:uFillTx/>
              <a:latin typeface="Arial"/>
            </a:endParaRPr>
          </a:p>
        </p:txBody>
      </p:sp>
      <p:sp>
        <p:nvSpPr>
          <p:cNvPr id="500" name="Text 26"/>
          <p:cNvSpPr/>
          <p:nvPr/>
        </p:nvSpPr>
        <p:spPr>
          <a:xfrm>
            <a:off x="4709160" y="4069080"/>
            <a:ext cx="6162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Puts year into a month field</a:t>
            </a:r>
            <a:endParaRPr lang="en-US" sz="1600" b="0" u="none" strike="noStrike">
              <a:solidFill>
                <a:srgbClr val="000000"/>
              </a:solidFill>
              <a:effectLst/>
              <a:uFillTx/>
              <a:latin typeface="Arial"/>
            </a:endParaRPr>
          </a:p>
        </p:txBody>
      </p:sp>
      <p:sp>
        <p:nvSpPr>
          <p:cNvPr id="501" name="Shape 27"/>
          <p:cNvSpPr/>
          <p:nvPr/>
        </p:nvSpPr>
        <p:spPr>
          <a:xfrm>
            <a:off x="859680" y="4672440"/>
            <a:ext cx="10423800" cy="658080"/>
          </a:xfrm>
          <a:prstGeom prst="roundRect">
            <a:avLst>
              <a:gd name="adj" fmla="val 2361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2" name="Shape 28"/>
          <p:cNvSpPr/>
          <p:nvPr/>
        </p:nvSpPr>
        <p:spPr>
          <a:xfrm>
            <a:off x="996840" y="4837320"/>
            <a:ext cx="594000" cy="319680"/>
          </a:xfrm>
          <a:prstGeom prst="roundRect">
            <a:avLst>
              <a:gd name="adj" fmla="val 45714"/>
            </a:avLst>
          </a:prstGeom>
          <a:solidFill>
            <a:srgbClr val="FBEAED"/>
          </a:solidFill>
          <a:ln w="12700">
            <a:solidFill>
              <a:srgbClr val="FBEAE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3" name="Text 29"/>
          <p:cNvSpPr/>
          <p:nvPr/>
        </p:nvSpPr>
        <p:spPr>
          <a:xfrm>
            <a:off x="1069920" y="4864680"/>
            <a:ext cx="4478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30" b="1" u="none" strike="noStrike">
                <a:solidFill>
                  <a:srgbClr val="D65F62"/>
                </a:solidFill>
                <a:effectLst/>
                <a:uFillTx/>
                <a:latin typeface="Aptos"/>
                <a:ea typeface="Aptos"/>
              </a:rPr>
              <a:t>E5</a:t>
            </a:r>
            <a:endParaRPr lang="en-US" sz="1030" b="0" u="none" strike="noStrike">
              <a:solidFill>
                <a:srgbClr val="000000"/>
              </a:solidFill>
              <a:effectLst/>
              <a:uFillTx/>
              <a:latin typeface="Arial"/>
            </a:endParaRPr>
          </a:p>
        </p:txBody>
      </p:sp>
      <p:sp>
        <p:nvSpPr>
          <p:cNvPr id="504" name="Text 30"/>
          <p:cNvSpPr/>
          <p:nvPr/>
        </p:nvSpPr>
        <p:spPr>
          <a:xfrm>
            <a:off x="1856160" y="4791600"/>
            <a:ext cx="2751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900" b="1" u="none" strike="noStrike">
                <a:solidFill>
                  <a:srgbClr val="14283F"/>
                </a:solidFill>
                <a:effectLst/>
                <a:uFillTx/>
                <a:latin typeface="Aptos"/>
                <a:ea typeface="Aptos"/>
              </a:rPr>
              <a:t>Hide or invent</a:t>
            </a:r>
            <a:endParaRPr lang="en-US" sz="1900" b="0" u="none" strike="noStrike">
              <a:solidFill>
                <a:srgbClr val="000000"/>
              </a:solidFill>
              <a:effectLst/>
              <a:uFillTx/>
              <a:latin typeface="Arial"/>
            </a:endParaRPr>
          </a:p>
        </p:txBody>
      </p:sp>
      <p:sp>
        <p:nvSpPr>
          <p:cNvPr id="505" name="Text 31"/>
          <p:cNvSpPr/>
          <p:nvPr/>
        </p:nvSpPr>
        <p:spPr>
          <a:xfrm>
            <a:off x="4709160" y="4818960"/>
            <a:ext cx="6162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64778B"/>
                </a:solidFill>
                <a:effectLst/>
                <a:uFillTx/>
                <a:latin typeface="Aptos"/>
                <a:ea typeface="Aptos"/>
              </a:rPr>
              <a:t>Claims a missing action worked</a:t>
            </a:r>
            <a:endParaRPr lang="en-US" sz="1600" b="0" u="none" strike="noStrike">
              <a:solidFill>
                <a:srgbClr val="000000"/>
              </a:solidFill>
              <a:effectLst/>
              <a:uFillTx/>
              <a:latin typeface="Arial"/>
            </a:endParaRPr>
          </a:p>
        </p:txBody>
      </p:sp>
      <p:sp>
        <p:nvSpPr>
          <p:cNvPr id="506" name="Shape 32"/>
          <p:cNvSpPr/>
          <p:nvPr/>
        </p:nvSpPr>
        <p:spPr>
          <a:xfrm>
            <a:off x="1051560" y="5650920"/>
            <a:ext cx="10049040" cy="520920"/>
          </a:xfrm>
          <a:prstGeom prst="roundRect">
            <a:avLst>
              <a:gd name="adj" fmla="val 29825"/>
            </a:avLst>
          </a:prstGeom>
          <a:solidFill>
            <a:srgbClr val="FBEAED"/>
          </a:solidFill>
          <a:ln w="12700">
            <a:solidFill>
              <a:srgbClr val="FBEAED">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7" name="Text 33"/>
          <p:cNvSpPr/>
          <p:nvPr/>
        </p:nvSpPr>
        <p:spPr>
          <a:xfrm>
            <a:off x="1289160" y="5797440"/>
            <a:ext cx="954612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1700" b="1" u="none" strike="noStrike">
                <a:solidFill>
                  <a:srgbClr val="D65F62"/>
                </a:solidFill>
                <a:effectLst/>
                <a:uFillTx/>
                <a:latin typeface="Aptos"/>
                <a:ea typeface="Aptos"/>
              </a:rPr>
              <a:t>Key pattern: agents often choose “finish now” over “check first”.</a:t>
            </a:r>
            <a:endParaRPr lang="en-US" sz="17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08"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509"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DISCUSSION &amp; LIMITATIONS</a:t>
            </a:r>
            <a:endParaRPr lang="en-US" sz="1100" b="0" u="none" strike="noStrike">
              <a:solidFill>
                <a:srgbClr val="000000"/>
              </a:solidFill>
              <a:effectLst/>
              <a:uFillTx/>
              <a:latin typeface="Arial"/>
            </a:endParaRPr>
          </a:p>
        </p:txBody>
      </p:sp>
      <p:sp>
        <p:nvSpPr>
          <p:cNvPr id="510"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Strong benchmark, but still a simulation</a:t>
            </a:r>
            <a:endParaRPr lang="en-US" sz="3000" b="0" u="none" strike="noStrike">
              <a:solidFill>
                <a:srgbClr val="000000"/>
              </a:solidFill>
              <a:effectLst/>
              <a:uFillTx/>
              <a:latin typeface="Arial"/>
            </a:endParaRPr>
          </a:p>
        </p:txBody>
      </p:sp>
      <p:sp>
        <p:nvSpPr>
          <p:cNvPr id="511"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12"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13"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 7, p. 10; Section 4.2, p. 8</a:t>
            </a:r>
            <a:endParaRPr lang="en-US" sz="860" b="0" u="none" strike="noStrike">
              <a:solidFill>
                <a:srgbClr val="000000"/>
              </a:solidFill>
              <a:effectLst/>
              <a:uFillTx/>
              <a:latin typeface="Arial"/>
            </a:endParaRPr>
          </a:p>
        </p:txBody>
      </p:sp>
      <p:sp>
        <p:nvSpPr>
          <p:cNvPr id="514"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18</a:t>
            </a:r>
            <a:endParaRPr lang="en-US" sz="1000" b="0" u="none" strike="noStrike">
              <a:solidFill>
                <a:srgbClr val="000000"/>
              </a:solidFill>
              <a:effectLst/>
              <a:uFillTx/>
              <a:latin typeface="Arial"/>
            </a:endParaRPr>
          </a:p>
        </p:txBody>
      </p:sp>
      <p:sp>
        <p:nvSpPr>
          <p:cNvPr id="515" name="Shape 7"/>
          <p:cNvSpPr/>
          <p:nvPr/>
        </p:nvSpPr>
        <p:spPr>
          <a:xfrm>
            <a:off x="831960" y="1801440"/>
            <a:ext cx="4974120" cy="1590840"/>
          </a:xfrm>
          <a:prstGeom prst="roundRect">
            <a:avLst>
              <a:gd name="adj" fmla="val 747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6" name="Shape 8"/>
          <p:cNvSpPr/>
          <p:nvPr/>
        </p:nvSpPr>
        <p:spPr>
          <a:xfrm>
            <a:off x="850320" y="1819800"/>
            <a:ext cx="4937400" cy="63720"/>
          </a:xfrm>
          <a:prstGeom prst="rect">
            <a:avLst/>
          </a:prstGeom>
          <a:solidFill>
            <a:srgbClr val="F0A04B"/>
          </a:solidFill>
          <a:ln w="12700">
            <a:solidFill>
              <a:srgbClr val="F0A04B"/>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517" name="Text 9"/>
          <p:cNvSpPr/>
          <p:nvPr/>
        </p:nvSpPr>
        <p:spPr>
          <a:xfrm>
            <a:off x="1033200" y="2020680"/>
            <a:ext cx="45716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Simulated user</a:t>
            </a:r>
            <a:endParaRPr lang="en-US" sz="2000" b="0" u="none" strike="noStrike">
              <a:solidFill>
                <a:srgbClr val="000000"/>
              </a:solidFill>
              <a:effectLst/>
              <a:uFillTx/>
              <a:latin typeface="Arial"/>
            </a:endParaRPr>
          </a:p>
        </p:txBody>
      </p:sp>
      <p:sp>
        <p:nvSpPr>
          <p:cNvPr id="518" name="Text 10"/>
          <p:cNvSpPr/>
          <p:nvPr/>
        </p:nvSpPr>
        <p:spPr>
          <a:xfrm>
            <a:off x="1033200" y="2523600"/>
            <a:ext cx="4571640" cy="722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The user LLM can make mistakes.</a:t>
            </a:r>
            <a:endParaRPr lang="en-US" sz="1700" b="0" u="none" strike="noStrike">
              <a:solidFill>
                <a:srgbClr val="000000"/>
              </a:solidFill>
              <a:effectLst/>
              <a:uFillTx/>
              <a:latin typeface="Arial"/>
            </a:endParaRPr>
          </a:p>
        </p:txBody>
      </p:sp>
      <p:sp>
        <p:nvSpPr>
          <p:cNvPr id="519" name="Shape 11"/>
          <p:cNvSpPr/>
          <p:nvPr/>
        </p:nvSpPr>
        <p:spPr>
          <a:xfrm>
            <a:off x="6419160" y="1801440"/>
            <a:ext cx="4974120" cy="1590840"/>
          </a:xfrm>
          <a:prstGeom prst="roundRect">
            <a:avLst>
              <a:gd name="adj" fmla="val 747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0" name="Shape 12"/>
          <p:cNvSpPr/>
          <p:nvPr/>
        </p:nvSpPr>
        <p:spPr>
          <a:xfrm>
            <a:off x="6437520" y="1819800"/>
            <a:ext cx="4937400" cy="63720"/>
          </a:xfrm>
          <a:prstGeom prst="rect">
            <a:avLst/>
          </a:prstGeom>
          <a:solidFill>
            <a:srgbClr val="4779C9"/>
          </a:solidFill>
          <a:ln w="12700">
            <a:solidFill>
              <a:srgbClr val="4779C9"/>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521" name="Text 13"/>
          <p:cNvSpPr/>
          <p:nvPr/>
        </p:nvSpPr>
        <p:spPr>
          <a:xfrm>
            <a:off x="6620400" y="2020680"/>
            <a:ext cx="45716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Not a real car</a:t>
            </a:r>
            <a:endParaRPr lang="en-US" sz="2000" b="0" u="none" strike="noStrike">
              <a:solidFill>
                <a:srgbClr val="000000"/>
              </a:solidFill>
              <a:effectLst/>
              <a:uFillTx/>
              <a:latin typeface="Arial"/>
            </a:endParaRPr>
          </a:p>
        </p:txBody>
      </p:sp>
      <p:sp>
        <p:nvSpPr>
          <p:cNvPr id="522" name="Text 14"/>
          <p:cNvSpPr/>
          <p:nvPr/>
        </p:nvSpPr>
        <p:spPr>
          <a:xfrm>
            <a:off x="6620400" y="2523600"/>
            <a:ext cx="4571640" cy="722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No full multimodal or long-horizon test.</a:t>
            </a:r>
            <a:endParaRPr lang="en-US" sz="1700" b="0" u="none" strike="noStrike">
              <a:solidFill>
                <a:srgbClr val="000000"/>
              </a:solidFill>
              <a:effectLst/>
              <a:uFillTx/>
              <a:latin typeface="Arial"/>
            </a:endParaRPr>
          </a:p>
        </p:txBody>
      </p:sp>
      <p:sp>
        <p:nvSpPr>
          <p:cNvPr id="523" name="Shape 15"/>
          <p:cNvSpPr/>
          <p:nvPr/>
        </p:nvSpPr>
        <p:spPr>
          <a:xfrm>
            <a:off x="831960" y="3758040"/>
            <a:ext cx="4974120" cy="1590840"/>
          </a:xfrm>
          <a:prstGeom prst="roundRect">
            <a:avLst>
              <a:gd name="adj" fmla="val 747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4" name="Shape 16"/>
          <p:cNvSpPr/>
          <p:nvPr/>
        </p:nvSpPr>
        <p:spPr>
          <a:xfrm>
            <a:off x="850320" y="3776400"/>
            <a:ext cx="4937400" cy="63720"/>
          </a:xfrm>
          <a:prstGeom prst="rect">
            <a:avLst/>
          </a:prstGeom>
          <a:solidFill>
            <a:srgbClr val="D65F62"/>
          </a:solidFill>
          <a:ln w="12700">
            <a:solidFill>
              <a:srgbClr val="D65F62"/>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525" name="Text 17"/>
          <p:cNvSpPr/>
          <p:nvPr/>
        </p:nvSpPr>
        <p:spPr>
          <a:xfrm>
            <a:off x="1033200" y="3977640"/>
            <a:ext cx="45716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Policy inside the agent</a:t>
            </a:r>
            <a:endParaRPr lang="en-US" sz="2000" b="0" u="none" strike="noStrike">
              <a:solidFill>
                <a:srgbClr val="000000"/>
              </a:solidFill>
              <a:effectLst/>
              <a:uFillTx/>
              <a:latin typeface="Arial"/>
            </a:endParaRPr>
          </a:p>
        </p:txBody>
      </p:sp>
      <p:sp>
        <p:nvSpPr>
          <p:cNvPr id="526" name="Text 18"/>
          <p:cNvSpPr/>
          <p:nvPr/>
        </p:nvSpPr>
        <p:spPr>
          <a:xfrm>
            <a:off x="1033200" y="4480560"/>
            <a:ext cx="4571640" cy="722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Real systems often add an external safety layer.</a:t>
            </a:r>
            <a:endParaRPr lang="en-US" sz="1700" b="0" u="none" strike="noStrike">
              <a:solidFill>
                <a:srgbClr val="000000"/>
              </a:solidFill>
              <a:effectLst/>
              <a:uFillTx/>
              <a:latin typeface="Arial"/>
            </a:endParaRPr>
          </a:p>
        </p:txBody>
      </p:sp>
      <p:sp>
        <p:nvSpPr>
          <p:cNvPr id="527" name="Shape 19"/>
          <p:cNvSpPr/>
          <p:nvPr/>
        </p:nvSpPr>
        <p:spPr>
          <a:xfrm>
            <a:off x="6419160" y="3758040"/>
            <a:ext cx="4974120" cy="1590840"/>
          </a:xfrm>
          <a:prstGeom prst="roundRect">
            <a:avLst>
              <a:gd name="adj" fmla="val 7471"/>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8" name="Shape 20"/>
          <p:cNvSpPr/>
          <p:nvPr/>
        </p:nvSpPr>
        <p:spPr>
          <a:xfrm>
            <a:off x="6437520" y="3776400"/>
            <a:ext cx="4937400" cy="63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FFFFFF"/>
              </a:solidFill>
              <a:effectLst/>
              <a:uFillTx/>
              <a:latin typeface="Arial"/>
            </a:endParaRPr>
          </a:p>
        </p:txBody>
      </p:sp>
      <p:sp>
        <p:nvSpPr>
          <p:cNvPr id="529" name="Text 21"/>
          <p:cNvSpPr/>
          <p:nvPr/>
        </p:nvSpPr>
        <p:spPr>
          <a:xfrm>
            <a:off x="6620400" y="3977640"/>
            <a:ext cx="45716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4283F"/>
                </a:solidFill>
                <a:effectLst/>
                <a:uFillTx/>
                <a:latin typeface="Aptos"/>
                <a:ea typeface="Aptos"/>
              </a:rPr>
              <a:t>Small, checked task set</a:t>
            </a:r>
            <a:endParaRPr lang="en-US" sz="2000" b="0" u="none" strike="noStrike">
              <a:solidFill>
                <a:srgbClr val="000000"/>
              </a:solidFill>
              <a:effectLst/>
              <a:uFillTx/>
              <a:latin typeface="Arial"/>
            </a:endParaRPr>
          </a:p>
        </p:txBody>
      </p:sp>
      <p:sp>
        <p:nvSpPr>
          <p:cNvPr id="530" name="Text 22"/>
          <p:cNvSpPr/>
          <p:nvPr/>
        </p:nvSpPr>
        <p:spPr>
          <a:xfrm>
            <a:off x="6620400" y="4480560"/>
            <a:ext cx="4571640" cy="722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700" b="0" u="none" strike="noStrike">
                <a:solidFill>
                  <a:srgbClr val="64778B"/>
                </a:solidFill>
                <a:effectLst/>
                <a:uFillTx/>
                <a:latin typeface="Aptos"/>
                <a:ea typeface="Aptos"/>
              </a:rPr>
              <a:t>240 tasks: quality, but limited scale.</a:t>
            </a:r>
            <a:endParaRPr lang="en-US" sz="1700" b="0" u="none" strike="noStrike">
              <a:solidFill>
                <a:srgbClr val="000000"/>
              </a:solidFill>
              <a:effectLst/>
              <a:uFillTx/>
              <a:latin typeface="Arial"/>
            </a:endParaRPr>
          </a:p>
        </p:txBody>
      </p:sp>
      <p:sp>
        <p:nvSpPr>
          <p:cNvPr id="531" name="Shape 23"/>
          <p:cNvSpPr/>
          <p:nvPr/>
        </p:nvSpPr>
        <p:spPr>
          <a:xfrm>
            <a:off x="713160" y="5943600"/>
            <a:ext cx="10762200" cy="411120"/>
          </a:xfrm>
          <a:prstGeom prst="roundRect">
            <a:avLst>
              <a:gd name="adj" fmla="val 26667"/>
            </a:avLst>
          </a:prstGeom>
          <a:solidFill>
            <a:srgbClr val="EEF3F7"/>
          </a:solidFill>
          <a:ln w="12700">
            <a:solidFill>
              <a:srgbClr val="EEF3F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32" name="Text 24"/>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Good benchmark performance does not prove real-world deployment safety.</a:t>
            </a:r>
            <a:endParaRPr lang="en-US" sz="15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533"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534"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CONCLUSIONS &amp; FUTURE WORK</a:t>
            </a:r>
            <a:endParaRPr lang="en-US" sz="1100" b="0" u="none" strike="noStrike">
              <a:solidFill>
                <a:srgbClr val="000000"/>
              </a:solidFill>
              <a:effectLst/>
              <a:uFillTx/>
              <a:latin typeface="Arial"/>
            </a:endParaRPr>
          </a:p>
        </p:txBody>
      </p:sp>
      <p:sp>
        <p:nvSpPr>
          <p:cNvPr id="535"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The key shift: from capable to dependable</a:t>
            </a:r>
            <a:endParaRPr lang="en-US" sz="3000" b="0" u="none" strike="noStrike">
              <a:solidFill>
                <a:srgbClr val="000000"/>
              </a:solidFill>
              <a:effectLst/>
              <a:uFillTx/>
              <a:latin typeface="Arial"/>
            </a:endParaRPr>
          </a:p>
        </p:txBody>
      </p:sp>
      <p:sp>
        <p:nvSpPr>
          <p:cNvPr id="536"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37"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38"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 CAR-bench, Sections 6–7, pp. 9–10</a:t>
            </a:r>
            <a:endParaRPr lang="en-US" sz="860" b="0" u="none" strike="noStrike">
              <a:solidFill>
                <a:srgbClr val="000000"/>
              </a:solidFill>
              <a:effectLst/>
              <a:uFillTx/>
              <a:latin typeface="Arial"/>
            </a:endParaRPr>
          </a:p>
        </p:txBody>
      </p:sp>
      <p:sp>
        <p:nvSpPr>
          <p:cNvPr id="539"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19</a:t>
            </a:r>
            <a:endParaRPr lang="en-US" sz="1000" b="0" u="none" strike="noStrike">
              <a:solidFill>
                <a:srgbClr val="000000"/>
              </a:solidFill>
              <a:effectLst/>
              <a:uFillTx/>
              <a:latin typeface="Arial"/>
            </a:endParaRPr>
          </a:p>
        </p:txBody>
      </p:sp>
      <p:sp>
        <p:nvSpPr>
          <p:cNvPr id="540" name="Shape 7"/>
          <p:cNvSpPr/>
          <p:nvPr/>
        </p:nvSpPr>
        <p:spPr>
          <a:xfrm>
            <a:off x="768240" y="1755720"/>
            <a:ext cx="5531760" cy="3318840"/>
          </a:xfrm>
          <a:prstGeom prst="roundRect">
            <a:avLst>
              <a:gd name="adj" fmla="val 4683"/>
            </a:avLst>
          </a:prstGeom>
          <a:solidFill>
            <a:srgbClr val="102337"/>
          </a:solidFill>
          <a:ln w="12700">
            <a:solidFill>
              <a:srgbClr val="102337">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1" name="Text 8"/>
          <p:cNvSpPr/>
          <p:nvPr/>
        </p:nvSpPr>
        <p:spPr>
          <a:xfrm>
            <a:off x="1024200" y="1993320"/>
            <a:ext cx="495576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spc="99">
                <a:solidFill>
                  <a:srgbClr val="75DCD3"/>
                </a:solidFill>
                <a:effectLst/>
                <a:uFillTx/>
                <a:latin typeface="Aptos"/>
                <a:ea typeface="Aptos"/>
              </a:rPr>
              <a:t>MAIN CONCLUSIONS</a:t>
            </a:r>
            <a:endParaRPr lang="en-US" sz="1500" b="0" u="none" strike="noStrike">
              <a:solidFill>
                <a:srgbClr val="000000"/>
              </a:solidFill>
              <a:effectLst/>
              <a:uFillTx/>
              <a:latin typeface="Arial"/>
            </a:endParaRPr>
          </a:p>
        </p:txBody>
      </p:sp>
      <p:sp>
        <p:nvSpPr>
          <p:cNvPr id="542" name="Shape 9"/>
          <p:cNvSpPr/>
          <p:nvPr/>
        </p:nvSpPr>
        <p:spPr>
          <a:xfrm>
            <a:off x="1024200" y="2679120"/>
            <a:ext cx="402120" cy="40212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3" name="Text 10"/>
          <p:cNvSpPr/>
          <p:nvPr/>
        </p:nvSpPr>
        <p:spPr>
          <a:xfrm>
            <a:off x="1051560" y="2743200"/>
            <a:ext cx="35640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ea typeface="Aptos"/>
              </a:rPr>
              <a:t>1</a:t>
            </a:r>
            <a:endParaRPr lang="en-US" sz="1300" b="0" u="none" strike="noStrike">
              <a:solidFill>
                <a:srgbClr val="000000"/>
              </a:solidFill>
              <a:effectLst/>
              <a:uFillTx/>
              <a:latin typeface="Arial"/>
            </a:endParaRPr>
          </a:p>
        </p:txBody>
      </p:sp>
      <p:sp>
        <p:nvSpPr>
          <p:cNvPr id="544" name="Text 11"/>
          <p:cNvSpPr/>
          <p:nvPr/>
        </p:nvSpPr>
        <p:spPr>
          <a:xfrm>
            <a:off x="1627560" y="2697480"/>
            <a:ext cx="433404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0" u="none" strike="noStrike">
                <a:solidFill>
                  <a:srgbClr val="FFFFFF"/>
                </a:solidFill>
                <a:effectLst/>
                <a:uFillTx/>
                <a:latin typeface="Aptos"/>
                <a:ea typeface="Aptos"/>
              </a:rPr>
              <a:t>A single success is not enough.</a:t>
            </a:r>
            <a:endParaRPr lang="en-US" sz="1700" b="0" u="none" strike="noStrike">
              <a:solidFill>
                <a:srgbClr val="000000"/>
              </a:solidFill>
              <a:effectLst/>
              <a:uFillTx/>
              <a:latin typeface="Arial"/>
            </a:endParaRPr>
          </a:p>
        </p:txBody>
      </p:sp>
      <p:sp>
        <p:nvSpPr>
          <p:cNvPr id="545" name="Shape 12"/>
          <p:cNvSpPr/>
          <p:nvPr/>
        </p:nvSpPr>
        <p:spPr>
          <a:xfrm>
            <a:off x="1024200" y="3337560"/>
            <a:ext cx="402120" cy="40212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6" name="Text 13"/>
          <p:cNvSpPr/>
          <p:nvPr/>
        </p:nvSpPr>
        <p:spPr>
          <a:xfrm>
            <a:off x="1051560" y="3401640"/>
            <a:ext cx="35640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ea typeface="Aptos"/>
              </a:rPr>
              <a:t>2</a:t>
            </a:r>
            <a:endParaRPr lang="en-US" sz="1300" b="0" u="none" strike="noStrike">
              <a:solidFill>
                <a:srgbClr val="000000"/>
              </a:solidFill>
              <a:effectLst/>
              <a:uFillTx/>
              <a:latin typeface="Arial"/>
            </a:endParaRPr>
          </a:p>
        </p:txBody>
      </p:sp>
      <p:sp>
        <p:nvSpPr>
          <p:cNvPr id="547" name="Text 14"/>
          <p:cNvSpPr/>
          <p:nvPr/>
        </p:nvSpPr>
        <p:spPr>
          <a:xfrm>
            <a:off x="1627560" y="3355920"/>
            <a:ext cx="433404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0" u="none" strike="noStrike">
                <a:solidFill>
                  <a:srgbClr val="FFFFFF"/>
                </a:solidFill>
                <a:effectLst/>
                <a:uFillTx/>
                <a:latin typeface="Aptos"/>
                <a:ea typeface="Aptos"/>
              </a:rPr>
              <a:t>Thinking helps, but can still act too early.</a:t>
            </a:r>
            <a:endParaRPr lang="en-US" sz="1700" b="0" u="none" strike="noStrike">
              <a:solidFill>
                <a:srgbClr val="000000"/>
              </a:solidFill>
              <a:effectLst/>
              <a:uFillTx/>
              <a:latin typeface="Arial"/>
            </a:endParaRPr>
          </a:p>
        </p:txBody>
      </p:sp>
      <p:sp>
        <p:nvSpPr>
          <p:cNvPr id="548" name="Shape 15"/>
          <p:cNvSpPr/>
          <p:nvPr/>
        </p:nvSpPr>
        <p:spPr>
          <a:xfrm>
            <a:off x="1024200" y="3996000"/>
            <a:ext cx="402120" cy="402120"/>
          </a:xfrm>
          <a:prstGeom prst="ellipse">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9" name="Text 16"/>
          <p:cNvSpPr/>
          <p:nvPr/>
        </p:nvSpPr>
        <p:spPr>
          <a:xfrm>
            <a:off x="1051560" y="4060080"/>
            <a:ext cx="35640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ea typeface="Aptos"/>
              </a:rPr>
              <a:t>3</a:t>
            </a:r>
            <a:endParaRPr lang="en-US" sz="1300" b="0" u="none" strike="noStrike">
              <a:solidFill>
                <a:srgbClr val="000000"/>
              </a:solidFill>
              <a:effectLst/>
              <a:uFillTx/>
              <a:latin typeface="Arial"/>
            </a:endParaRPr>
          </a:p>
        </p:txBody>
      </p:sp>
      <p:sp>
        <p:nvSpPr>
          <p:cNvPr id="550" name="Text 17"/>
          <p:cNvSpPr/>
          <p:nvPr/>
        </p:nvSpPr>
        <p:spPr>
          <a:xfrm>
            <a:off x="1627560" y="4014360"/>
            <a:ext cx="433404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0" u="none" strike="noStrike">
                <a:solidFill>
                  <a:srgbClr val="FFFFFF"/>
                </a:solidFill>
                <a:effectLst/>
                <a:uFillTx/>
                <a:latin typeface="Aptos"/>
                <a:ea typeface="Aptos"/>
              </a:rPr>
              <a:t>Agents must know when to ask or stop.</a:t>
            </a:r>
            <a:endParaRPr lang="en-US" sz="1700" b="0" u="none" strike="noStrike">
              <a:solidFill>
                <a:srgbClr val="000000"/>
              </a:solidFill>
              <a:effectLst/>
              <a:uFillTx/>
              <a:latin typeface="Arial"/>
            </a:endParaRPr>
          </a:p>
        </p:txBody>
      </p:sp>
      <p:sp>
        <p:nvSpPr>
          <p:cNvPr id="551" name="Shape 18"/>
          <p:cNvSpPr/>
          <p:nvPr/>
        </p:nvSpPr>
        <p:spPr>
          <a:xfrm>
            <a:off x="6565320" y="1755720"/>
            <a:ext cx="4836960" cy="3318840"/>
          </a:xfrm>
          <a:prstGeom prst="roundRect">
            <a:avLst>
              <a:gd name="adj" fmla="val 4683"/>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2" name="Text 19"/>
          <p:cNvSpPr/>
          <p:nvPr/>
        </p:nvSpPr>
        <p:spPr>
          <a:xfrm>
            <a:off x="6812280" y="1993320"/>
            <a:ext cx="43063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spc="99">
                <a:solidFill>
                  <a:srgbClr val="119F9A"/>
                </a:solidFill>
                <a:effectLst/>
                <a:uFillTx/>
                <a:latin typeface="Aptos"/>
                <a:ea typeface="Aptos"/>
              </a:rPr>
              <a:t>FUTURE WORK</a:t>
            </a:r>
            <a:endParaRPr lang="en-US" sz="1500" b="0" u="none" strike="noStrike">
              <a:solidFill>
                <a:srgbClr val="000000"/>
              </a:solidFill>
              <a:effectLst/>
              <a:uFillTx/>
              <a:latin typeface="Arial"/>
            </a:endParaRPr>
          </a:p>
        </p:txBody>
      </p:sp>
      <p:sp>
        <p:nvSpPr>
          <p:cNvPr id="553" name="Text 20"/>
          <p:cNvSpPr/>
          <p:nvPr/>
        </p:nvSpPr>
        <p:spPr>
          <a:xfrm>
            <a:off x="6849000" y="2734200"/>
            <a:ext cx="4658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119F9A"/>
                </a:solidFill>
                <a:effectLst/>
                <a:uFillTx/>
                <a:latin typeface="Aptos"/>
                <a:ea typeface="Aptos"/>
              </a:rPr>
              <a:t>01</a:t>
            </a:r>
            <a:endParaRPr lang="en-US" sz="1300" b="0" u="none" strike="noStrike">
              <a:solidFill>
                <a:srgbClr val="000000"/>
              </a:solidFill>
              <a:effectLst/>
              <a:uFillTx/>
              <a:latin typeface="Arial"/>
            </a:endParaRPr>
          </a:p>
        </p:txBody>
      </p:sp>
      <p:sp>
        <p:nvSpPr>
          <p:cNvPr id="554" name="Text 21"/>
          <p:cNvSpPr/>
          <p:nvPr/>
        </p:nvSpPr>
        <p:spPr>
          <a:xfrm>
            <a:off x="7434000" y="2642760"/>
            <a:ext cx="36025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Better user simulation</a:t>
            </a:r>
            <a:endParaRPr lang="en-US" sz="1700" b="0" u="none" strike="noStrike">
              <a:solidFill>
                <a:srgbClr val="000000"/>
              </a:solidFill>
              <a:effectLst/>
              <a:uFillTx/>
              <a:latin typeface="Arial"/>
            </a:endParaRPr>
          </a:p>
        </p:txBody>
      </p:sp>
      <p:sp>
        <p:nvSpPr>
          <p:cNvPr id="555" name="Text 22"/>
          <p:cNvSpPr/>
          <p:nvPr/>
        </p:nvSpPr>
        <p:spPr>
          <a:xfrm>
            <a:off x="6849000" y="3420000"/>
            <a:ext cx="4658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119F9A"/>
                </a:solidFill>
                <a:effectLst/>
                <a:uFillTx/>
                <a:latin typeface="Aptos"/>
                <a:ea typeface="Aptos"/>
              </a:rPr>
              <a:t>02</a:t>
            </a:r>
            <a:endParaRPr lang="en-US" sz="1300" b="0" u="none" strike="noStrike">
              <a:solidFill>
                <a:srgbClr val="000000"/>
              </a:solidFill>
              <a:effectLst/>
              <a:uFillTx/>
              <a:latin typeface="Arial"/>
            </a:endParaRPr>
          </a:p>
        </p:txBody>
      </p:sp>
      <p:sp>
        <p:nvSpPr>
          <p:cNvPr id="556" name="Text 23"/>
          <p:cNvSpPr/>
          <p:nvPr/>
        </p:nvSpPr>
        <p:spPr>
          <a:xfrm>
            <a:off x="7434000" y="3328560"/>
            <a:ext cx="36025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700" b="1" u="none" strike="noStrike">
                <a:solidFill>
                  <a:srgbClr val="14283F"/>
                </a:solidFill>
                <a:effectLst/>
                <a:uFillTx/>
                <a:latin typeface="Aptos"/>
                <a:ea typeface="Aptos"/>
              </a:rPr>
              <a:t>Safer decision / execution design</a:t>
            </a:r>
            <a:endParaRPr lang="en-US" sz="1700" b="0" u="none" strike="noStrike">
              <a:solidFill>
                <a:srgbClr val="000000"/>
              </a:solidFill>
              <a:effectLst/>
              <a:uFillTx/>
              <a:latin typeface="Arial"/>
            </a:endParaRPr>
          </a:p>
        </p:txBody>
      </p:sp>
      <p:sp>
        <p:nvSpPr>
          <p:cNvPr id="557" name="Text 24"/>
          <p:cNvSpPr/>
          <p:nvPr/>
        </p:nvSpPr>
        <p:spPr>
          <a:xfrm>
            <a:off x="6849000" y="4105800"/>
            <a:ext cx="4658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119F9A"/>
                </a:solidFill>
                <a:effectLst/>
                <a:uFillTx/>
                <a:latin typeface="Aptos"/>
                <a:ea typeface="Aptos"/>
              </a:rPr>
              <a:t>03</a:t>
            </a:r>
            <a:endParaRPr lang="en-US" sz="1300" b="0" u="none" strike="noStrike">
              <a:solidFill>
                <a:srgbClr val="000000"/>
              </a:solidFill>
              <a:effectLst/>
              <a:uFillTx/>
              <a:latin typeface="Arial"/>
            </a:endParaRPr>
          </a:p>
        </p:txBody>
      </p:sp>
      <p:sp>
        <p:nvSpPr>
          <p:cNvPr id="558" name="Text 25"/>
          <p:cNvSpPr/>
          <p:nvPr/>
        </p:nvSpPr>
        <p:spPr>
          <a:xfrm>
            <a:off x="7434000" y="4014360"/>
            <a:ext cx="36025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tabLst>
                <a:tab pos="0" algn="l"/>
              </a:tabLst>
            </a:pPr>
            <a:r>
              <a:rPr lang="en-US" sz="1700" b="1" u="none" strike="noStrike">
                <a:solidFill>
                  <a:srgbClr val="14283F"/>
                </a:solidFill>
                <a:effectLst/>
                <a:uFillTx/>
                <a:latin typeface="Aptos"/>
                <a:ea typeface="Aptos"/>
              </a:rPr>
              <a:t>Larger datasets and model training</a:t>
            </a:r>
            <a:endParaRPr lang="en-US" sz="1700" b="0" u="none" strike="noStrike">
              <a:solidFill>
                <a:srgbClr val="000000"/>
              </a:solidFill>
              <a:effectLst/>
              <a:uFillTx/>
              <a:latin typeface="Arial"/>
            </a:endParaRPr>
          </a:p>
        </p:txBody>
      </p:sp>
      <p:sp>
        <p:nvSpPr>
          <p:cNvPr id="559" name="Shape 26"/>
          <p:cNvSpPr/>
          <p:nvPr/>
        </p:nvSpPr>
        <p:spPr>
          <a:xfrm>
            <a:off x="713160" y="5943600"/>
            <a:ext cx="10762200" cy="411120"/>
          </a:xfrm>
          <a:prstGeom prst="roundRect">
            <a:avLst>
              <a:gd name="adj" fmla="val 26667"/>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60" name="Text 27"/>
          <p:cNvSpPr/>
          <p:nvPr/>
        </p:nvSpPr>
        <p:spPr>
          <a:xfrm>
            <a:off x="877680" y="6026040"/>
            <a:ext cx="10378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500" b="1" u="none" strike="noStrike">
                <a:solidFill>
                  <a:srgbClr val="14283F"/>
                </a:solidFill>
                <a:effectLst/>
                <a:uFillTx/>
                <a:latin typeface="Aptos"/>
                <a:ea typeface="Aptos"/>
              </a:rPr>
              <a:t>Reliable action requires the right information, the right rules, and repeatability.</a:t>
            </a:r>
            <a:endParaRPr lang="en-US" sz="15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2337"/>
        </a:solidFill>
        <a:effectLst/>
      </p:bgPr>
    </p:bg>
    <p:spTree>
      <p:nvGrpSpPr>
        <p:cNvPr id="1" name=""/>
        <p:cNvGrpSpPr/>
        <p:nvPr/>
      </p:nvGrpSpPr>
      <p:grpSpPr>
        <a:xfrm>
          <a:off x="0" y="0"/>
          <a:ext cx="0" cy="0"/>
          <a:chOff x="0" y="0"/>
          <a:chExt cx="0" cy="0"/>
        </a:xfrm>
      </p:grpSpPr>
      <p:sp>
        <p:nvSpPr>
          <p:cNvPr id="594" name="Shape 0"/>
          <p:cNvSpPr/>
          <p:nvPr/>
        </p:nvSpPr>
        <p:spPr>
          <a:xfrm>
            <a:off x="0" y="0"/>
            <a:ext cx="145800" cy="685764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5" name="Text 1"/>
          <p:cNvSpPr/>
          <p:nvPr/>
        </p:nvSpPr>
        <p:spPr>
          <a:xfrm>
            <a:off x="795600" y="722520"/>
            <a:ext cx="9143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spc="201">
                <a:solidFill>
                  <a:srgbClr val="72DED3"/>
                </a:solidFill>
                <a:effectLst/>
                <a:uFillTx/>
                <a:latin typeface="Aptos"/>
                <a:ea typeface="Aptos"/>
              </a:rPr>
              <a:t>TAKEAWAY</a:t>
            </a:r>
            <a:endParaRPr lang="en-US" sz="1400" b="0" u="none" strike="noStrike">
              <a:solidFill>
                <a:srgbClr val="FFFFFF"/>
              </a:solidFill>
              <a:effectLst/>
              <a:uFillTx/>
              <a:latin typeface="Arial"/>
            </a:endParaRPr>
          </a:p>
        </p:txBody>
      </p:sp>
      <p:sp>
        <p:nvSpPr>
          <p:cNvPr id="596" name="Text 2"/>
          <p:cNvSpPr/>
          <p:nvPr/>
        </p:nvSpPr>
        <p:spPr>
          <a:xfrm>
            <a:off x="768240" y="1417320"/>
            <a:ext cx="10606680" cy="1298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4200" b="1" u="none" strike="noStrike">
                <a:solidFill>
                  <a:srgbClr val="FFFFFF"/>
                </a:solidFill>
                <a:effectLst/>
                <a:uFillTx/>
                <a:latin typeface="Aptos"/>
                <a:ea typeface="Aptos"/>
              </a:rPr>
              <a:t>A reliable agent knows</a:t>
            </a:r>
            <a:endParaRPr lang="en-US" sz="4200" b="0" u="none" strike="noStrike">
              <a:solidFill>
                <a:srgbClr val="FFFFFF"/>
              </a:solidFill>
              <a:effectLst/>
              <a:uFillTx/>
              <a:latin typeface="Arial"/>
            </a:endParaRPr>
          </a:p>
          <a:p>
            <a:pPr defTabSz="914400">
              <a:lnSpc>
                <a:spcPct val="100000"/>
              </a:lnSpc>
              <a:tabLst>
                <a:tab pos="0" algn="l"/>
              </a:tabLst>
            </a:pPr>
            <a:r>
              <a:rPr lang="en-US" sz="4200" b="1" u="none" strike="noStrike">
                <a:solidFill>
                  <a:srgbClr val="FFFFFF"/>
                </a:solidFill>
                <a:effectLst/>
                <a:uFillTx/>
                <a:latin typeface="Aptos"/>
                <a:ea typeface="Aptos"/>
              </a:rPr>
              <a:t>when to…</a:t>
            </a:r>
            <a:endParaRPr lang="en-US" sz="4200" b="0" u="none" strike="noStrike">
              <a:solidFill>
                <a:srgbClr val="FFFFFF"/>
              </a:solidFill>
              <a:effectLst/>
              <a:uFillTx/>
              <a:latin typeface="Arial"/>
            </a:endParaRPr>
          </a:p>
        </p:txBody>
      </p:sp>
      <p:sp>
        <p:nvSpPr>
          <p:cNvPr id="597" name="Shape 3"/>
          <p:cNvSpPr/>
          <p:nvPr/>
        </p:nvSpPr>
        <p:spPr>
          <a:xfrm>
            <a:off x="804600" y="3401640"/>
            <a:ext cx="3456000" cy="1298160"/>
          </a:xfrm>
          <a:prstGeom prst="roundRect">
            <a:avLst>
              <a:gd name="adj" fmla="val 11972"/>
            </a:avLst>
          </a:prstGeom>
          <a:solidFill>
            <a:srgbClr val="1D3548"/>
          </a:solidFill>
          <a:ln w="12700">
            <a:solidFill>
              <a:srgbClr val="1D354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8" name="Text 4"/>
          <p:cNvSpPr/>
          <p:nvPr/>
        </p:nvSpPr>
        <p:spPr>
          <a:xfrm>
            <a:off x="969120" y="3575160"/>
            <a:ext cx="31269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3000" b="1" u="none" strike="noStrike">
                <a:solidFill>
                  <a:srgbClr val="119F9A"/>
                </a:solidFill>
                <a:effectLst/>
                <a:uFillTx/>
                <a:latin typeface="Aptos"/>
                <a:ea typeface="Aptos"/>
              </a:rPr>
              <a:t>ACT</a:t>
            </a:r>
            <a:endParaRPr lang="en-US" sz="3000" b="0" u="none" strike="noStrike">
              <a:solidFill>
                <a:srgbClr val="FFFFFF"/>
              </a:solidFill>
              <a:effectLst/>
              <a:uFillTx/>
              <a:latin typeface="Arial"/>
            </a:endParaRPr>
          </a:p>
        </p:txBody>
      </p:sp>
      <p:sp>
        <p:nvSpPr>
          <p:cNvPr id="599" name="Text 5"/>
          <p:cNvSpPr/>
          <p:nvPr/>
        </p:nvSpPr>
        <p:spPr>
          <a:xfrm>
            <a:off x="969120" y="4105800"/>
            <a:ext cx="312696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FFFFFF"/>
                </a:solidFill>
                <a:effectLst/>
                <a:uFillTx/>
                <a:latin typeface="Aptos"/>
                <a:ea typeface="Aptos"/>
              </a:rPr>
              <a:t>when ready</a:t>
            </a:r>
            <a:endParaRPr lang="en-US" sz="1700" b="0" u="none" strike="noStrike">
              <a:solidFill>
                <a:srgbClr val="FFFFFF"/>
              </a:solidFill>
              <a:effectLst/>
              <a:uFillTx/>
              <a:latin typeface="Arial"/>
            </a:endParaRPr>
          </a:p>
        </p:txBody>
      </p:sp>
      <p:sp>
        <p:nvSpPr>
          <p:cNvPr id="600" name="Shape 6"/>
          <p:cNvSpPr/>
          <p:nvPr/>
        </p:nvSpPr>
        <p:spPr>
          <a:xfrm>
            <a:off x="4626720" y="3401640"/>
            <a:ext cx="3456000" cy="1298160"/>
          </a:xfrm>
          <a:prstGeom prst="roundRect">
            <a:avLst>
              <a:gd name="adj" fmla="val 11972"/>
            </a:avLst>
          </a:prstGeom>
          <a:solidFill>
            <a:srgbClr val="1D3548"/>
          </a:solidFill>
          <a:ln w="12700">
            <a:solidFill>
              <a:srgbClr val="1D354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1" name="Text 7"/>
          <p:cNvSpPr/>
          <p:nvPr/>
        </p:nvSpPr>
        <p:spPr>
          <a:xfrm>
            <a:off x="4791600" y="3575160"/>
            <a:ext cx="31269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3000" b="1" u="none" strike="noStrike">
                <a:solidFill>
                  <a:srgbClr val="F0A04B"/>
                </a:solidFill>
                <a:effectLst/>
                <a:uFillTx/>
                <a:latin typeface="Aptos"/>
                <a:ea typeface="Aptos"/>
              </a:rPr>
              <a:t>ASK</a:t>
            </a:r>
            <a:endParaRPr lang="en-US" sz="3000" b="0" u="none" strike="noStrike">
              <a:solidFill>
                <a:srgbClr val="FFFFFF"/>
              </a:solidFill>
              <a:effectLst/>
              <a:uFillTx/>
              <a:latin typeface="Arial"/>
            </a:endParaRPr>
          </a:p>
        </p:txBody>
      </p:sp>
      <p:sp>
        <p:nvSpPr>
          <p:cNvPr id="602" name="Text 8"/>
          <p:cNvSpPr/>
          <p:nvPr/>
        </p:nvSpPr>
        <p:spPr>
          <a:xfrm>
            <a:off x="4791600" y="4105800"/>
            <a:ext cx="312696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FFFFFF"/>
                </a:solidFill>
                <a:effectLst/>
                <a:uFillTx/>
                <a:latin typeface="Aptos"/>
                <a:ea typeface="Aptos"/>
              </a:rPr>
              <a:t>when unclear</a:t>
            </a:r>
            <a:endParaRPr lang="en-US" sz="1700" b="0" u="none" strike="noStrike">
              <a:solidFill>
                <a:srgbClr val="FFFFFF"/>
              </a:solidFill>
              <a:effectLst/>
              <a:uFillTx/>
              <a:latin typeface="Arial"/>
            </a:endParaRPr>
          </a:p>
        </p:txBody>
      </p:sp>
      <p:sp>
        <p:nvSpPr>
          <p:cNvPr id="603" name="Shape 9"/>
          <p:cNvSpPr/>
          <p:nvPr/>
        </p:nvSpPr>
        <p:spPr>
          <a:xfrm>
            <a:off x="8449200" y="3401640"/>
            <a:ext cx="3456000" cy="1298160"/>
          </a:xfrm>
          <a:prstGeom prst="roundRect">
            <a:avLst>
              <a:gd name="adj" fmla="val 11972"/>
            </a:avLst>
          </a:prstGeom>
          <a:solidFill>
            <a:srgbClr val="1D3548"/>
          </a:solidFill>
          <a:ln w="12700">
            <a:solidFill>
              <a:srgbClr val="1D3548">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4" name="Text 10"/>
          <p:cNvSpPr/>
          <p:nvPr/>
        </p:nvSpPr>
        <p:spPr>
          <a:xfrm>
            <a:off x="8613720" y="3575160"/>
            <a:ext cx="31269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gn="ctr" defTabSz="914400">
              <a:lnSpc>
                <a:spcPct val="100000"/>
              </a:lnSpc>
              <a:tabLst>
                <a:tab pos="0" algn="l"/>
              </a:tabLst>
            </a:pPr>
            <a:r>
              <a:rPr lang="en-US" sz="3000" b="1" u="none" strike="noStrike">
                <a:solidFill>
                  <a:srgbClr val="D65F62"/>
                </a:solidFill>
                <a:effectLst/>
                <a:uFillTx/>
                <a:latin typeface="Aptos"/>
                <a:ea typeface="Aptos"/>
              </a:rPr>
              <a:t>STOP</a:t>
            </a:r>
            <a:endParaRPr lang="en-US" sz="3000" b="0" u="none" strike="noStrike">
              <a:solidFill>
                <a:srgbClr val="FFFFFF"/>
              </a:solidFill>
              <a:effectLst/>
              <a:uFillTx/>
              <a:latin typeface="Arial"/>
            </a:endParaRPr>
          </a:p>
        </p:txBody>
      </p:sp>
      <p:sp>
        <p:nvSpPr>
          <p:cNvPr id="605" name="Text 11"/>
          <p:cNvSpPr/>
          <p:nvPr/>
        </p:nvSpPr>
        <p:spPr>
          <a:xfrm>
            <a:off x="8613720" y="4105800"/>
            <a:ext cx="312696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700" b="0" u="none" strike="noStrike">
                <a:solidFill>
                  <a:srgbClr val="FFFFFF"/>
                </a:solidFill>
                <a:effectLst/>
                <a:uFillTx/>
                <a:latin typeface="Aptos"/>
                <a:ea typeface="Aptos"/>
              </a:rPr>
              <a:t>when unable</a:t>
            </a:r>
            <a:endParaRPr lang="en-US" sz="1700" b="0" u="none" strike="noStrike">
              <a:solidFill>
                <a:srgbClr val="FFFFFF"/>
              </a:solidFill>
              <a:effectLst/>
              <a:uFillTx/>
              <a:latin typeface="Arial"/>
            </a:endParaRPr>
          </a:p>
        </p:txBody>
      </p:sp>
      <p:sp>
        <p:nvSpPr>
          <p:cNvPr id="606" name="Text 12"/>
          <p:cNvSpPr/>
          <p:nvPr/>
        </p:nvSpPr>
        <p:spPr>
          <a:xfrm>
            <a:off x="831960" y="5879520"/>
            <a:ext cx="10039680" cy="33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100" b="0" u="none" strike="noStrike">
                <a:solidFill>
                  <a:srgbClr val="CEDCE5"/>
                </a:solidFill>
                <a:effectLst/>
                <a:uFillTx/>
                <a:latin typeface="Aptos"/>
                <a:ea typeface="Aptos"/>
              </a:rPr>
              <a:t>Thank you  •  Questions?</a:t>
            </a:r>
            <a:endParaRPr lang="en-US" sz="2100" b="0" u="none" strike="noStrike">
              <a:solidFill>
                <a:srgbClr val="FFFFFF"/>
              </a:solidFill>
              <a:effectLst/>
              <a:uFillTx/>
              <a:latin typeface="Arial"/>
            </a:endParaRPr>
          </a:p>
        </p:txBody>
      </p:sp>
    </p:spTree>
  </p:cSld>
  <p:clrMapOvr>
    <a:masterClrMapping/>
  </p:clrMapOvr>
</p:sld>
</file>

<file path=ppt/slides/slide22.xml><?xml version="1.0" encoding="utf-8"?>
<p:sld xmlns:a="http://schemas.openxmlformats.org/drawingml/2006/main"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607" name="Shape 0"/>
          <p:cNvSpPr/>
          <p:nvPr/>
        </p:nvSpPr>
        <p:spPr>
          <a:xfrm>
            <a:off x="0" y="0"/>
            <a:ext cx="12191400" cy="72720"/>
          </a:xfrm>
          <a:prstGeom prst="rect">
            <a:avLst/>
          </a:prstGeom>
          <a:solidFill>
            <a:srgbClr val="119F9A"/>
          </a:solidFill>
          <a:ln w="12700">
            <a:solidFill>
              <a:srgbClr val="119F9A"/>
            </a:solidFill>
            <a:round/>
          </a:ln>
        </p:spPr>
        <p:style>
          <a:lnRef idx="0">
            <a:scrgbClr r="0" g="0" b="0"/>
          </a:lnRef>
          <a:fillRef idx="0">
            <a:scrgbClr r="0" g="0" b="0"/>
          </a:fillRef>
          <a:effectRef idx="0">
            <a:scrgbClr r="0" g="0" b="0"/>
          </a:effectRef>
          <a:fontRef idx="minor"/>
        </p:style>
        <p:txBody>
          <a:bodyPr lIns="90000" tIns="28080" rIns="90000" bIns="28080" anchor="t">
            <a:noAutofit/>
          </a:bodyPr>
          <a:lstStyle/>
          <a:p>
            <a:endParaRPr lang="en-US" sz="1800" b="0" u="none" strike="noStrike">
              <a:solidFill>
                <a:srgbClr val="FFFFFF"/>
              </a:solidFill>
              <a:effectLst/>
              <a:uFillTx/>
              <a:latin typeface="Arial"/>
            </a:endParaRPr>
          </a:p>
        </p:txBody>
      </p:sp>
      <p:sp>
        <p:nvSpPr>
          <p:cNvPr id="608" name="Text 1"/>
          <p:cNvSpPr/>
          <p:nvPr/>
        </p:nvSpPr>
        <p:spPr>
          <a:xfrm>
            <a:off x="567000" y="274320"/>
            <a:ext cx="10058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00" b="1" u="none" strike="noStrike" spc="210">
                <a:solidFill>
                  <a:srgbClr val="119F9A"/>
                </a:solidFill>
                <a:effectLst/>
                <a:uFillTx/>
                <a:latin typeface="Aptos"/>
                <a:ea typeface="Aptos"/>
              </a:rPr>
              <a:t>REFERENCES</a:t>
            </a:r>
            <a:endParaRPr lang="en-US" sz="1100" b="0" u="none" strike="noStrike">
              <a:solidFill>
                <a:srgbClr val="000000"/>
              </a:solidFill>
              <a:effectLst/>
              <a:uFillTx/>
              <a:latin typeface="Arial"/>
            </a:endParaRPr>
          </a:p>
        </p:txBody>
      </p:sp>
      <p:sp>
        <p:nvSpPr>
          <p:cNvPr id="609" name="Text 2"/>
          <p:cNvSpPr/>
          <p:nvPr/>
        </p:nvSpPr>
        <p:spPr>
          <a:xfrm>
            <a:off x="567000" y="621720"/>
            <a:ext cx="11018160" cy="520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000" b="1" u="none" strike="noStrike">
                <a:solidFill>
                  <a:srgbClr val="14283F"/>
                </a:solidFill>
                <a:effectLst/>
                <a:uFillTx/>
                <a:latin typeface="Aptos"/>
                <a:ea typeface="Aptos"/>
              </a:rPr>
              <a:t>Main paper and related benchmarks</a:t>
            </a:r>
            <a:endParaRPr lang="en-US" sz="3000" b="0" u="none" strike="noStrike">
              <a:solidFill>
                <a:srgbClr val="000000"/>
              </a:solidFill>
              <a:effectLst/>
              <a:uFillTx/>
              <a:latin typeface="Arial"/>
            </a:endParaRPr>
          </a:p>
        </p:txBody>
      </p:sp>
      <p:sp>
        <p:nvSpPr>
          <p:cNvPr id="610" name="Shape 3"/>
          <p:cNvSpPr/>
          <p:nvPr/>
        </p:nvSpPr>
        <p:spPr>
          <a:xfrm>
            <a:off x="566640" y="128016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11" name="Shape 4"/>
          <p:cNvSpPr/>
          <p:nvPr/>
        </p:nvSpPr>
        <p:spPr>
          <a:xfrm>
            <a:off x="566640" y="6519600"/>
            <a:ext cx="11064240" cy="360"/>
          </a:xfrm>
          <a:prstGeom prst="line">
            <a:avLst/>
          </a:prstGeom>
          <a:ln w="12700">
            <a:solidFill>
              <a:srgbClr val="DCE5ED"/>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12" name="Text 5"/>
          <p:cNvSpPr/>
          <p:nvPr/>
        </p:nvSpPr>
        <p:spPr>
          <a:xfrm>
            <a:off x="594360" y="6574680"/>
            <a:ext cx="104238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60" b="0" u="none" strike="noStrike">
                <a:solidFill>
                  <a:srgbClr val="64778B"/>
                </a:solidFill>
                <a:effectLst/>
                <a:uFillTx/>
                <a:latin typeface="Aptos"/>
                <a:ea typeface="Aptos"/>
              </a:rPr>
              <a:t>Sources are cited throughout the slides</a:t>
            </a:r>
            <a:endParaRPr lang="en-US" sz="860" b="0" u="none" strike="noStrike">
              <a:solidFill>
                <a:srgbClr val="000000"/>
              </a:solidFill>
              <a:effectLst/>
              <a:uFillTx/>
              <a:latin typeface="Arial"/>
            </a:endParaRPr>
          </a:p>
        </p:txBody>
      </p:sp>
      <p:sp>
        <p:nvSpPr>
          <p:cNvPr id="613" name="Text 6"/>
          <p:cNvSpPr/>
          <p:nvPr/>
        </p:nvSpPr>
        <p:spPr>
          <a:xfrm>
            <a:off x="11155680" y="6537960"/>
            <a:ext cx="438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914400">
              <a:lnSpc>
                <a:spcPct val="100000"/>
              </a:lnSpc>
              <a:tabLst>
                <a:tab pos="0" algn="l"/>
              </a:tabLst>
            </a:pPr>
            <a:r>
              <a:rPr lang="en-US" sz="1000" b="1" u="none" strike="noStrike">
                <a:solidFill>
                  <a:srgbClr val="64778B"/>
                </a:solidFill>
                <a:effectLst/>
                <a:uFillTx/>
                <a:latin typeface="Aptos"/>
                <a:ea typeface="Aptos"/>
              </a:rPr>
              <a:t>24</a:t>
            </a:r>
            <a:endParaRPr lang="en-US" sz="1000" b="0" u="none" strike="noStrike">
              <a:solidFill>
                <a:srgbClr val="000000"/>
              </a:solidFill>
              <a:effectLst/>
              <a:uFillTx/>
              <a:latin typeface="Arial"/>
            </a:endParaRPr>
          </a:p>
        </p:txBody>
      </p:sp>
      <p:sp>
        <p:nvSpPr>
          <p:cNvPr id="614" name="Shape 7"/>
          <p:cNvSpPr/>
          <p:nvPr/>
        </p:nvSpPr>
        <p:spPr>
          <a:xfrm>
            <a:off x="859680" y="1645920"/>
            <a:ext cx="10423800" cy="849960"/>
          </a:xfrm>
          <a:prstGeom prst="roundRect">
            <a:avLst>
              <a:gd name="adj" fmla="val 18280"/>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15" name="Text 8"/>
          <p:cNvSpPr/>
          <p:nvPr/>
        </p:nvSpPr>
        <p:spPr>
          <a:xfrm>
            <a:off x="1097280" y="1801440"/>
            <a:ext cx="10021320" cy="539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4283F"/>
                </a:solidFill>
                <a:effectLst/>
                <a:uFillTx/>
                <a:latin typeface="Aptos"/>
                <a:ea typeface="Aptos"/>
              </a:rPr>
              <a:t>Kirmayr, J., Stappen, L., &amp; André, E. (2026). CAR-bench: Evaluating the Consistency and Limit-Awareness of LLM Agents under Real-World Uncertainty. ACL 2026.</a:t>
            </a:r>
            <a:endParaRPr lang="en-US" sz="1400" b="0" u="none" strike="noStrike">
              <a:solidFill>
                <a:srgbClr val="000000"/>
              </a:solidFill>
              <a:effectLst/>
              <a:uFillTx/>
              <a:latin typeface="Arial"/>
            </a:endParaRPr>
          </a:p>
        </p:txBody>
      </p:sp>
      <p:sp>
        <p:nvSpPr>
          <p:cNvPr id="616" name="Shape 9"/>
          <p:cNvSpPr/>
          <p:nvPr/>
        </p:nvSpPr>
        <p:spPr>
          <a:xfrm>
            <a:off x="859680" y="2651760"/>
            <a:ext cx="10423800" cy="849960"/>
          </a:xfrm>
          <a:prstGeom prst="roundRect">
            <a:avLst>
              <a:gd name="adj" fmla="val 18280"/>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17" name="Text 10"/>
          <p:cNvSpPr/>
          <p:nvPr/>
        </p:nvSpPr>
        <p:spPr>
          <a:xfrm>
            <a:off x="1097280" y="2807280"/>
            <a:ext cx="10021320" cy="539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4283F"/>
                </a:solidFill>
                <a:effectLst/>
                <a:uFillTx/>
                <a:latin typeface="Aptos"/>
                <a:ea typeface="Aptos"/>
              </a:rPr>
              <a:t>Yao, S., et al. (2024). τ-bench: A Benchmark for Tool-Agent-User Interaction in Real-World Domains.</a:t>
            </a:r>
            <a:endParaRPr lang="en-US" sz="1400" b="0" u="none" strike="noStrike">
              <a:solidFill>
                <a:srgbClr val="000000"/>
              </a:solidFill>
              <a:effectLst/>
              <a:uFillTx/>
              <a:latin typeface="Arial"/>
            </a:endParaRPr>
          </a:p>
        </p:txBody>
      </p:sp>
      <p:sp>
        <p:nvSpPr>
          <p:cNvPr id="618" name="Shape 11"/>
          <p:cNvSpPr/>
          <p:nvPr/>
        </p:nvSpPr>
        <p:spPr>
          <a:xfrm>
            <a:off x="859680" y="3657600"/>
            <a:ext cx="10423800" cy="849960"/>
          </a:xfrm>
          <a:prstGeom prst="roundRect">
            <a:avLst>
              <a:gd name="adj" fmla="val 18280"/>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19" name="Text 12"/>
          <p:cNvSpPr/>
          <p:nvPr/>
        </p:nvSpPr>
        <p:spPr>
          <a:xfrm>
            <a:off x="1097280" y="3813120"/>
            <a:ext cx="10021320" cy="539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4283F"/>
                </a:solidFill>
                <a:effectLst/>
                <a:uFillTx/>
                <a:latin typeface="Aptos"/>
                <a:ea typeface="Aptos"/>
              </a:rPr>
              <a:t>Lu, J., et al. (2025). ToolSandbox: A Stateful, Conversational, Interactive Evaluation Benchmark for LLM Tool Use Capabilities.</a:t>
            </a:r>
            <a:endParaRPr lang="en-US" sz="1400" b="0" u="none" strike="noStrike">
              <a:solidFill>
                <a:srgbClr val="000000"/>
              </a:solidFill>
              <a:effectLst/>
              <a:uFillTx/>
              <a:latin typeface="Arial"/>
            </a:endParaRPr>
          </a:p>
        </p:txBody>
      </p:sp>
      <p:sp>
        <p:nvSpPr>
          <p:cNvPr id="620" name="Shape 13"/>
          <p:cNvSpPr/>
          <p:nvPr/>
        </p:nvSpPr>
        <p:spPr>
          <a:xfrm>
            <a:off x="859680" y="4663440"/>
            <a:ext cx="10423800" cy="849960"/>
          </a:xfrm>
          <a:prstGeom prst="roundRect">
            <a:avLst>
              <a:gd name="adj" fmla="val 18280"/>
            </a:avLst>
          </a:prstGeom>
          <a:solidFill>
            <a:srgbClr val="FFFFFF"/>
          </a:solidFill>
          <a:ln w="12700">
            <a:solidFill>
              <a:srgbClr val="DCE5E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21" name="Text 14"/>
          <p:cNvSpPr/>
          <p:nvPr/>
        </p:nvSpPr>
        <p:spPr>
          <a:xfrm>
            <a:off x="1097280" y="4818960"/>
            <a:ext cx="10021320" cy="539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4283F"/>
                </a:solidFill>
                <a:effectLst/>
                <a:uFillTx/>
                <a:latin typeface="Aptos"/>
                <a:ea typeface="Aptos"/>
              </a:rPr>
              <a:t>Patil, S., et al. (2025). The Berkeley Function Calling Leaderboard (BFCL): From Tool Use to Agentic Evaluation.</a:t>
            </a:r>
            <a:endParaRPr lang="en-US" sz="1400" b="0" u="none" strike="noStrike">
              <a:solidFill>
                <a:srgbClr val="000000"/>
              </a:solidFill>
              <a:effectLst/>
              <a:uFillTx/>
              <a:latin typeface="Arial"/>
            </a:endParaRPr>
          </a:p>
        </p:txBody>
      </p:sp>
      <p:sp>
        <p:nvSpPr>
          <p:cNvPr id="622" name="Shape 15"/>
          <p:cNvSpPr/>
          <p:nvPr/>
        </p:nvSpPr>
        <p:spPr>
          <a:xfrm>
            <a:off x="868680" y="5879520"/>
            <a:ext cx="10405440" cy="365400"/>
          </a:xfrm>
          <a:prstGeom prst="roundRect">
            <a:avLst>
              <a:gd name="adj" fmla="val 42500"/>
            </a:avLst>
          </a:prstGeom>
          <a:solidFill>
            <a:srgbClr val="E5F7F5"/>
          </a:solidFill>
          <a:ln w="12700">
            <a:solidFill>
              <a:srgbClr val="E5F7F5">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23" name="Text 16"/>
          <p:cNvSpPr/>
          <p:nvPr/>
        </p:nvSpPr>
        <p:spPr>
          <a:xfrm>
            <a:off x="1097280" y="5952600"/>
            <a:ext cx="99849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119F9A"/>
                </a:solidFill>
                <a:effectLst/>
                <a:uFillTx/>
                <a:latin typeface="Aptos"/>
                <a:ea typeface="Aptos"/>
              </a:rPr>
              <a:t>Code: github.com/CAR-bench/car-bench</a:t>
            </a:r>
            <a:endParaRPr lang="en-US" sz="1300" b="0" u="none" strike="noStrike">
              <a:solidFill>
                <a:srgbClr val="000000"/>
              </a:solidFill>
              <a:effectLst/>
              <a:uFillTx/>
              <a:latin typeface="Arial"/>
            </a:endParaRPr>
          </a:p>
        </p:txBody>
      </p:sp>
    </p:spTree>
  </p:cSld>
  <p:clrMapOvr>
    <a:masterClrMapping/>
  </p:clrMapOvr>
</p:sld>
</file>

<file path=ppt/slides/slide2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Shape 0">
            <a:extLst xmlns:a="http://schemas.openxmlformats.org/drawingml/2006/main">
              <a:ext uri="{FF2B5EF4-FFF2-40B4-BE49-F238E27FC236}">
                <a16:creationId xmlns:a16="http://schemas.microsoft.com/office/drawing/2014/main" id="{0CCFAE65-8F72-4D72-8AFE-6BA4FD2F2C0C}"/>
              </a:ext>
            </a:extLst>
          </p:cNvPr>
          <p:cNvSpPr>
            <a:spLocks xmlns:a="http://schemas.openxmlformats.org/drawingml/2006/main" noGrp="1"/>
          </p:cNvSpPr>
          <p:nvPr/>
        </p:nvSpPr>
        <p:spPr>
          <a:xfrm xmlns:a="http://schemas.openxmlformats.org/drawingml/2006/main">
            <a:off x="0" y="0"/>
            <a:ext cx="12191400" cy="72720"/>
          </a:xfrm>
          <a:prstGeom xmlns:a="http://schemas.openxmlformats.org/drawingml/2006/main" prst="rect">
            <a:avLst/>
          </a:prstGeom>
          <a:solidFill xmlns:a="http://schemas.openxmlformats.org/drawingml/2006/main">
            <a:srgbClr val="119F9A"/>
          </a:solidFill>
          <a:ln xmlns:a="http://schemas.openxmlformats.org/drawingml/2006/main" w="12700">
            <a:solidFill>
              <a:srgbClr val="119F9A"/>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8080" rIns="90000" bIns="28080" anchor="t">
            <a:noAutofit/>
          </a:bodyPr>
          <a:lstStyle xmlns:a="http://schemas.openxmlformats.org/drawingml/2006/main"/>
          <a:p xmlns:a="http://schemas.openxmlformats.org/drawingml/2006/main">
            <a:endParaRPr sz="1800" b="0" u="none" strike="noStrike">
              <a:solidFill>
                <a:srgbClr val="FFFFFF"/>
              </a:solidFill>
              <a:latin typeface="Arial"/>
              <a:ea typeface="Arial"/>
              <a:cs typeface="Arial"/>
            </a:endParaRPr>
          </a:p>
        </p:txBody>
      </p:sp>
      <p:sp>
        <p:nvSpPr>
          <p:cNvPr id="2" name="Text 1">
            <a:extLst xmlns:a="http://schemas.openxmlformats.org/drawingml/2006/main">
              <a:ext uri="{FF2B5EF4-FFF2-40B4-BE49-F238E27FC236}">
                <a16:creationId xmlns:a16="http://schemas.microsoft.com/office/drawing/2014/main" id="{2C4FD076-E356-4DE8-8195-3ECF99E05922}"/>
              </a:ext>
            </a:extLst>
          </p:cNvPr>
          <p:cNvSpPr>
            <a:spLocks xmlns:a="http://schemas.openxmlformats.org/drawingml/2006/main" noGrp="1"/>
          </p:cNvSpPr>
          <p:nvPr/>
        </p:nvSpPr>
        <p:spPr>
          <a:xfrm xmlns:a="http://schemas.openxmlformats.org/drawingml/2006/main">
            <a:off x="567000" y="274320"/>
            <a:ext cx="10058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1100" b="1" u="none" strike="noStrike" spc="210">
                <a:solidFill>
                  <a:srgbClr val="119F9A"/>
                </a:solidFill>
                <a:latin typeface="Aptos"/>
                <a:ea typeface="Aptos"/>
                <a:cs typeface="Aptos"/>
              </a:rPr>
              <a:t>OUR INSIGHTS</a:t>
            </a:r>
            <a:endParaRPr sz="1100" b="0" u="none" strike="noStrike">
              <a:solidFill>
                <a:srgbClr val="000000"/>
              </a:solidFill>
              <a:latin typeface="Arial"/>
              <a:ea typeface="Arial"/>
              <a:cs typeface="Arial"/>
            </a:endParaRPr>
          </a:p>
        </p:txBody>
      </p:sp>
      <p:sp>
        <p:nvSpPr>
          <p:cNvPr id="3" name="Text 2">
            <a:extLst xmlns:a="http://schemas.openxmlformats.org/drawingml/2006/main">
              <a:ext uri="{FF2B5EF4-FFF2-40B4-BE49-F238E27FC236}">
                <a16:creationId xmlns:a16="http://schemas.microsoft.com/office/drawing/2014/main" id="{315468C8-12EC-4557-98B5-FDC3DBF2C4F1}"/>
              </a:ext>
            </a:extLst>
          </p:cNvPr>
          <p:cNvSpPr>
            <a:spLocks xmlns:a="http://schemas.openxmlformats.org/drawingml/2006/main" noGrp="1"/>
          </p:cNvSpPr>
          <p:nvPr/>
        </p:nvSpPr>
        <p:spPr>
          <a:xfrm xmlns:a="http://schemas.openxmlformats.org/drawingml/2006/main">
            <a:off x="567000" y="621720"/>
            <a:ext cx="11018160" cy="520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3000" b="1" u="none" strike="noStrike">
                <a:solidFill>
                  <a:srgbClr val="14283F"/>
                </a:solidFill>
                <a:latin typeface="Aptos"/>
                <a:ea typeface="Aptos"/>
                <a:cs typeface="Aptos"/>
              </a:rPr>
              <a:t>Our replication: first three runs</a:t>
            </a:r>
            <a:endParaRPr sz="3000" b="0" u="none" strike="noStrike">
              <a:solidFill>
                <a:srgbClr val="000000"/>
              </a:solidFill>
              <a:latin typeface="Arial"/>
              <a:ea typeface="Arial"/>
              <a:cs typeface="Arial"/>
            </a:endParaRPr>
          </a:p>
        </p:txBody>
      </p:sp>
      <p:sp>
        <p:nvSpPr>
          <p:cNvPr id="4" name="Shape 3">
            <a:extLst xmlns:a="http://schemas.openxmlformats.org/drawingml/2006/main">
              <a:ext uri="{FF2B5EF4-FFF2-40B4-BE49-F238E27FC236}">
                <a16:creationId xmlns:a16="http://schemas.microsoft.com/office/drawing/2014/main" id="{F13AF7BF-A49E-4E4F-8D2D-FB40ADA32A60}"/>
              </a:ext>
            </a:extLst>
          </p:cNvPr>
          <p:cNvSpPr>
            <a:spLocks xmlns:a="http://schemas.openxmlformats.org/drawingml/2006/main" noGrp="1"/>
          </p:cNvSpPr>
          <p:nvPr/>
        </p:nvSpPr>
        <p:spPr>
          <a:xfrm xmlns:a="http://schemas.openxmlformats.org/drawingml/2006/main">
            <a:off x="566640" y="128016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5" name="Shape 4">
            <a:extLst xmlns:a="http://schemas.openxmlformats.org/drawingml/2006/main">
              <a:ext uri="{FF2B5EF4-FFF2-40B4-BE49-F238E27FC236}">
                <a16:creationId xmlns:a16="http://schemas.microsoft.com/office/drawing/2014/main" id="{189D63D6-788F-49D0-8C5C-EDD51865DA3F}"/>
              </a:ext>
            </a:extLst>
          </p:cNvPr>
          <p:cNvSpPr>
            <a:spLocks xmlns:a="http://schemas.openxmlformats.org/drawingml/2006/main" noGrp="1"/>
          </p:cNvSpPr>
          <p:nvPr/>
        </p:nvSpPr>
        <p:spPr>
          <a:xfrm xmlns:a="http://schemas.openxmlformats.org/drawingml/2006/main">
            <a:off x="566640" y="651960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6" name="Text 5">
            <a:extLst xmlns:a="http://schemas.openxmlformats.org/drawingml/2006/main">
              <a:ext uri="{FF2B5EF4-FFF2-40B4-BE49-F238E27FC236}">
                <a16:creationId xmlns:a16="http://schemas.microsoft.com/office/drawing/2014/main" id="{3DE2DF10-865B-4173-A370-EA1BDA3B3EB5}"/>
              </a:ext>
            </a:extLst>
          </p:cNvPr>
          <p:cNvSpPr>
            <a:spLocks xmlns:a="http://schemas.openxmlformats.org/drawingml/2006/main" noGrp="1"/>
          </p:cNvSpPr>
          <p:nvPr/>
        </p:nvSpPr>
        <p:spPr>
          <a:xfrm xmlns:a="http://schemas.openxmlformats.org/drawingml/2006/main">
            <a:off x="594360" y="6574680"/>
            <a:ext cx="1042380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860" b="0" u="none" strike="noStrike">
                <a:solidFill>
                  <a:srgbClr val="64778B"/>
                </a:solidFill>
                <a:latin typeface="Aptos"/>
                <a:ea typeface="Aptos"/>
                <a:cs typeface="Aptos"/>
              </a:rPr>
              <a:t>Source: Saved replication data, 19 Oct 2026. Methods and evidence in speaker notes.</a:t>
            </a:r>
            <a:endParaRPr sz="860" b="0" u="none" strike="noStrike">
              <a:solidFill>
                <a:srgbClr val="000000"/>
              </a:solidFill>
              <a:latin typeface="Arial"/>
              <a:ea typeface="Arial"/>
              <a:cs typeface="Arial"/>
            </a:endParaRPr>
          </a:p>
        </p:txBody>
      </p:sp>
      <p:sp>
        <p:nvSpPr>
          <p:cNvPr id="7" name="Text 6">
            <a:extLst xmlns:a="http://schemas.openxmlformats.org/drawingml/2006/main">
              <a:ext uri="{FF2B5EF4-FFF2-40B4-BE49-F238E27FC236}">
                <a16:creationId xmlns:a16="http://schemas.microsoft.com/office/drawing/2014/main" id="{A05CF2ED-F969-4FF6-9ED9-5A816DB56D30}"/>
              </a:ext>
            </a:extLst>
          </p:cNvPr>
          <p:cNvSpPr>
            <a:spLocks xmlns:a="http://schemas.openxmlformats.org/drawingml/2006/main" noGrp="1"/>
          </p:cNvSpPr>
          <p:nvPr/>
        </p:nvSpPr>
        <p:spPr>
          <a:xfrm xmlns:a="http://schemas.openxmlformats.org/drawingml/2006/main">
            <a:off x="11155680" y="6537960"/>
            <a:ext cx="4384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algn="r" defTabSz="914400">
              <a:lnSpc>
                <a:spcPct val="100000"/>
              </a:lnSpc>
              <a:buNone/>
              <a:tabLst>
                <a:tab pos="0" algn="l"/>
              </a:tabLst>
            </a:pPr>
            <a:r>
              <a:rPr sz="1000" b="1" u="none" strike="noStrike">
                <a:solidFill>
                  <a:srgbClr val="64778B"/>
                </a:solidFill>
                <a:latin typeface="Aptos"/>
                <a:ea typeface="Aptos"/>
                <a:cs typeface="Aptos"/>
              </a:rPr>
              <a:t>20</a:t>
            </a:r>
            <a:endParaRPr sz="1000" b="0" u="none" strike="noStrike">
              <a:solidFill>
                <a:srgbClr val="000000"/>
              </a:solidFill>
              <a:latin typeface="Arial"/>
              <a:ea typeface="Arial"/>
              <a:cs typeface="Arial"/>
            </a:endParaRPr>
          </a:p>
        </p:txBody>
      </p:sp>
      <p:sp>
        <p:nvSpPr>
          <p:cNvPr id="8" name="">
            <a:extLst xmlns:a="http://schemas.openxmlformats.org/drawingml/2006/main">
              <a:ext uri="{FF2B5EF4-FFF2-40B4-BE49-F238E27FC236}">
                <a16:creationId xmlns:a16="http://schemas.microsoft.com/office/drawing/2014/main" id="{F2311F33-8322-4529-B9C3-47647BD64795}"/>
              </a:ext>
            </a:extLst>
          </p:cNvPr>
          <p:cNvSpPr>
            <a:spLocks xmlns:a="http://schemas.openxmlformats.org/drawingml/2006/main" noGrp="1"/>
          </p:cNvSpPr>
          <p:nvPr/>
        </p:nvSpPr>
        <p:spPr>
          <a:xfrm xmlns:a="http://schemas.openxmlformats.org/drawingml/2006/main">
            <a:off x="590550" y="1524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83F"/>
                </a:solidFill>
              </a:defRPr>
            </a:defPPr>
            <a:lvl1pPr>
              <a:defRPr sz="2100" b="1">
                <a:solidFill>
                  <a:srgbClr val="14283F"/>
                </a:solidFill>
              </a:defRPr>
            </a:lvl1pPr>
            <a:lvl2pPr>
              <a:defRPr sz="2100" b="1">
                <a:solidFill>
                  <a:srgbClr val="14283F"/>
                </a:solidFill>
              </a:defRPr>
            </a:lvl2pPr>
            <a:lvl3pPr>
              <a:defRPr sz="2100" b="1">
                <a:solidFill>
                  <a:srgbClr val="14283F"/>
                </a:solidFill>
              </a:defRPr>
            </a:lvl3pPr>
            <a:lvl4pPr>
              <a:defRPr sz="2100" b="1">
                <a:solidFill>
                  <a:srgbClr val="14283F"/>
                </a:solidFill>
              </a:defRPr>
            </a:lvl4pPr>
            <a:lvl5pPr>
              <a:defRPr sz="2100" b="1">
                <a:solidFill>
                  <a:srgbClr val="14283F"/>
                </a:solidFill>
              </a:defRPr>
            </a:lvl5pPr>
            <a:lvl6pPr>
              <a:defRPr sz="2100" b="1">
                <a:solidFill>
                  <a:srgbClr val="14283F"/>
                </a:solidFill>
              </a:defRPr>
            </a:lvl6pPr>
            <a:lvl7pPr>
              <a:defRPr sz="2100" b="1">
                <a:solidFill>
                  <a:srgbClr val="14283F"/>
                </a:solidFill>
              </a:defRPr>
            </a:lvl7pPr>
            <a:lvl8pPr>
              <a:defRPr sz="2100" b="1">
                <a:solidFill>
                  <a:srgbClr val="14283F"/>
                </a:solidFill>
              </a:defRPr>
            </a:lvl8pPr>
            <a:lvl9pPr>
              <a:defRPr sz="2100" b="1">
                <a:solidFill>
                  <a:srgbClr val="14283F"/>
                </a:solidFill>
              </a:defRPr>
            </a:lvl9pPr>
          </a:lstStyle>
          <a:p xmlns:a="http://schemas.openxmlformats.org/drawingml/2006/main">
            <a:pPr>
              <a:defRPr sz="2100" b="1">
                <a:solidFill>
                  <a:srgbClr val="14283F"/>
                </a:solidFill>
              </a:defRPr>
            </a:pPr>
            <a:r>
              <a:rPr sz="2100" b="1">
                <a:solidFill>
                  <a:srgbClr val="14283F"/>
                </a:solidFill>
              </a:rPr>
              <a:t>GPT-6 Luna (medium reasoning)</a:t>
            </a:r>
          </a:p>
        </p:txBody>
      </p:sp>
      <p:sp>
        <p:nvSpPr>
          <p:cNvPr id="9" name="">
            <a:extLst xmlns:a="http://schemas.openxmlformats.org/drawingml/2006/main">
              <a:ext uri="{FF2B5EF4-FFF2-40B4-BE49-F238E27FC236}">
                <a16:creationId xmlns:a16="http://schemas.microsoft.com/office/drawing/2014/main" id="{5C3A556F-945D-402E-81FF-189CC4FE7DEF}"/>
              </a:ext>
            </a:extLst>
          </p:cNvPr>
          <p:cNvSpPr>
            <a:spLocks xmlns:a="http://schemas.openxmlformats.org/drawingml/2006/main" noGrp="1"/>
          </p:cNvSpPr>
          <p:nvPr/>
        </p:nvSpPr>
        <p:spPr>
          <a:xfrm xmlns:a="http://schemas.openxmlformats.org/drawingml/2006/main">
            <a:off x="590550" y="19716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07892"/>
                </a:solidFill>
              </a:defRPr>
            </a:defPPr>
            <a:lvl1pPr>
              <a:defRPr sz="1800" b="0">
                <a:solidFill>
                  <a:srgbClr val="607892"/>
                </a:solidFill>
              </a:defRPr>
            </a:lvl1pPr>
            <a:lvl2pPr>
              <a:defRPr sz="1800" b="0">
                <a:solidFill>
                  <a:srgbClr val="607892"/>
                </a:solidFill>
              </a:defRPr>
            </a:lvl2pPr>
            <a:lvl3pPr>
              <a:defRPr sz="1800" b="0">
                <a:solidFill>
                  <a:srgbClr val="607892"/>
                </a:solidFill>
              </a:defRPr>
            </a:lvl3pPr>
            <a:lvl4pPr>
              <a:defRPr sz="1800" b="0">
                <a:solidFill>
                  <a:srgbClr val="607892"/>
                </a:solidFill>
              </a:defRPr>
            </a:lvl4pPr>
            <a:lvl5pPr>
              <a:defRPr sz="1800" b="0">
                <a:solidFill>
                  <a:srgbClr val="607892"/>
                </a:solidFill>
              </a:defRPr>
            </a:lvl5pPr>
            <a:lvl6pPr>
              <a:defRPr sz="1800" b="0">
                <a:solidFill>
                  <a:srgbClr val="607892"/>
                </a:solidFill>
              </a:defRPr>
            </a:lvl6pPr>
            <a:lvl7pPr>
              <a:defRPr sz="1800" b="0">
                <a:solidFill>
                  <a:srgbClr val="607892"/>
                </a:solidFill>
              </a:defRPr>
            </a:lvl7pPr>
            <a:lvl8pPr>
              <a:defRPr sz="1800" b="0">
                <a:solidFill>
                  <a:srgbClr val="607892"/>
                </a:solidFill>
              </a:defRPr>
            </a:lvl8pPr>
            <a:lvl9pPr>
              <a:defRPr sz="1800" b="0">
                <a:solidFill>
                  <a:srgbClr val="607892"/>
                </a:solidFill>
              </a:defRPr>
            </a:lvl9pPr>
          </a:lstStyle>
          <a:p xmlns:a="http://schemas.openxmlformats.org/drawingml/2006/main">
            <a:pPr>
              <a:defRPr sz="1800" b="0">
                <a:solidFill>
                  <a:srgbClr val="607892"/>
                </a:solidFill>
              </a:defRPr>
            </a:pPr>
            <a:r>
              <a:rPr sz="1800" b="0">
                <a:solidFill>
                  <a:srgbClr val="607892"/>
                </a:solidFill>
              </a:rPr>
              <a:t>Gemini 2.5 Flash thinking simulates users and supports scoring</a:t>
            </a:r>
          </a:p>
        </p:txBody>
      </p:sp>
      <p:graphicFrame>
        <p:nvGraphicFramePr>
          <p:cNvPr id="10" name="">
            <a:extLst xmlns:a="http://schemas.openxmlformats.org/drawingml/2006/main">
              <a:ext uri="{FF2B5EF4-FFF2-40B4-BE49-F238E27FC236}">
                <a16:creationId xmlns:a16="http://schemas.microsoft.com/office/drawing/2014/main" id="{307A37D2-066D-4B5B-9670-CD7BA889DC5D}"/>
              </a:ext>
            </a:extLst>
          </p:cNvPr>
          <p:cNvGraphicFramePr/>
          <p:nvPr/>
        </p:nvGraphicFramePr>
        <p:xfrm>
          <a:off xmlns:a="http://schemas.openxmlformats.org/drawingml/2006/main" x="590550" y="2667000"/>
          <a:ext xmlns:a="http://schemas.openxmlformats.org/drawingml/2006/main" cx="11010900" cy="2343150"/>
        </p:xfrm>
        <a:graphic xmlns:a="http://schemas.openxmlformats.org/drawingml/2006/main">
          <a:graphicData uri="http://schemas.openxmlformats.org/drawingml/2006/table">
            <a:tbl>
              <a:tblPr/>
              <a:tblGrid>
                <a:gridCol w="3429000"/>
                <a:gridCol w="1524000"/>
                <a:gridCol w="2019300"/>
                <a:gridCol w="2019300"/>
                <a:gridCol w="2019300"/>
              </a:tblGrid>
              <a:tr h="585788">
                <a:tc>
                  <a:txBody>
                    <a:bodyPr/>
                    <a:lstStyle/>
                    <a:p>
                      <a:r>
                        <a:rPr sz="1950" b="1">
                          <a:solidFill>
                            <a:srgbClr val="14283F"/>
                          </a:solidFill>
                        </a:rPr>
                        <a:t>Task type</a:t>
                      </a:r>
                    </a:p>
                  </a:txBody>
                  <a:tcPr marL="91440" marR="91440" marT="45720" marB="45720">
                    <a:lnL w="9525">
                      <a:solidFill>
                        <a:srgbClr val="DCE5ED"/>
                      </a:solidFill>
                      <a:prstDash val="solid"/>
                    </a:lnL>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950" b="1">
                          <a:solidFill>
                            <a:srgbClr val="14283F"/>
                          </a:solidFill>
                        </a:rPr>
                        <a:t>Tasks</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950" b="1">
                          <a:solidFill>
                            <a:srgbClr val="14283F"/>
                          </a:solidFill>
                        </a:rPr>
                        <a:t>Pass@1</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950" b="1">
                          <a:solidFill>
                            <a:srgbClr val="14283F"/>
                          </a:solidFill>
                        </a:rPr>
                        <a:t>Pass@3</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950" b="1">
                          <a:solidFill>
                            <a:srgbClr val="14283F"/>
                          </a:solidFill>
                        </a:rPr>
                        <a:t>Pass³</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r>
              <a:tr h="585788">
                <a:tc>
                  <a:txBody>
                    <a:bodyPr/>
                    <a:lstStyle/>
                    <a:p>
                      <a:r>
                        <a:rPr sz="1950" b="0">
                          <a:solidFill>
                            <a:srgbClr val="14283F"/>
                          </a:solidFill>
                        </a:rPr>
                        <a:t>Base</a:t>
                      </a:r>
                    </a:p>
                  </a:txBody>
                  <a:tcPr marL="91440" marR="91440" marT="45720" marB="45720">
                    <a:lnL w="9525">
                      <a:solidFill>
                        <a:srgbClr val="DCE5ED"/>
                      </a:solidFill>
                      <a:prstDash val="solid"/>
                    </a:lnL>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50</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76.0%</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84.0%</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58.0%</a:t>
                      </a:r>
                    </a:p>
                  </a:txBody>
                  <a:tcPr marL="91440" marR="91440" marT="45720" marB="45720">
                    <a:lnR w="9525">
                      <a:solidFill>
                        <a:srgbClr val="DCE5ED"/>
                      </a:solidFill>
                      <a:prstDash val="solid"/>
                    </a:lnR>
                    <a:lnB w="9525">
                      <a:solidFill>
                        <a:srgbClr val="DCE5ED"/>
                      </a:solidFill>
                      <a:prstDash val="solid"/>
                    </a:lnB>
                    <a:solidFill>
                      <a:srgbClr val="FFFFFF"/>
                    </a:solidFill>
                  </a:tcPr>
                </a:tc>
              </a:tr>
              <a:tr h="585788">
                <a:tc>
                  <a:txBody>
                    <a:bodyPr/>
                    <a:lstStyle/>
                    <a:p>
                      <a:r>
                        <a:rPr sz="1950" b="0">
                          <a:solidFill>
                            <a:srgbClr val="14283F"/>
                          </a:solidFill>
                        </a:rPr>
                        <a:t>Hallucination</a:t>
                      </a:r>
                    </a:p>
                  </a:txBody>
                  <a:tcPr marL="91440" marR="91440" marT="45720" marB="45720">
                    <a:lnL w="9525">
                      <a:solidFill>
                        <a:srgbClr val="DCE5ED"/>
                      </a:solidFill>
                      <a:prstDash val="solid"/>
                    </a:lnL>
                    <a:lnR w="9525">
                      <a:solidFill>
                        <a:srgbClr val="DCE5ED"/>
                      </a:solidFill>
                      <a:prstDash val="solid"/>
                    </a:lnR>
                    <a:lnB w="9525">
                      <a:solidFill>
                        <a:srgbClr val="DCE5ED"/>
                      </a:solidFill>
                      <a:prstDash val="solid"/>
                    </a:lnB>
                    <a:solidFill>
                      <a:srgbClr val="F7F9FC"/>
                    </a:solidFill>
                  </a:tcPr>
                </a:tc>
                <a:tc>
                  <a:txBody>
                    <a:bodyPr/>
                    <a:lstStyle/>
                    <a:p>
                      <a:r>
                        <a:rPr sz="1950" b="0">
                          <a:solidFill>
                            <a:srgbClr val="14283F"/>
                          </a:solidFill>
                        </a:rPr>
                        <a:t>50</a:t>
                      </a:r>
                    </a:p>
                  </a:txBody>
                  <a:tcPr marL="91440" marR="91440" marT="45720" marB="45720">
                    <a:lnR w="9525">
                      <a:solidFill>
                        <a:srgbClr val="DCE5ED"/>
                      </a:solidFill>
                      <a:prstDash val="solid"/>
                    </a:lnR>
                    <a:lnB w="9525">
                      <a:solidFill>
                        <a:srgbClr val="DCE5ED"/>
                      </a:solidFill>
                      <a:prstDash val="solid"/>
                    </a:lnB>
                    <a:solidFill>
                      <a:srgbClr val="F7F9FC"/>
                    </a:solidFill>
                  </a:tcPr>
                </a:tc>
                <a:tc>
                  <a:txBody>
                    <a:bodyPr/>
                    <a:lstStyle/>
                    <a:p>
                      <a:r>
                        <a:rPr sz="1950" b="0">
                          <a:solidFill>
                            <a:srgbClr val="14283F"/>
                          </a:solidFill>
                        </a:rPr>
                        <a:t>66.0%</a:t>
                      </a:r>
                    </a:p>
                  </a:txBody>
                  <a:tcPr marL="91440" marR="91440" marT="45720" marB="45720">
                    <a:lnR w="9525">
                      <a:solidFill>
                        <a:srgbClr val="DCE5ED"/>
                      </a:solidFill>
                      <a:prstDash val="solid"/>
                    </a:lnR>
                    <a:lnB w="9525">
                      <a:solidFill>
                        <a:srgbClr val="DCE5ED"/>
                      </a:solidFill>
                      <a:prstDash val="solid"/>
                    </a:lnB>
                    <a:solidFill>
                      <a:srgbClr val="F7F9FC"/>
                    </a:solidFill>
                  </a:tcPr>
                </a:tc>
                <a:tc>
                  <a:txBody>
                    <a:bodyPr/>
                    <a:lstStyle/>
                    <a:p>
                      <a:r>
                        <a:rPr sz="1950" b="0">
                          <a:solidFill>
                            <a:srgbClr val="14283F"/>
                          </a:solidFill>
                        </a:rPr>
                        <a:t>78.0%</a:t>
                      </a:r>
                    </a:p>
                  </a:txBody>
                  <a:tcPr marL="91440" marR="91440" marT="45720" marB="45720">
                    <a:lnR w="9525">
                      <a:solidFill>
                        <a:srgbClr val="DCE5ED"/>
                      </a:solidFill>
                      <a:prstDash val="solid"/>
                    </a:lnR>
                    <a:lnB w="9525">
                      <a:solidFill>
                        <a:srgbClr val="DCE5ED"/>
                      </a:solidFill>
                      <a:prstDash val="solid"/>
                    </a:lnB>
                    <a:solidFill>
                      <a:srgbClr val="F7F9FC"/>
                    </a:solidFill>
                  </a:tcPr>
                </a:tc>
                <a:tc>
                  <a:txBody>
                    <a:bodyPr/>
                    <a:lstStyle/>
                    <a:p>
                      <a:r>
                        <a:rPr sz="1950" b="0">
                          <a:solidFill>
                            <a:srgbClr val="14283F"/>
                          </a:solidFill>
                        </a:rPr>
                        <a:t>50.0%</a:t>
                      </a:r>
                    </a:p>
                  </a:txBody>
                  <a:tcPr marL="91440" marR="91440" marT="45720" marB="45720">
                    <a:lnR w="9525">
                      <a:solidFill>
                        <a:srgbClr val="DCE5ED"/>
                      </a:solidFill>
                      <a:prstDash val="solid"/>
                    </a:lnR>
                    <a:lnB w="9525">
                      <a:solidFill>
                        <a:srgbClr val="DCE5ED"/>
                      </a:solidFill>
                      <a:prstDash val="solid"/>
                    </a:lnB>
                    <a:solidFill>
                      <a:srgbClr val="F7F9FC"/>
                    </a:solidFill>
                  </a:tcPr>
                </a:tc>
              </a:tr>
              <a:tr h="585788">
                <a:tc>
                  <a:txBody>
                    <a:bodyPr/>
                    <a:lstStyle/>
                    <a:p>
                      <a:r>
                        <a:rPr sz="1950" b="0">
                          <a:solidFill>
                            <a:srgbClr val="14283F"/>
                          </a:solidFill>
                        </a:rPr>
                        <a:t>Disambiguation</a:t>
                      </a:r>
                    </a:p>
                  </a:txBody>
                  <a:tcPr marL="91440" marR="91440" marT="45720" marB="45720">
                    <a:lnL w="9525">
                      <a:solidFill>
                        <a:srgbClr val="DCE5ED"/>
                      </a:solidFill>
                      <a:prstDash val="solid"/>
                    </a:lnL>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25</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68.0%</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80.0%</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950" b="0">
                          <a:solidFill>
                            <a:srgbClr val="14283F"/>
                          </a:solidFill>
                        </a:rPr>
                        <a:t>40.0%</a:t>
                      </a:r>
                    </a:p>
                  </a:txBody>
                  <a:tcPr marL="91440" marR="91440" marT="45720" marB="45720">
                    <a:lnR w="9525">
                      <a:solidFill>
                        <a:srgbClr val="DCE5ED"/>
                      </a:solidFill>
                      <a:prstDash val="solid"/>
                    </a:lnR>
                    <a:lnB w="9525">
                      <a:solidFill>
                        <a:srgbClr val="DCE5ED"/>
                      </a:solidFill>
                      <a:prstDash val="solid"/>
                    </a:lnB>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7D663793-4F5B-429A-AF98-12C00481F634}"/>
              </a:ext>
            </a:extLst>
          </p:cNvPr>
          <p:cNvSpPr>
            <a:spLocks xmlns:a="http://schemas.openxmlformats.org/drawingml/2006/main" noGrp="1"/>
          </p:cNvSpPr>
          <p:nvPr/>
        </p:nvSpPr>
        <p:spPr>
          <a:xfrm xmlns:a="http://schemas.openxmlformats.org/drawingml/2006/main">
            <a:off x="590550" y="5286375"/>
            <a:ext cx="1100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9F9A"/>
                </a:solidFill>
              </a:defRPr>
            </a:defPPr>
            <a:lvl1pPr>
              <a:defRPr sz="2100" b="1">
                <a:solidFill>
                  <a:srgbClr val="119F9A"/>
                </a:solidFill>
              </a:defRPr>
            </a:lvl1pPr>
            <a:lvl2pPr>
              <a:defRPr sz="2100" b="1">
                <a:solidFill>
                  <a:srgbClr val="119F9A"/>
                </a:solidFill>
              </a:defRPr>
            </a:lvl2pPr>
            <a:lvl3pPr>
              <a:defRPr sz="2100" b="1">
                <a:solidFill>
                  <a:srgbClr val="119F9A"/>
                </a:solidFill>
              </a:defRPr>
            </a:lvl3pPr>
            <a:lvl4pPr>
              <a:defRPr sz="2100" b="1">
                <a:solidFill>
                  <a:srgbClr val="119F9A"/>
                </a:solidFill>
              </a:defRPr>
            </a:lvl4pPr>
            <a:lvl5pPr>
              <a:defRPr sz="2100" b="1">
                <a:solidFill>
                  <a:srgbClr val="119F9A"/>
                </a:solidFill>
              </a:defRPr>
            </a:lvl5pPr>
            <a:lvl6pPr>
              <a:defRPr sz="2100" b="1">
                <a:solidFill>
                  <a:srgbClr val="119F9A"/>
                </a:solidFill>
              </a:defRPr>
            </a:lvl6pPr>
            <a:lvl7pPr>
              <a:defRPr sz="2100" b="1">
                <a:solidFill>
                  <a:srgbClr val="119F9A"/>
                </a:solidFill>
              </a:defRPr>
            </a:lvl7pPr>
            <a:lvl8pPr>
              <a:defRPr sz="2100" b="1">
                <a:solidFill>
                  <a:srgbClr val="119F9A"/>
                </a:solidFill>
              </a:defRPr>
            </a:lvl8pPr>
            <a:lvl9pPr>
              <a:defRPr sz="2100" b="1">
                <a:solidFill>
                  <a:srgbClr val="119F9A"/>
                </a:solidFill>
              </a:defRPr>
            </a:lvl9pPr>
          </a:lstStyle>
          <a:p xmlns:a="http://schemas.openxmlformats.org/drawingml/2006/main">
            <a:pPr>
              <a:defRPr sz="2100" b="1">
                <a:solidFill>
                  <a:srgbClr val="119F9A"/>
                </a:solidFill>
              </a:defRPr>
            </a:pPr>
            <a:r>
              <a:rPr sz="2100" b="1">
                <a:solidFill>
                  <a:srgbClr val="119F9A"/>
                </a:solidFill>
              </a:rPr>
              <a:t>125 tasks × 3 runs = 375 primary trials</a:t>
            </a:r>
          </a:p>
        </p:txBody>
      </p:sp>
      <p:sp>
        <p:nvSpPr>
          <p:cNvPr id="12" name="">
            <a:extLst xmlns:a="http://schemas.openxmlformats.org/drawingml/2006/main">
              <a:ext uri="{FF2B5EF4-FFF2-40B4-BE49-F238E27FC236}">
                <a16:creationId xmlns:a16="http://schemas.microsoft.com/office/drawing/2014/main" id="{D3232A62-388C-431A-85BE-D396072DA586}"/>
              </a:ext>
            </a:extLst>
          </p:cNvPr>
          <p:cNvSpPr>
            <a:spLocks xmlns:a="http://schemas.openxmlformats.org/drawingml/2006/main" noGrp="1"/>
          </p:cNvSpPr>
          <p:nvPr/>
        </p:nvSpPr>
        <p:spPr>
          <a:xfrm xmlns:a="http://schemas.openxmlformats.org/drawingml/2006/main">
            <a:off x="590550" y="5791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892"/>
                </a:solidFill>
              </a:defRPr>
            </a:defPPr>
            <a:lvl1pPr>
              <a:defRPr sz="1650" b="0">
                <a:solidFill>
                  <a:srgbClr val="607892"/>
                </a:solidFill>
              </a:defRPr>
            </a:lvl1pPr>
            <a:lvl2pPr>
              <a:defRPr sz="1650" b="0">
                <a:solidFill>
                  <a:srgbClr val="607892"/>
                </a:solidFill>
              </a:defRPr>
            </a:lvl2pPr>
            <a:lvl3pPr>
              <a:defRPr sz="1650" b="0">
                <a:solidFill>
                  <a:srgbClr val="607892"/>
                </a:solidFill>
              </a:defRPr>
            </a:lvl3pPr>
            <a:lvl4pPr>
              <a:defRPr sz="1650" b="0">
                <a:solidFill>
                  <a:srgbClr val="607892"/>
                </a:solidFill>
              </a:defRPr>
            </a:lvl4pPr>
            <a:lvl5pPr>
              <a:defRPr sz="1650" b="0">
                <a:solidFill>
                  <a:srgbClr val="607892"/>
                </a:solidFill>
              </a:defRPr>
            </a:lvl5pPr>
            <a:lvl6pPr>
              <a:defRPr sz="1650" b="0">
                <a:solidFill>
                  <a:srgbClr val="607892"/>
                </a:solidFill>
              </a:defRPr>
            </a:lvl6pPr>
            <a:lvl7pPr>
              <a:defRPr sz="1650" b="0">
                <a:solidFill>
                  <a:srgbClr val="607892"/>
                </a:solidFill>
              </a:defRPr>
            </a:lvl7pPr>
            <a:lvl8pPr>
              <a:defRPr sz="1650" b="0">
                <a:solidFill>
                  <a:srgbClr val="607892"/>
                </a:solidFill>
              </a:defRPr>
            </a:lvl8pPr>
            <a:lvl9pPr>
              <a:defRPr sz="1650" b="0">
                <a:solidFill>
                  <a:srgbClr val="607892"/>
                </a:solidFill>
              </a:defRPr>
            </a:lvl9pPr>
          </a:lstStyle>
          <a:p xmlns:a="http://schemas.openxmlformats.org/drawingml/2006/main">
            <a:pPr>
              <a:defRPr sz="1650" b="0">
                <a:solidFill>
                  <a:srgbClr val="607892"/>
                </a:solidFill>
              </a:defRPr>
            </a:pPr>
            <a:r>
              <a:rPr sz="1650" b="0">
                <a:solidFill>
                  <a:srgbClr val="607892"/>
                </a:solidFill>
              </a:rPr>
              <a:t>Pass@1 uses run 1. Pass@3 and Pass³ use runs 1–3.</a:t>
            </a:r>
          </a:p>
        </p:txBody>
      </p:sp>
    </p:spTree>
    <p:extLst>
      <p:ext uri="{BB962C8B-B14F-4D97-AF65-F5344CB8AC3E}">
        <p14:creationId xmlns:p14="http://schemas.microsoft.com/office/powerpoint/2010/main" val="1374121144"/>
      </p:ext>
    </p:extLst>
  </p:cSld>
</p:sld>
</file>

<file path=ppt/slides/slide2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Shape 0">
            <a:extLst xmlns:a="http://schemas.openxmlformats.org/drawingml/2006/main">
              <a:ext uri="{FF2B5EF4-FFF2-40B4-BE49-F238E27FC236}">
                <a16:creationId xmlns:a16="http://schemas.microsoft.com/office/drawing/2014/main" id="{0CCFAE65-8F72-4D72-8AFE-6BA4FD2F2C0C}"/>
              </a:ext>
            </a:extLst>
          </p:cNvPr>
          <p:cNvSpPr>
            <a:spLocks xmlns:a="http://schemas.openxmlformats.org/drawingml/2006/main" noGrp="1"/>
          </p:cNvSpPr>
          <p:nvPr/>
        </p:nvSpPr>
        <p:spPr>
          <a:xfrm xmlns:a="http://schemas.openxmlformats.org/drawingml/2006/main">
            <a:off x="0" y="0"/>
            <a:ext cx="12191400" cy="72720"/>
          </a:xfrm>
          <a:prstGeom xmlns:a="http://schemas.openxmlformats.org/drawingml/2006/main" prst="rect">
            <a:avLst/>
          </a:prstGeom>
          <a:solidFill xmlns:a="http://schemas.openxmlformats.org/drawingml/2006/main">
            <a:srgbClr val="119F9A"/>
          </a:solidFill>
          <a:ln xmlns:a="http://schemas.openxmlformats.org/drawingml/2006/main" w="12700">
            <a:solidFill>
              <a:srgbClr val="119F9A"/>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8080" rIns="90000" bIns="28080" anchor="t">
            <a:noAutofit/>
          </a:bodyPr>
          <a:lstStyle xmlns:a="http://schemas.openxmlformats.org/drawingml/2006/main"/>
          <a:p xmlns:a="http://schemas.openxmlformats.org/drawingml/2006/main">
            <a:endParaRPr sz="1800" b="0" u="none" strike="noStrike">
              <a:solidFill>
                <a:srgbClr val="FFFFFF"/>
              </a:solidFill>
              <a:latin typeface="Arial"/>
              <a:ea typeface="Arial"/>
              <a:cs typeface="Arial"/>
            </a:endParaRPr>
          </a:p>
        </p:txBody>
      </p:sp>
      <p:sp>
        <p:nvSpPr>
          <p:cNvPr id="2" name="Text 1">
            <a:extLst xmlns:a="http://schemas.openxmlformats.org/drawingml/2006/main">
              <a:ext uri="{FF2B5EF4-FFF2-40B4-BE49-F238E27FC236}">
                <a16:creationId xmlns:a16="http://schemas.microsoft.com/office/drawing/2014/main" id="{2C4FD076-E356-4DE8-8195-3ECF99E05922}"/>
              </a:ext>
            </a:extLst>
          </p:cNvPr>
          <p:cNvSpPr>
            <a:spLocks xmlns:a="http://schemas.openxmlformats.org/drawingml/2006/main" noGrp="1"/>
          </p:cNvSpPr>
          <p:nvPr/>
        </p:nvSpPr>
        <p:spPr>
          <a:xfrm xmlns:a="http://schemas.openxmlformats.org/drawingml/2006/main">
            <a:off x="567000" y="274320"/>
            <a:ext cx="10058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1100" b="1" u="none" strike="noStrike" spc="210">
                <a:solidFill>
                  <a:srgbClr val="119F9A"/>
                </a:solidFill>
                <a:latin typeface="Aptos"/>
                <a:ea typeface="Aptos"/>
                <a:cs typeface="Aptos"/>
              </a:rPr>
              <a:t>OUR INSIGHTS</a:t>
            </a:r>
            <a:endParaRPr sz="1100" b="0" u="none" strike="noStrike">
              <a:solidFill>
                <a:srgbClr val="000000"/>
              </a:solidFill>
              <a:latin typeface="Arial"/>
              <a:ea typeface="Arial"/>
              <a:cs typeface="Arial"/>
            </a:endParaRPr>
          </a:p>
        </p:txBody>
      </p:sp>
      <p:sp>
        <p:nvSpPr>
          <p:cNvPr id="3" name="Text 2">
            <a:extLst xmlns:a="http://schemas.openxmlformats.org/drawingml/2006/main">
              <a:ext uri="{FF2B5EF4-FFF2-40B4-BE49-F238E27FC236}">
                <a16:creationId xmlns:a16="http://schemas.microsoft.com/office/drawing/2014/main" id="{315468C8-12EC-4557-98B5-FDC3DBF2C4F1}"/>
              </a:ext>
            </a:extLst>
          </p:cNvPr>
          <p:cNvSpPr>
            <a:spLocks xmlns:a="http://schemas.openxmlformats.org/drawingml/2006/main" noGrp="1"/>
          </p:cNvSpPr>
          <p:nvPr/>
        </p:nvSpPr>
        <p:spPr>
          <a:xfrm xmlns:a="http://schemas.openxmlformats.org/drawingml/2006/main">
            <a:off x="567000" y="621720"/>
            <a:ext cx="11018160" cy="520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3000" b="1" u="none" strike="noStrike">
                <a:solidFill>
                  <a:srgbClr val="14283F"/>
                </a:solidFill>
                <a:latin typeface="Aptos"/>
                <a:ea typeface="Aptos"/>
                <a:cs typeface="Aptos"/>
              </a:rPr>
              <a:t>Disambiguation still shows a consistency gap</a:t>
            </a:r>
            <a:endParaRPr sz="3000" b="0" u="none" strike="noStrike">
              <a:solidFill>
                <a:srgbClr val="000000"/>
              </a:solidFill>
              <a:latin typeface="Arial"/>
              <a:ea typeface="Arial"/>
              <a:cs typeface="Arial"/>
            </a:endParaRPr>
          </a:p>
        </p:txBody>
      </p:sp>
      <p:sp>
        <p:nvSpPr>
          <p:cNvPr id="4" name="Shape 3">
            <a:extLst xmlns:a="http://schemas.openxmlformats.org/drawingml/2006/main">
              <a:ext uri="{FF2B5EF4-FFF2-40B4-BE49-F238E27FC236}">
                <a16:creationId xmlns:a16="http://schemas.microsoft.com/office/drawing/2014/main" id="{F13AF7BF-A49E-4E4F-8D2D-FB40ADA32A60}"/>
              </a:ext>
            </a:extLst>
          </p:cNvPr>
          <p:cNvSpPr>
            <a:spLocks xmlns:a="http://schemas.openxmlformats.org/drawingml/2006/main" noGrp="1"/>
          </p:cNvSpPr>
          <p:nvPr/>
        </p:nvSpPr>
        <p:spPr>
          <a:xfrm xmlns:a="http://schemas.openxmlformats.org/drawingml/2006/main">
            <a:off x="566640" y="128016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5" name="Shape 4">
            <a:extLst xmlns:a="http://schemas.openxmlformats.org/drawingml/2006/main">
              <a:ext uri="{FF2B5EF4-FFF2-40B4-BE49-F238E27FC236}">
                <a16:creationId xmlns:a16="http://schemas.microsoft.com/office/drawing/2014/main" id="{189D63D6-788F-49D0-8C5C-EDD51865DA3F}"/>
              </a:ext>
            </a:extLst>
          </p:cNvPr>
          <p:cNvSpPr>
            <a:spLocks xmlns:a="http://schemas.openxmlformats.org/drawingml/2006/main" noGrp="1"/>
          </p:cNvSpPr>
          <p:nvPr/>
        </p:nvSpPr>
        <p:spPr>
          <a:xfrm xmlns:a="http://schemas.openxmlformats.org/drawingml/2006/main">
            <a:off x="566640" y="651960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6" name="Text 5">
            <a:extLst xmlns:a="http://schemas.openxmlformats.org/drawingml/2006/main">
              <a:ext uri="{FF2B5EF4-FFF2-40B4-BE49-F238E27FC236}">
                <a16:creationId xmlns:a16="http://schemas.microsoft.com/office/drawing/2014/main" id="{3DE2DF10-865B-4173-A370-EA1BDA3B3EB5}"/>
              </a:ext>
            </a:extLst>
          </p:cNvPr>
          <p:cNvSpPr>
            <a:spLocks xmlns:a="http://schemas.openxmlformats.org/drawingml/2006/main" noGrp="1"/>
          </p:cNvSpPr>
          <p:nvPr/>
        </p:nvSpPr>
        <p:spPr>
          <a:xfrm xmlns:a="http://schemas.openxmlformats.org/drawingml/2006/main">
            <a:off x="594360" y="6574680"/>
            <a:ext cx="1042380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860" b="0" u="none" strike="noStrike">
                <a:solidFill>
                  <a:srgbClr val="64778B"/>
                </a:solidFill>
                <a:latin typeface="Aptos"/>
                <a:ea typeface="Aptos"/>
                <a:cs typeface="Aptos"/>
              </a:rPr>
              <a:t>Source: Saved replication data, 19 Oct 2026. Methods and evidence in speaker notes.</a:t>
            </a:r>
            <a:endParaRPr sz="860" b="0" u="none" strike="noStrike">
              <a:solidFill>
                <a:srgbClr val="000000"/>
              </a:solidFill>
              <a:latin typeface="Arial"/>
              <a:ea typeface="Arial"/>
              <a:cs typeface="Arial"/>
            </a:endParaRPr>
          </a:p>
        </p:txBody>
      </p:sp>
      <p:sp>
        <p:nvSpPr>
          <p:cNvPr id="7" name="Text 6">
            <a:extLst xmlns:a="http://schemas.openxmlformats.org/drawingml/2006/main">
              <a:ext uri="{FF2B5EF4-FFF2-40B4-BE49-F238E27FC236}">
                <a16:creationId xmlns:a16="http://schemas.microsoft.com/office/drawing/2014/main" id="{A05CF2ED-F969-4FF6-9ED9-5A816DB56D30}"/>
              </a:ext>
            </a:extLst>
          </p:cNvPr>
          <p:cNvSpPr>
            <a:spLocks xmlns:a="http://schemas.openxmlformats.org/drawingml/2006/main" noGrp="1"/>
          </p:cNvSpPr>
          <p:nvPr/>
        </p:nvSpPr>
        <p:spPr>
          <a:xfrm xmlns:a="http://schemas.openxmlformats.org/drawingml/2006/main">
            <a:off x="11155680" y="6537960"/>
            <a:ext cx="4384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algn="r" defTabSz="914400">
              <a:lnSpc>
                <a:spcPct val="100000"/>
              </a:lnSpc>
              <a:buNone/>
              <a:tabLst>
                <a:tab pos="0" algn="l"/>
              </a:tabLst>
            </a:pPr>
            <a:r>
              <a:rPr sz="1000" b="1" u="none" strike="noStrike">
                <a:solidFill>
                  <a:srgbClr val="64778B"/>
                </a:solidFill>
                <a:latin typeface="Aptos"/>
                <a:ea typeface="Aptos"/>
                <a:cs typeface="Aptos"/>
              </a:rPr>
              <a:t>21</a:t>
            </a:r>
            <a:endParaRPr sz="1000" b="0" u="none" strike="noStrike">
              <a:solidFill>
                <a:srgbClr val="000000"/>
              </a:solidFill>
              <a:latin typeface="Arial"/>
              <a:ea typeface="Arial"/>
              <a:cs typeface="Arial"/>
            </a:endParaRPr>
          </a:p>
        </p:txBody>
      </p:sp>
      <p:graphicFrame>
        <p:nvGraphicFramePr>
          <p:cNvPr id="8" name="Chart">
            <a:extLst xmlns:a="http://schemas.openxmlformats.org/drawingml/2006/main">
              <a:ext uri="{FF2B5EF4-FFF2-40B4-BE49-F238E27FC236}">
                <a16:creationId xmlns:a16="http://schemas.microsoft.com/office/drawing/2014/main" id="{39D27EC1-19BC-4F2E-B88A-F4CBF6CD059B}"/>
              </a:ext>
            </a:extLst>
          </p:cNvPr>
          <p:cNvGraphicFramePr/>
          <p:nvPr/>
        </p:nvGraphicFramePr>
        <p:xfrm>
          <a:off xmlns:a="http://schemas.openxmlformats.org/drawingml/2006/main" x="590550" y="1714500"/>
          <a:ext xmlns:a="http://schemas.openxmlformats.org/drawingml/2006/main" cx="6477000" cy="3905250"/>
        </p:xfrm>
        <a:graphic xmlns:a="http://schemas.openxmlformats.org/drawingml/2006/main">
          <a:graphicData uri="http://schemas.openxmlformats.org/drawingml/2006/chart">
            <c:chart xmlns:r="http://schemas.openxmlformats.org/officeDocument/2006/relationships" xmlns:c="http://schemas.openxmlformats.org/drawingml/2006/chart" r:id="R71ea9a65c7b14b6d"/>
          </a:graphicData>
        </a:graphic>
      </p:graphicFrame>
      <p:sp>
        <p:nvSpPr>
          <p:cNvPr id="9" name="">
            <a:extLst xmlns:a="http://schemas.openxmlformats.org/drawingml/2006/main">
              <a:ext uri="{FF2B5EF4-FFF2-40B4-BE49-F238E27FC236}">
                <a16:creationId xmlns:a16="http://schemas.microsoft.com/office/drawing/2014/main" id="{B3DEF839-0EA5-4F56-8CC0-D86BE2315AAB}"/>
              </a:ext>
            </a:extLst>
          </p:cNvPr>
          <p:cNvSpPr>
            <a:spLocks xmlns:a="http://schemas.openxmlformats.org/drawingml/2006/main" noGrp="1"/>
          </p:cNvSpPr>
          <p:nvPr/>
        </p:nvSpPr>
        <p:spPr>
          <a:xfrm xmlns:a="http://schemas.openxmlformats.org/drawingml/2006/main">
            <a:off x="7524750" y="1990725"/>
            <a:ext cx="4048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9F9A"/>
                </a:solidFill>
              </a:defRPr>
            </a:defPPr>
            <a:lvl1pPr>
              <a:defRPr sz="3225" b="1">
                <a:solidFill>
                  <a:srgbClr val="119F9A"/>
                </a:solidFill>
              </a:defRPr>
            </a:lvl1pPr>
            <a:lvl2pPr>
              <a:defRPr sz="3225" b="1">
                <a:solidFill>
                  <a:srgbClr val="119F9A"/>
                </a:solidFill>
              </a:defRPr>
            </a:lvl2pPr>
            <a:lvl3pPr>
              <a:defRPr sz="3225" b="1">
                <a:solidFill>
                  <a:srgbClr val="119F9A"/>
                </a:solidFill>
              </a:defRPr>
            </a:lvl3pPr>
            <a:lvl4pPr>
              <a:defRPr sz="3225" b="1">
                <a:solidFill>
                  <a:srgbClr val="119F9A"/>
                </a:solidFill>
              </a:defRPr>
            </a:lvl4pPr>
            <a:lvl5pPr>
              <a:defRPr sz="3225" b="1">
                <a:solidFill>
                  <a:srgbClr val="119F9A"/>
                </a:solidFill>
              </a:defRPr>
            </a:lvl5pPr>
            <a:lvl6pPr>
              <a:defRPr sz="3225" b="1">
                <a:solidFill>
                  <a:srgbClr val="119F9A"/>
                </a:solidFill>
              </a:defRPr>
            </a:lvl6pPr>
            <a:lvl7pPr>
              <a:defRPr sz="3225" b="1">
                <a:solidFill>
                  <a:srgbClr val="119F9A"/>
                </a:solidFill>
              </a:defRPr>
            </a:lvl7pPr>
            <a:lvl8pPr>
              <a:defRPr sz="3225" b="1">
                <a:solidFill>
                  <a:srgbClr val="119F9A"/>
                </a:solidFill>
              </a:defRPr>
            </a:lvl8pPr>
            <a:lvl9pPr>
              <a:defRPr sz="3225" b="1">
                <a:solidFill>
                  <a:srgbClr val="119F9A"/>
                </a:solidFill>
              </a:defRPr>
            </a:lvl9pPr>
          </a:lstStyle>
          <a:p xmlns:a="http://schemas.openxmlformats.org/drawingml/2006/main">
            <a:pPr>
              <a:defRPr sz="3225" b="1">
                <a:solidFill>
                  <a:srgbClr val="119F9A"/>
                </a:solidFill>
              </a:defRPr>
            </a:pPr>
            <a:r>
              <a:rPr sz="3225" b="1">
                <a:solidFill>
                  <a:srgbClr val="119F9A"/>
                </a:solidFill>
              </a:rPr>
              <a:t>40.0-point gap</a:t>
            </a:r>
          </a:p>
        </p:txBody>
      </p:sp>
      <p:sp>
        <p:nvSpPr>
          <p:cNvPr id="10" name="">
            <a:extLst xmlns:a="http://schemas.openxmlformats.org/drawingml/2006/main">
              <a:ext uri="{FF2B5EF4-FFF2-40B4-BE49-F238E27FC236}">
                <a16:creationId xmlns:a16="http://schemas.microsoft.com/office/drawing/2014/main" id="{F72C446B-FDD8-49AE-B986-95C2BA1CBBC2}"/>
              </a:ext>
            </a:extLst>
          </p:cNvPr>
          <p:cNvSpPr>
            <a:spLocks xmlns:a="http://schemas.openxmlformats.org/drawingml/2006/main" noGrp="1"/>
          </p:cNvSpPr>
          <p:nvPr/>
        </p:nvSpPr>
        <p:spPr>
          <a:xfrm xmlns:a="http://schemas.openxmlformats.org/drawingml/2006/main">
            <a:off x="7524750" y="2809875"/>
            <a:ext cx="404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283F"/>
                </a:solidFill>
              </a:defRPr>
            </a:defPPr>
            <a:lvl1pPr>
              <a:defRPr sz="1950" b="0">
                <a:solidFill>
                  <a:srgbClr val="14283F"/>
                </a:solidFill>
              </a:defRPr>
            </a:lvl1pPr>
            <a:lvl2pPr>
              <a:defRPr sz="1950" b="0">
                <a:solidFill>
                  <a:srgbClr val="14283F"/>
                </a:solidFill>
              </a:defRPr>
            </a:lvl2pPr>
            <a:lvl3pPr>
              <a:defRPr sz="1950" b="0">
                <a:solidFill>
                  <a:srgbClr val="14283F"/>
                </a:solidFill>
              </a:defRPr>
            </a:lvl3pPr>
            <a:lvl4pPr>
              <a:defRPr sz="1950" b="0">
                <a:solidFill>
                  <a:srgbClr val="14283F"/>
                </a:solidFill>
              </a:defRPr>
            </a:lvl4pPr>
            <a:lvl5pPr>
              <a:defRPr sz="1950" b="0">
                <a:solidFill>
                  <a:srgbClr val="14283F"/>
                </a:solidFill>
              </a:defRPr>
            </a:lvl5pPr>
            <a:lvl6pPr>
              <a:defRPr sz="1950" b="0">
                <a:solidFill>
                  <a:srgbClr val="14283F"/>
                </a:solidFill>
              </a:defRPr>
            </a:lvl6pPr>
            <a:lvl7pPr>
              <a:defRPr sz="1950" b="0">
                <a:solidFill>
                  <a:srgbClr val="14283F"/>
                </a:solidFill>
              </a:defRPr>
            </a:lvl7pPr>
            <a:lvl8pPr>
              <a:defRPr sz="1950" b="0">
                <a:solidFill>
                  <a:srgbClr val="14283F"/>
                </a:solidFill>
              </a:defRPr>
            </a:lvl8pPr>
            <a:lvl9pPr>
              <a:defRPr sz="1950" b="0">
                <a:solidFill>
                  <a:srgbClr val="14283F"/>
                </a:solidFill>
              </a:defRPr>
            </a:lvl9pPr>
          </a:lstStyle>
          <a:p xmlns:a="http://schemas.openxmlformats.org/drawingml/2006/main">
            <a:pPr>
              <a:defRPr sz="1950" b="0">
                <a:solidFill>
                  <a:srgbClr val="14283F"/>
                </a:solidFill>
              </a:defRPr>
            </a:pPr>
            <a:r>
              <a:rPr sz="1950" b="0">
                <a:solidFill>
                  <a:srgbClr val="14283F"/>
                </a:solidFill>
              </a:rPr>
              <a:t>At least one success: 80.0%</a:t>
            </a:r>
          </a:p>
          <a:p xmlns:a="http://schemas.openxmlformats.org/drawingml/2006/main">
            <a:pPr>
              <a:defRPr sz="1950" b="0">
                <a:solidFill>
                  <a:srgbClr val="14283F"/>
                </a:solidFill>
              </a:defRPr>
            </a:pPr>
            <a:r>
              <a:rPr sz="1950" b="0">
                <a:solidFill>
                  <a:srgbClr val="14283F"/>
                </a:solidFill>
              </a:rPr>
              <a:t>Three successes: 40.0%</a:t>
            </a:r>
          </a:p>
        </p:txBody>
      </p:sp>
      <p:sp>
        <p:nvSpPr>
          <p:cNvPr id="11" name="">
            <a:extLst xmlns:a="http://schemas.openxmlformats.org/drawingml/2006/main">
              <a:ext uri="{FF2B5EF4-FFF2-40B4-BE49-F238E27FC236}">
                <a16:creationId xmlns:a16="http://schemas.microsoft.com/office/drawing/2014/main" id="{5D8B2E88-FD13-4722-A7AC-6153DA2A0596}"/>
              </a:ext>
            </a:extLst>
          </p:cNvPr>
          <p:cNvSpPr>
            <a:spLocks xmlns:a="http://schemas.openxmlformats.org/drawingml/2006/main" noGrp="1"/>
          </p:cNvSpPr>
          <p:nvPr/>
        </p:nvSpPr>
        <p:spPr>
          <a:xfrm xmlns:a="http://schemas.openxmlformats.org/drawingml/2006/main">
            <a:off x="7524750" y="4095750"/>
            <a:ext cx="4048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83F"/>
                </a:solidFill>
              </a:defRPr>
            </a:defPPr>
            <a:lvl1pPr>
              <a:defRPr sz="2100" b="1">
                <a:solidFill>
                  <a:srgbClr val="14283F"/>
                </a:solidFill>
              </a:defRPr>
            </a:lvl1pPr>
            <a:lvl2pPr>
              <a:defRPr sz="2100" b="1">
                <a:solidFill>
                  <a:srgbClr val="14283F"/>
                </a:solidFill>
              </a:defRPr>
            </a:lvl2pPr>
            <a:lvl3pPr>
              <a:defRPr sz="2100" b="1">
                <a:solidFill>
                  <a:srgbClr val="14283F"/>
                </a:solidFill>
              </a:defRPr>
            </a:lvl3pPr>
            <a:lvl4pPr>
              <a:defRPr sz="2100" b="1">
                <a:solidFill>
                  <a:srgbClr val="14283F"/>
                </a:solidFill>
              </a:defRPr>
            </a:lvl4pPr>
            <a:lvl5pPr>
              <a:defRPr sz="2100" b="1">
                <a:solidFill>
                  <a:srgbClr val="14283F"/>
                </a:solidFill>
              </a:defRPr>
            </a:lvl5pPr>
            <a:lvl6pPr>
              <a:defRPr sz="2100" b="1">
                <a:solidFill>
                  <a:srgbClr val="14283F"/>
                </a:solidFill>
              </a:defRPr>
            </a:lvl6pPr>
            <a:lvl7pPr>
              <a:defRPr sz="2100" b="1">
                <a:solidFill>
                  <a:srgbClr val="14283F"/>
                </a:solidFill>
              </a:defRPr>
            </a:lvl7pPr>
            <a:lvl8pPr>
              <a:defRPr sz="2100" b="1">
                <a:solidFill>
                  <a:srgbClr val="14283F"/>
                </a:solidFill>
              </a:defRPr>
            </a:lvl8pPr>
            <a:lvl9pPr>
              <a:defRPr sz="2100" b="1">
                <a:solidFill>
                  <a:srgbClr val="14283F"/>
                </a:solidFill>
              </a:defRPr>
            </a:lvl9pPr>
          </a:lstStyle>
          <a:p xmlns:a="http://schemas.openxmlformats.org/drawingml/2006/main">
            <a:pPr>
              <a:defRPr sz="2100" b="1">
                <a:solidFill>
                  <a:srgbClr val="14283F"/>
                </a:solidFill>
              </a:defRPr>
            </a:pPr>
            <a:r>
              <a:rPr sz="2100" b="1">
                <a:solidFill>
                  <a:srgbClr val="14283F"/>
                </a:solidFill>
              </a:rPr>
              <a:t>10 of 25 tasks succeeded</a:t>
            </a:r>
          </a:p>
          <a:p xmlns:a="http://schemas.openxmlformats.org/drawingml/2006/main">
            <a:pPr>
              <a:defRPr sz="2100" b="1">
                <a:solidFill>
                  <a:srgbClr val="14283F"/>
                </a:solidFill>
              </a:defRPr>
            </a:pPr>
            <a:r>
              <a:rPr sz="2100" b="1">
                <a:solidFill>
                  <a:srgbClr val="14283F"/>
                </a:solidFill>
              </a:rPr>
              <a:t>in all first three runs.</a:t>
            </a:r>
          </a:p>
        </p:txBody>
      </p:sp>
      <p:sp>
        <p:nvSpPr>
          <p:cNvPr id="12" name="">
            <a:extLst xmlns:a="http://schemas.openxmlformats.org/drawingml/2006/main">
              <a:ext uri="{FF2B5EF4-FFF2-40B4-BE49-F238E27FC236}">
                <a16:creationId xmlns:a16="http://schemas.microsoft.com/office/drawing/2014/main" id="{374F297B-8875-4D3C-BA58-54CD9D669BCF}"/>
              </a:ext>
            </a:extLst>
          </p:cNvPr>
          <p:cNvSpPr>
            <a:spLocks xmlns:a="http://schemas.openxmlformats.org/drawingml/2006/main" noGrp="1"/>
          </p:cNvSpPr>
          <p:nvPr/>
        </p:nvSpPr>
        <p:spPr>
          <a:xfrm xmlns:a="http://schemas.openxmlformats.org/drawingml/2006/main">
            <a:off x="590550" y="58293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83F"/>
                </a:solidFill>
              </a:defRPr>
            </a:defPPr>
            <a:lvl1pPr>
              <a:defRPr sz="2025" b="1">
                <a:solidFill>
                  <a:srgbClr val="14283F"/>
                </a:solidFill>
              </a:defRPr>
            </a:lvl1pPr>
            <a:lvl2pPr>
              <a:defRPr sz="2025" b="1">
                <a:solidFill>
                  <a:srgbClr val="14283F"/>
                </a:solidFill>
              </a:defRPr>
            </a:lvl2pPr>
            <a:lvl3pPr>
              <a:defRPr sz="2025" b="1">
                <a:solidFill>
                  <a:srgbClr val="14283F"/>
                </a:solidFill>
              </a:defRPr>
            </a:lvl3pPr>
            <a:lvl4pPr>
              <a:defRPr sz="2025" b="1">
                <a:solidFill>
                  <a:srgbClr val="14283F"/>
                </a:solidFill>
              </a:defRPr>
            </a:lvl4pPr>
            <a:lvl5pPr>
              <a:defRPr sz="2025" b="1">
                <a:solidFill>
                  <a:srgbClr val="14283F"/>
                </a:solidFill>
              </a:defRPr>
            </a:lvl5pPr>
            <a:lvl6pPr>
              <a:defRPr sz="2025" b="1">
                <a:solidFill>
                  <a:srgbClr val="14283F"/>
                </a:solidFill>
              </a:defRPr>
            </a:lvl6pPr>
            <a:lvl7pPr>
              <a:defRPr sz="2025" b="1">
                <a:solidFill>
                  <a:srgbClr val="14283F"/>
                </a:solidFill>
              </a:defRPr>
            </a:lvl7pPr>
            <a:lvl8pPr>
              <a:defRPr sz="2025" b="1">
                <a:solidFill>
                  <a:srgbClr val="14283F"/>
                </a:solidFill>
              </a:defRPr>
            </a:lvl8pPr>
            <a:lvl9pPr>
              <a:defRPr sz="2025" b="1">
                <a:solidFill>
                  <a:srgbClr val="14283F"/>
                </a:solidFill>
              </a:defRPr>
            </a:lvl9pPr>
          </a:lstStyle>
          <a:p xmlns:a="http://schemas.openxmlformats.org/drawingml/2006/main">
            <a:pPr>
              <a:defRPr sz="2025" b="1">
                <a:solidFill>
                  <a:srgbClr val="14283F"/>
                </a:solidFill>
              </a:defRPr>
            </a:pPr>
            <a:r>
              <a:rPr sz="2025" b="1">
                <a:solidFill>
                  <a:srgbClr val="14283F"/>
                </a:solidFill>
              </a:rPr>
              <a:t>A successful run does not guarantee repeatable behavior.</a:t>
            </a:r>
          </a:p>
        </p:txBody>
      </p:sp>
    </p:spTree>
    <p:extLst>
      <p:ext uri="{BB962C8B-B14F-4D97-AF65-F5344CB8AC3E}">
        <p14:creationId xmlns:p14="http://schemas.microsoft.com/office/powerpoint/2010/main" val="1374121144"/>
      </p:ext>
    </p:extLst>
  </p:cSld>
</p:sld>
</file>

<file path=ppt/slides/slide2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Shape 0">
            <a:extLst xmlns:a="http://schemas.openxmlformats.org/drawingml/2006/main">
              <a:ext uri="{FF2B5EF4-FFF2-40B4-BE49-F238E27FC236}">
                <a16:creationId xmlns:a16="http://schemas.microsoft.com/office/drawing/2014/main" id="{0CCFAE65-8F72-4D72-8AFE-6BA4FD2F2C0C}"/>
              </a:ext>
            </a:extLst>
          </p:cNvPr>
          <p:cNvSpPr>
            <a:spLocks xmlns:a="http://schemas.openxmlformats.org/drawingml/2006/main" noGrp="1"/>
          </p:cNvSpPr>
          <p:nvPr/>
        </p:nvSpPr>
        <p:spPr>
          <a:xfrm xmlns:a="http://schemas.openxmlformats.org/drawingml/2006/main">
            <a:off x="0" y="0"/>
            <a:ext cx="12191400" cy="72720"/>
          </a:xfrm>
          <a:prstGeom xmlns:a="http://schemas.openxmlformats.org/drawingml/2006/main" prst="rect">
            <a:avLst/>
          </a:prstGeom>
          <a:solidFill xmlns:a="http://schemas.openxmlformats.org/drawingml/2006/main">
            <a:srgbClr val="119F9A"/>
          </a:solidFill>
          <a:ln xmlns:a="http://schemas.openxmlformats.org/drawingml/2006/main" w="12700">
            <a:solidFill>
              <a:srgbClr val="119F9A"/>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8080" rIns="90000" bIns="28080" anchor="t">
            <a:noAutofit/>
          </a:bodyPr>
          <a:lstStyle xmlns:a="http://schemas.openxmlformats.org/drawingml/2006/main"/>
          <a:p xmlns:a="http://schemas.openxmlformats.org/drawingml/2006/main">
            <a:endParaRPr sz="1800" b="0" u="none" strike="noStrike">
              <a:solidFill>
                <a:srgbClr val="FFFFFF"/>
              </a:solidFill>
              <a:latin typeface="Arial"/>
              <a:ea typeface="Arial"/>
              <a:cs typeface="Arial"/>
            </a:endParaRPr>
          </a:p>
        </p:txBody>
      </p:sp>
      <p:sp>
        <p:nvSpPr>
          <p:cNvPr id="2" name="Text 1">
            <a:extLst xmlns:a="http://schemas.openxmlformats.org/drawingml/2006/main">
              <a:ext uri="{FF2B5EF4-FFF2-40B4-BE49-F238E27FC236}">
                <a16:creationId xmlns:a16="http://schemas.microsoft.com/office/drawing/2014/main" id="{2C4FD076-E356-4DE8-8195-3ECF99E05922}"/>
              </a:ext>
            </a:extLst>
          </p:cNvPr>
          <p:cNvSpPr>
            <a:spLocks xmlns:a="http://schemas.openxmlformats.org/drawingml/2006/main" noGrp="1"/>
          </p:cNvSpPr>
          <p:nvPr/>
        </p:nvSpPr>
        <p:spPr>
          <a:xfrm xmlns:a="http://schemas.openxmlformats.org/drawingml/2006/main">
            <a:off x="567000" y="274320"/>
            <a:ext cx="10058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1100" b="1" u="none" strike="noStrike" spc="210">
                <a:solidFill>
                  <a:srgbClr val="119F9A"/>
                </a:solidFill>
                <a:latin typeface="Aptos"/>
                <a:ea typeface="Aptos"/>
                <a:cs typeface="Aptos"/>
              </a:rPr>
              <a:t>OUR INSIGHTS</a:t>
            </a:r>
            <a:endParaRPr sz="1100" b="0" u="none" strike="noStrike">
              <a:solidFill>
                <a:srgbClr val="000000"/>
              </a:solidFill>
              <a:latin typeface="Arial"/>
              <a:ea typeface="Arial"/>
              <a:cs typeface="Arial"/>
            </a:endParaRPr>
          </a:p>
        </p:txBody>
      </p:sp>
      <p:sp>
        <p:nvSpPr>
          <p:cNvPr id="3" name="Text 2">
            <a:extLst xmlns:a="http://schemas.openxmlformats.org/drawingml/2006/main">
              <a:ext uri="{FF2B5EF4-FFF2-40B4-BE49-F238E27FC236}">
                <a16:creationId xmlns:a16="http://schemas.microsoft.com/office/drawing/2014/main" id="{315468C8-12EC-4557-98B5-FDC3DBF2C4F1}"/>
              </a:ext>
            </a:extLst>
          </p:cNvPr>
          <p:cNvSpPr>
            <a:spLocks xmlns:a="http://schemas.openxmlformats.org/drawingml/2006/main" noGrp="1"/>
          </p:cNvSpPr>
          <p:nvPr/>
        </p:nvSpPr>
        <p:spPr>
          <a:xfrm xmlns:a="http://schemas.openxmlformats.org/drawingml/2006/main">
            <a:off x="567000" y="621720"/>
            <a:ext cx="11018160" cy="520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3000" b="1" u="none" strike="noStrike">
                <a:solidFill>
                  <a:srgbClr val="14283F"/>
                </a:solidFill>
                <a:latin typeface="Aptos"/>
                <a:ea typeface="Aptos"/>
                <a:cs typeface="Aptos"/>
              </a:rPr>
              <a:t>No clear improvement over historical GPT-5</a:t>
            </a:r>
            <a:endParaRPr sz="3000" b="0" u="none" strike="noStrike">
              <a:solidFill>
                <a:srgbClr val="000000"/>
              </a:solidFill>
              <a:latin typeface="Arial"/>
              <a:ea typeface="Arial"/>
              <a:cs typeface="Arial"/>
            </a:endParaRPr>
          </a:p>
        </p:txBody>
      </p:sp>
      <p:sp>
        <p:nvSpPr>
          <p:cNvPr id="4" name="Shape 3">
            <a:extLst xmlns:a="http://schemas.openxmlformats.org/drawingml/2006/main">
              <a:ext uri="{FF2B5EF4-FFF2-40B4-BE49-F238E27FC236}">
                <a16:creationId xmlns:a16="http://schemas.microsoft.com/office/drawing/2014/main" id="{F13AF7BF-A49E-4E4F-8D2D-FB40ADA32A60}"/>
              </a:ext>
            </a:extLst>
          </p:cNvPr>
          <p:cNvSpPr>
            <a:spLocks xmlns:a="http://schemas.openxmlformats.org/drawingml/2006/main" noGrp="1"/>
          </p:cNvSpPr>
          <p:nvPr/>
        </p:nvSpPr>
        <p:spPr>
          <a:xfrm xmlns:a="http://schemas.openxmlformats.org/drawingml/2006/main">
            <a:off x="566640" y="128016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5" name="Shape 4">
            <a:extLst xmlns:a="http://schemas.openxmlformats.org/drawingml/2006/main">
              <a:ext uri="{FF2B5EF4-FFF2-40B4-BE49-F238E27FC236}">
                <a16:creationId xmlns:a16="http://schemas.microsoft.com/office/drawing/2014/main" id="{189D63D6-788F-49D0-8C5C-EDD51865DA3F}"/>
              </a:ext>
            </a:extLst>
          </p:cNvPr>
          <p:cNvSpPr>
            <a:spLocks xmlns:a="http://schemas.openxmlformats.org/drawingml/2006/main" noGrp="1"/>
          </p:cNvSpPr>
          <p:nvPr/>
        </p:nvSpPr>
        <p:spPr>
          <a:xfrm xmlns:a="http://schemas.openxmlformats.org/drawingml/2006/main">
            <a:off x="566640" y="651960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6" name="Text 5">
            <a:extLst xmlns:a="http://schemas.openxmlformats.org/drawingml/2006/main">
              <a:ext uri="{FF2B5EF4-FFF2-40B4-BE49-F238E27FC236}">
                <a16:creationId xmlns:a16="http://schemas.microsoft.com/office/drawing/2014/main" id="{3DE2DF10-865B-4173-A370-EA1BDA3B3EB5}"/>
              </a:ext>
            </a:extLst>
          </p:cNvPr>
          <p:cNvSpPr>
            <a:spLocks xmlns:a="http://schemas.openxmlformats.org/drawingml/2006/main" noGrp="1"/>
          </p:cNvSpPr>
          <p:nvPr/>
        </p:nvSpPr>
        <p:spPr>
          <a:xfrm xmlns:a="http://schemas.openxmlformats.org/drawingml/2006/main">
            <a:off x="594360" y="6574680"/>
            <a:ext cx="1042380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860" b="0" u="none" strike="noStrike">
                <a:solidFill>
                  <a:srgbClr val="64778B"/>
                </a:solidFill>
                <a:latin typeface="Aptos"/>
                <a:ea typeface="Aptos"/>
                <a:cs typeface="Aptos"/>
              </a:rPr>
              <a:t>Source: Saved replication data, 19 Oct 2026. Methods and evidence in speaker notes.</a:t>
            </a:r>
            <a:endParaRPr sz="860" b="0" u="none" strike="noStrike">
              <a:solidFill>
                <a:srgbClr val="000000"/>
              </a:solidFill>
              <a:latin typeface="Arial"/>
              <a:ea typeface="Arial"/>
              <a:cs typeface="Arial"/>
            </a:endParaRPr>
          </a:p>
        </p:txBody>
      </p:sp>
      <p:sp>
        <p:nvSpPr>
          <p:cNvPr id="7" name="Text 6">
            <a:extLst xmlns:a="http://schemas.openxmlformats.org/drawingml/2006/main">
              <a:ext uri="{FF2B5EF4-FFF2-40B4-BE49-F238E27FC236}">
                <a16:creationId xmlns:a16="http://schemas.microsoft.com/office/drawing/2014/main" id="{A05CF2ED-F969-4FF6-9ED9-5A816DB56D30}"/>
              </a:ext>
            </a:extLst>
          </p:cNvPr>
          <p:cNvSpPr>
            <a:spLocks xmlns:a="http://schemas.openxmlformats.org/drawingml/2006/main" noGrp="1"/>
          </p:cNvSpPr>
          <p:nvPr/>
        </p:nvSpPr>
        <p:spPr>
          <a:xfrm xmlns:a="http://schemas.openxmlformats.org/drawingml/2006/main">
            <a:off x="11155680" y="6537960"/>
            <a:ext cx="4384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algn="r" defTabSz="914400">
              <a:lnSpc>
                <a:spcPct val="100000"/>
              </a:lnSpc>
              <a:buNone/>
              <a:tabLst>
                <a:tab pos="0" algn="l"/>
              </a:tabLst>
            </a:pPr>
            <a:r>
              <a:rPr sz="1000" b="1" u="none" strike="noStrike">
                <a:solidFill>
                  <a:srgbClr val="64778B"/>
                </a:solidFill>
                <a:latin typeface="Aptos"/>
                <a:ea typeface="Aptos"/>
                <a:cs typeface="Aptos"/>
              </a:rPr>
              <a:t>22</a:t>
            </a:r>
            <a:endParaRPr sz="1000" b="0" u="none" strike="noStrike">
              <a:solidFill>
                <a:srgbClr val="000000"/>
              </a:solidFill>
              <a:latin typeface="Arial"/>
              <a:ea typeface="Arial"/>
              <a:cs typeface="Arial"/>
            </a:endParaRPr>
          </a:p>
        </p:txBody>
      </p:sp>
      <p:graphicFrame>
        <p:nvGraphicFramePr>
          <p:cNvPr id="8" name="Chart">
            <a:extLst xmlns:a="http://schemas.openxmlformats.org/drawingml/2006/main">
              <a:ext uri="{FF2B5EF4-FFF2-40B4-BE49-F238E27FC236}">
                <a16:creationId xmlns:a16="http://schemas.microsoft.com/office/drawing/2014/main" id="{5DE396DE-3484-4252-A15F-D86DC7E6EBE0}"/>
              </a:ext>
            </a:extLst>
          </p:cNvPr>
          <p:cNvGraphicFramePr/>
          <p:nvPr/>
        </p:nvGraphicFramePr>
        <p:xfrm>
          <a:off xmlns:a="http://schemas.openxmlformats.org/drawingml/2006/main" x="590550" y="1762125"/>
          <a:ext xmlns:a="http://schemas.openxmlformats.org/drawingml/2006/main" cx="7239000" cy="3619500"/>
        </p:xfrm>
        <a:graphic xmlns:a="http://schemas.openxmlformats.org/drawingml/2006/main">
          <a:graphicData uri="http://schemas.openxmlformats.org/drawingml/2006/chart">
            <c:chart xmlns:r="http://schemas.openxmlformats.org/officeDocument/2006/relationships" xmlns:c="http://schemas.openxmlformats.org/drawingml/2006/chart" r:id="R22cf9280eb734eb2"/>
          </a:graphicData>
        </a:graphic>
      </p:graphicFrame>
      <p:sp>
        <p:nvSpPr>
          <p:cNvPr id="9" name="">
            <a:extLst xmlns:a="http://schemas.openxmlformats.org/drawingml/2006/main">
              <a:ext uri="{FF2B5EF4-FFF2-40B4-BE49-F238E27FC236}">
                <a16:creationId xmlns:a16="http://schemas.microsoft.com/office/drawing/2014/main" id="{D433AFF5-4ADD-443F-ADB4-DF09A6674269}"/>
              </a:ext>
            </a:extLst>
          </p:cNvPr>
          <p:cNvSpPr>
            <a:spLocks xmlns:a="http://schemas.openxmlformats.org/drawingml/2006/main" noGrp="1"/>
          </p:cNvSpPr>
          <p:nvPr/>
        </p:nvSpPr>
        <p:spPr>
          <a:xfrm xmlns:a="http://schemas.openxmlformats.org/drawingml/2006/main">
            <a:off x="590550" y="1438275"/>
            <a:ext cx="704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892"/>
                </a:solidFill>
              </a:defRPr>
            </a:defPPr>
            <a:lvl1pPr>
              <a:defRPr sz="1650" b="0">
                <a:solidFill>
                  <a:srgbClr val="607892"/>
                </a:solidFill>
              </a:defRPr>
            </a:lvl1pPr>
            <a:lvl2pPr>
              <a:defRPr sz="1650" b="0">
                <a:solidFill>
                  <a:srgbClr val="607892"/>
                </a:solidFill>
              </a:defRPr>
            </a:lvl2pPr>
            <a:lvl3pPr>
              <a:defRPr sz="1650" b="0">
                <a:solidFill>
                  <a:srgbClr val="607892"/>
                </a:solidFill>
              </a:defRPr>
            </a:lvl3pPr>
            <a:lvl4pPr>
              <a:defRPr sz="1650" b="0">
                <a:solidFill>
                  <a:srgbClr val="607892"/>
                </a:solidFill>
              </a:defRPr>
            </a:lvl4pPr>
            <a:lvl5pPr>
              <a:defRPr sz="1650" b="0">
                <a:solidFill>
                  <a:srgbClr val="607892"/>
                </a:solidFill>
              </a:defRPr>
            </a:lvl5pPr>
            <a:lvl6pPr>
              <a:defRPr sz="1650" b="0">
                <a:solidFill>
                  <a:srgbClr val="607892"/>
                </a:solidFill>
              </a:defRPr>
            </a:lvl6pPr>
            <a:lvl7pPr>
              <a:defRPr sz="1650" b="0">
                <a:solidFill>
                  <a:srgbClr val="607892"/>
                </a:solidFill>
              </a:defRPr>
            </a:lvl7pPr>
            <a:lvl8pPr>
              <a:defRPr sz="1650" b="0">
                <a:solidFill>
                  <a:srgbClr val="607892"/>
                </a:solidFill>
              </a:defRPr>
            </a:lvl8pPr>
            <a:lvl9pPr>
              <a:defRPr sz="1650" b="0">
                <a:solidFill>
                  <a:srgbClr val="607892"/>
                </a:solidFill>
              </a:defRPr>
            </a:lvl9pPr>
          </a:lstStyle>
          <a:p xmlns:a="http://schemas.openxmlformats.org/drawingml/2006/main">
            <a:pPr>
              <a:defRPr sz="1650" b="0">
                <a:solidFill>
                  <a:srgbClr val="607892"/>
                </a:solidFill>
              </a:defRPr>
            </a:pPr>
            <a:r>
              <a:rPr sz="1650" b="0">
                <a:solidFill>
                  <a:srgbClr val="607892"/>
                </a:solidFill>
              </a:rPr>
              <a:t>Pass³ on matched tasks</a:t>
            </a:r>
          </a:p>
        </p:txBody>
      </p:sp>
      <p:sp>
        <p:nvSpPr>
          <p:cNvPr id="10" name="">
            <a:extLst xmlns:a="http://schemas.openxmlformats.org/drawingml/2006/main">
              <a:ext uri="{FF2B5EF4-FFF2-40B4-BE49-F238E27FC236}">
                <a16:creationId xmlns:a16="http://schemas.microsoft.com/office/drawing/2014/main" id="{54D7E216-3E13-47EE-9B87-42C6DDB7BB72}"/>
              </a:ext>
            </a:extLst>
          </p:cNvPr>
          <p:cNvSpPr>
            <a:spLocks xmlns:a="http://schemas.openxmlformats.org/drawingml/2006/main" noGrp="1"/>
          </p:cNvSpPr>
          <p:nvPr/>
        </p:nvSpPr>
        <p:spPr>
          <a:xfrm xmlns:a="http://schemas.openxmlformats.org/drawingml/2006/main">
            <a:off x="8239125" y="1857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19F9A"/>
                </a:solidFill>
              </a:defRPr>
            </a:defPPr>
            <a:lvl1pPr>
              <a:defRPr sz="2025" b="1">
                <a:solidFill>
                  <a:srgbClr val="119F9A"/>
                </a:solidFill>
              </a:defRPr>
            </a:lvl1pPr>
            <a:lvl2pPr>
              <a:defRPr sz="2025" b="1">
                <a:solidFill>
                  <a:srgbClr val="119F9A"/>
                </a:solidFill>
              </a:defRPr>
            </a:lvl2pPr>
            <a:lvl3pPr>
              <a:defRPr sz="2025" b="1">
                <a:solidFill>
                  <a:srgbClr val="119F9A"/>
                </a:solidFill>
              </a:defRPr>
            </a:lvl3pPr>
            <a:lvl4pPr>
              <a:defRPr sz="2025" b="1">
                <a:solidFill>
                  <a:srgbClr val="119F9A"/>
                </a:solidFill>
              </a:defRPr>
            </a:lvl4pPr>
            <a:lvl5pPr>
              <a:defRPr sz="2025" b="1">
                <a:solidFill>
                  <a:srgbClr val="119F9A"/>
                </a:solidFill>
              </a:defRPr>
            </a:lvl5pPr>
            <a:lvl6pPr>
              <a:defRPr sz="2025" b="1">
                <a:solidFill>
                  <a:srgbClr val="119F9A"/>
                </a:solidFill>
              </a:defRPr>
            </a:lvl6pPr>
            <a:lvl7pPr>
              <a:defRPr sz="2025" b="1">
                <a:solidFill>
                  <a:srgbClr val="119F9A"/>
                </a:solidFill>
              </a:defRPr>
            </a:lvl7pPr>
            <a:lvl8pPr>
              <a:defRPr sz="2025" b="1">
                <a:solidFill>
                  <a:srgbClr val="119F9A"/>
                </a:solidFill>
              </a:defRPr>
            </a:lvl8pPr>
            <a:lvl9pPr>
              <a:defRPr sz="2025" b="1">
                <a:solidFill>
                  <a:srgbClr val="119F9A"/>
                </a:solidFill>
              </a:defRPr>
            </a:lvl9pPr>
          </a:lstStyle>
          <a:p xmlns:a="http://schemas.openxmlformats.org/drawingml/2006/main">
            <a:pPr>
              <a:defRPr sz="2025" b="1">
                <a:solidFill>
                  <a:srgbClr val="119F9A"/>
                </a:solidFill>
              </a:defRPr>
            </a:pPr>
            <a:r>
              <a:rPr sz="2025" b="1">
                <a:solidFill>
                  <a:srgbClr val="119F9A"/>
                </a:solidFill>
              </a:rPr>
              <a:t>Same task definitions</a:t>
            </a:r>
          </a:p>
        </p:txBody>
      </p:sp>
      <p:sp>
        <p:nvSpPr>
          <p:cNvPr id="11" name="">
            <a:extLst xmlns:a="http://schemas.openxmlformats.org/drawingml/2006/main">
              <a:ext uri="{FF2B5EF4-FFF2-40B4-BE49-F238E27FC236}">
                <a16:creationId xmlns:a16="http://schemas.microsoft.com/office/drawing/2014/main" id="{BFDF2F02-616D-4AF8-BF13-5A37C2B1530F}"/>
              </a:ext>
            </a:extLst>
          </p:cNvPr>
          <p:cNvSpPr>
            <a:spLocks xmlns:a="http://schemas.openxmlformats.org/drawingml/2006/main" noGrp="1"/>
          </p:cNvSpPr>
          <p:nvPr/>
        </p:nvSpPr>
        <p:spPr>
          <a:xfrm xmlns:a="http://schemas.openxmlformats.org/drawingml/2006/main">
            <a:off x="8239125" y="2400300"/>
            <a:ext cx="333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83F"/>
                </a:solidFill>
              </a:defRPr>
            </a:defPPr>
            <a:lvl1pPr>
              <a:defRPr sz="2025" b="0">
                <a:solidFill>
                  <a:srgbClr val="14283F"/>
                </a:solidFill>
              </a:defRPr>
            </a:lvl1pPr>
            <a:lvl2pPr>
              <a:defRPr sz="2025" b="0">
                <a:solidFill>
                  <a:srgbClr val="14283F"/>
                </a:solidFill>
              </a:defRPr>
            </a:lvl2pPr>
            <a:lvl3pPr>
              <a:defRPr sz="2025" b="0">
                <a:solidFill>
                  <a:srgbClr val="14283F"/>
                </a:solidFill>
              </a:defRPr>
            </a:lvl3pPr>
            <a:lvl4pPr>
              <a:defRPr sz="2025" b="0">
                <a:solidFill>
                  <a:srgbClr val="14283F"/>
                </a:solidFill>
              </a:defRPr>
            </a:lvl4pPr>
            <a:lvl5pPr>
              <a:defRPr sz="2025" b="0">
                <a:solidFill>
                  <a:srgbClr val="14283F"/>
                </a:solidFill>
              </a:defRPr>
            </a:lvl5pPr>
            <a:lvl6pPr>
              <a:defRPr sz="2025" b="0">
                <a:solidFill>
                  <a:srgbClr val="14283F"/>
                </a:solidFill>
              </a:defRPr>
            </a:lvl6pPr>
            <a:lvl7pPr>
              <a:defRPr sz="2025" b="0">
                <a:solidFill>
                  <a:srgbClr val="14283F"/>
                </a:solidFill>
              </a:defRPr>
            </a:lvl7pPr>
            <a:lvl8pPr>
              <a:defRPr sz="2025" b="0">
                <a:solidFill>
                  <a:srgbClr val="14283F"/>
                </a:solidFill>
              </a:defRPr>
            </a:lvl8pPr>
            <a:lvl9pPr>
              <a:defRPr sz="2025" b="0">
                <a:solidFill>
                  <a:srgbClr val="14283F"/>
                </a:solidFill>
              </a:defRPr>
            </a:lvl9pPr>
          </a:lstStyle>
          <a:p xmlns:a="http://schemas.openxmlformats.org/drawingml/2006/main">
            <a:pPr>
              <a:defRPr sz="2025" b="0">
                <a:solidFill>
                  <a:srgbClr val="14283F"/>
                </a:solidFill>
              </a:defRPr>
            </a:pPr>
            <a:r>
              <a:rPr sz="2025" b="0">
                <a:solidFill>
                  <a:srgbClr val="14283F"/>
                </a:solidFill>
              </a:rPr>
              <a:t>48 Base</a:t>
            </a:r>
          </a:p>
          <a:p xmlns:a="http://schemas.openxmlformats.org/drawingml/2006/main">
            <a:pPr>
              <a:defRPr sz="2025" b="0">
                <a:solidFill>
                  <a:srgbClr val="14283F"/>
                </a:solidFill>
              </a:defRPr>
            </a:pPr>
            <a:r>
              <a:rPr sz="2025" b="0">
                <a:solidFill>
                  <a:srgbClr val="14283F"/>
                </a:solidFill>
              </a:rPr>
              <a:t>45 Hallucination</a:t>
            </a:r>
          </a:p>
          <a:p xmlns:a="http://schemas.openxmlformats.org/drawingml/2006/main">
            <a:pPr>
              <a:defRPr sz="2025" b="0">
                <a:solidFill>
                  <a:srgbClr val="14283F"/>
                </a:solidFill>
              </a:defRPr>
            </a:pPr>
            <a:r>
              <a:rPr sz="2025" b="0">
                <a:solidFill>
                  <a:srgbClr val="14283F"/>
                </a:solidFill>
              </a:rPr>
              <a:t>19 Disambiguation</a:t>
            </a:r>
          </a:p>
        </p:txBody>
      </p:sp>
      <p:sp>
        <p:nvSpPr>
          <p:cNvPr id="12" name="">
            <a:extLst xmlns:a="http://schemas.openxmlformats.org/drawingml/2006/main">
              <a:ext uri="{FF2B5EF4-FFF2-40B4-BE49-F238E27FC236}">
                <a16:creationId xmlns:a16="http://schemas.microsoft.com/office/drawing/2014/main" id="{F0D1338B-B6F3-433B-A65A-136EFFA10CA9}"/>
              </a:ext>
            </a:extLst>
          </p:cNvPr>
          <p:cNvSpPr>
            <a:spLocks xmlns:a="http://schemas.openxmlformats.org/drawingml/2006/main" noGrp="1"/>
          </p:cNvSpPr>
          <p:nvPr/>
        </p:nvSpPr>
        <p:spPr>
          <a:xfrm xmlns:a="http://schemas.openxmlformats.org/drawingml/2006/main">
            <a:off x="8239125" y="399097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7892"/>
                </a:solidFill>
              </a:defRPr>
            </a:defPPr>
            <a:lvl1pPr>
              <a:defRPr sz="1875" b="0">
                <a:solidFill>
                  <a:srgbClr val="607892"/>
                </a:solidFill>
              </a:defRPr>
            </a:lvl1pPr>
            <a:lvl2pPr>
              <a:defRPr sz="1875" b="0">
                <a:solidFill>
                  <a:srgbClr val="607892"/>
                </a:solidFill>
              </a:defRPr>
            </a:lvl2pPr>
            <a:lvl3pPr>
              <a:defRPr sz="1875" b="0">
                <a:solidFill>
                  <a:srgbClr val="607892"/>
                </a:solidFill>
              </a:defRPr>
            </a:lvl3pPr>
            <a:lvl4pPr>
              <a:defRPr sz="1875" b="0">
                <a:solidFill>
                  <a:srgbClr val="607892"/>
                </a:solidFill>
              </a:defRPr>
            </a:lvl4pPr>
            <a:lvl5pPr>
              <a:defRPr sz="1875" b="0">
                <a:solidFill>
                  <a:srgbClr val="607892"/>
                </a:solidFill>
              </a:defRPr>
            </a:lvl5pPr>
            <a:lvl6pPr>
              <a:defRPr sz="1875" b="0">
                <a:solidFill>
                  <a:srgbClr val="607892"/>
                </a:solidFill>
              </a:defRPr>
            </a:lvl6pPr>
            <a:lvl7pPr>
              <a:defRPr sz="1875" b="0">
                <a:solidFill>
                  <a:srgbClr val="607892"/>
                </a:solidFill>
              </a:defRPr>
            </a:lvl7pPr>
            <a:lvl8pPr>
              <a:defRPr sz="1875" b="0">
                <a:solidFill>
                  <a:srgbClr val="607892"/>
                </a:solidFill>
              </a:defRPr>
            </a:lvl8pPr>
            <a:lvl9pPr>
              <a:defRPr sz="1875" b="0">
                <a:solidFill>
                  <a:srgbClr val="607892"/>
                </a:solidFill>
              </a:defRPr>
            </a:lvl9pPr>
          </a:lstStyle>
          <a:p xmlns:a="http://schemas.openxmlformats.org/drawingml/2006/main">
            <a:pPr>
              <a:defRPr sz="1875" b="0">
                <a:solidFill>
                  <a:srgbClr val="607892"/>
                </a:solidFill>
              </a:defRPr>
            </a:pPr>
            <a:r>
              <a:rPr sz="1875" b="0">
                <a:solidFill>
                  <a:srgbClr val="607892"/>
                </a:solidFill>
              </a:rPr>
              <a:t>Historical code, simulator</a:t>
            </a:r>
          </a:p>
          <a:p xmlns:a="http://schemas.openxmlformats.org/drawingml/2006/main">
            <a:pPr>
              <a:defRPr sz="1875" b="0">
                <a:solidFill>
                  <a:srgbClr val="607892"/>
                </a:solidFill>
              </a:defRPr>
            </a:pPr>
            <a:r>
              <a:rPr sz="1875" b="0">
                <a:solidFill>
                  <a:srgbClr val="607892"/>
                </a:solidFill>
              </a:rPr>
              <a:t>and judge conditions differ.</a:t>
            </a:r>
          </a:p>
        </p:txBody>
      </p:sp>
      <p:sp>
        <p:nvSpPr>
          <p:cNvPr id="13" name="">
            <a:extLst xmlns:a="http://schemas.openxmlformats.org/drawingml/2006/main">
              <a:ext uri="{FF2B5EF4-FFF2-40B4-BE49-F238E27FC236}">
                <a16:creationId xmlns:a16="http://schemas.microsoft.com/office/drawing/2014/main" id="{F6801216-1614-4BC4-8DFC-053B07C0B54C}"/>
              </a:ext>
            </a:extLst>
          </p:cNvPr>
          <p:cNvSpPr>
            <a:spLocks xmlns:a="http://schemas.openxmlformats.org/drawingml/2006/main" noGrp="1"/>
          </p:cNvSpPr>
          <p:nvPr/>
        </p:nvSpPr>
        <p:spPr>
          <a:xfrm xmlns:a="http://schemas.openxmlformats.org/drawingml/2006/main">
            <a:off x="590550" y="55626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4283F"/>
                </a:solidFill>
              </a:defRPr>
            </a:defPPr>
            <a:lvl1pPr>
              <a:defRPr sz="1875" b="1">
                <a:solidFill>
                  <a:srgbClr val="14283F"/>
                </a:solidFill>
              </a:defRPr>
            </a:lvl1pPr>
            <a:lvl2pPr>
              <a:defRPr sz="1875" b="1">
                <a:solidFill>
                  <a:srgbClr val="14283F"/>
                </a:solidFill>
              </a:defRPr>
            </a:lvl2pPr>
            <a:lvl3pPr>
              <a:defRPr sz="1875" b="1">
                <a:solidFill>
                  <a:srgbClr val="14283F"/>
                </a:solidFill>
              </a:defRPr>
            </a:lvl3pPr>
            <a:lvl4pPr>
              <a:defRPr sz="1875" b="1">
                <a:solidFill>
                  <a:srgbClr val="14283F"/>
                </a:solidFill>
              </a:defRPr>
            </a:lvl4pPr>
            <a:lvl5pPr>
              <a:defRPr sz="1875" b="1">
                <a:solidFill>
                  <a:srgbClr val="14283F"/>
                </a:solidFill>
              </a:defRPr>
            </a:lvl5pPr>
            <a:lvl6pPr>
              <a:defRPr sz="1875" b="1">
                <a:solidFill>
                  <a:srgbClr val="14283F"/>
                </a:solidFill>
              </a:defRPr>
            </a:lvl6pPr>
            <a:lvl7pPr>
              <a:defRPr sz="1875" b="1">
                <a:solidFill>
                  <a:srgbClr val="14283F"/>
                </a:solidFill>
              </a:defRPr>
            </a:lvl7pPr>
            <a:lvl8pPr>
              <a:defRPr sz="1875" b="1">
                <a:solidFill>
                  <a:srgbClr val="14283F"/>
                </a:solidFill>
              </a:defRPr>
            </a:lvl8pPr>
            <a:lvl9pPr>
              <a:defRPr sz="1875" b="1">
                <a:solidFill>
                  <a:srgbClr val="14283F"/>
                </a:solidFill>
              </a:defRPr>
            </a:lvl9pPr>
          </a:lstStyle>
          <a:p xmlns:a="http://schemas.openxmlformats.org/drawingml/2006/main">
            <a:pPr>
              <a:defRPr sz="1875" b="1">
                <a:solidFill>
                  <a:srgbClr val="14283F"/>
                </a:solidFill>
              </a:defRPr>
            </a:pPr>
            <a:r>
              <a:rPr sz="1875" b="1">
                <a:solidFill>
                  <a:srgbClr val="14283F"/>
                </a:solidFill>
              </a:rPr>
              <a:t>All paired 95% confidence intervals for the Pass³ difference include zero.</a:t>
            </a:r>
          </a:p>
        </p:txBody>
      </p:sp>
      <p:sp>
        <p:nvSpPr>
          <p:cNvPr id="14" name="">
            <a:extLst xmlns:a="http://schemas.openxmlformats.org/drawingml/2006/main">
              <a:ext uri="{FF2B5EF4-FFF2-40B4-BE49-F238E27FC236}">
                <a16:creationId xmlns:a16="http://schemas.microsoft.com/office/drawing/2014/main" id="{DBA3667B-9939-4677-B4A9-AF8AAC6209D3}"/>
              </a:ext>
            </a:extLst>
          </p:cNvPr>
          <p:cNvSpPr>
            <a:spLocks xmlns:a="http://schemas.openxmlformats.org/drawingml/2006/main" noGrp="1"/>
          </p:cNvSpPr>
          <p:nvPr/>
        </p:nvSpPr>
        <p:spPr>
          <a:xfrm xmlns:a="http://schemas.openxmlformats.org/drawingml/2006/main">
            <a:off x="590550" y="60198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892"/>
                </a:solidFill>
              </a:defRPr>
            </a:defPPr>
            <a:lvl1pPr>
              <a:defRPr sz="1650" b="0">
                <a:solidFill>
                  <a:srgbClr val="607892"/>
                </a:solidFill>
              </a:defRPr>
            </a:lvl1pPr>
            <a:lvl2pPr>
              <a:defRPr sz="1650" b="0">
                <a:solidFill>
                  <a:srgbClr val="607892"/>
                </a:solidFill>
              </a:defRPr>
            </a:lvl2pPr>
            <a:lvl3pPr>
              <a:defRPr sz="1650" b="0">
                <a:solidFill>
                  <a:srgbClr val="607892"/>
                </a:solidFill>
              </a:defRPr>
            </a:lvl3pPr>
            <a:lvl4pPr>
              <a:defRPr sz="1650" b="0">
                <a:solidFill>
                  <a:srgbClr val="607892"/>
                </a:solidFill>
              </a:defRPr>
            </a:lvl4pPr>
            <a:lvl5pPr>
              <a:defRPr sz="1650" b="0">
                <a:solidFill>
                  <a:srgbClr val="607892"/>
                </a:solidFill>
              </a:defRPr>
            </a:lvl5pPr>
            <a:lvl6pPr>
              <a:defRPr sz="1650" b="0">
                <a:solidFill>
                  <a:srgbClr val="607892"/>
                </a:solidFill>
              </a:defRPr>
            </a:lvl6pPr>
            <a:lvl7pPr>
              <a:defRPr sz="1650" b="0">
                <a:solidFill>
                  <a:srgbClr val="607892"/>
                </a:solidFill>
              </a:defRPr>
            </a:lvl7pPr>
            <a:lvl8pPr>
              <a:defRPr sz="1650" b="0">
                <a:solidFill>
                  <a:srgbClr val="607892"/>
                </a:solidFill>
              </a:defRPr>
            </a:lvl8pPr>
            <a:lvl9pPr>
              <a:defRPr sz="1650" b="0">
                <a:solidFill>
                  <a:srgbClr val="607892"/>
                </a:solidFill>
              </a:defRPr>
            </a:lvl9pPr>
          </a:lstStyle>
          <a:p xmlns:a="http://schemas.openxmlformats.org/drawingml/2006/main">
            <a:pPr>
              <a:defRPr sz="1650" b="0">
                <a:solidFill>
                  <a:srgbClr val="607892"/>
                </a:solidFill>
              </a:defRPr>
            </a:pPr>
            <a:r>
              <a:rPr sz="1650" b="0">
                <a:solidFill>
                  <a:srgbClr val="607892"/>
                </a:solidFill>
              </a:rPr>
              <a:t>A controlled rerun is needed to isolate the effect of a model upgrade.</a:t>
            </a:r>
          </a:p>
        </p:txBody>
      </p:sp>
    </p:spTree>
    <p:extLst>
      <p:ext uri="{BB962C8B-B14F-4D97-AF65-F5344CB8AC3E}">
        <p14:creationId xmlns:p14="http://schemas.microsoft.com/office/powerpoint/2010/main" val="1374121144"/>
      </p:ext>
    </p:extLst>
  </p:cSld>
</p:sld>
</file>

<file path=ppt/slides/slide2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Shape 0">
            <a:extLst xmlns:a="http://schemas.openxmlformats.org/drawingml/2006/main">
              <a:ext uri="{FF2B5EF4-FFF2-40B4-BE49-F238E27FC236}">
                <a16:creationId xmlns:a16="http://schemas.microsoft.com/office/drawing/2014/main" id="{0CCFAE65-8F72-4D72-8AFE-6BA4FD2F2C0C}"/>
              </a:ext>
            </a:extLst>
          </p:cNvPr>
          <p:cNvSpPr>
            <a:spLocks xmlns:a="http://schemas.openxmlformats.org/drawingml/2006/main" noGrp="1"/>
          </p:cNvSpPr>
          <p:nvPr/>
        </p:nvSpPr>
        <p:spPr>
          <a:xfrm xmlns:a="http://schemas.openxmlformats.org/drawingml/2006/main">
            <a:off x="0" y="0"/>
            <a:ext cx="12191400" cy="72720"/>
          </a:xfrm>
          <a:prstGeom xmlns:a="http://schemas.openxmlformats.org/drawingml/2006/main" prst="rect">
            <a:avLst/>
          </a:prstGeom>
          <a:solidFill xmlns:a="http://schemas.openxmlformats.org/drawingml/2006/main">
            <a:srgbClr val="119F9A"/>
          </a:solidFill>
          <a:ln xmlns:a="http://schemas.openxmlformats.org/drawingml/2006/main" w="12700">
            <a:solidFill>
              <a:srgbClr val="119F9A"/>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28080" rIns="90000" bIns="28080" anchor="t">
            <a:noAutofit/>
          </a:bodyPr>
          <a:lstStyle xmlns:a="http://schemas.openxmlformats.org/drawingml/2006/main"/>
          <a:p xmlns:a="http://schemas.openxmlformats.org/drawingml/2006/main">
            <a:endParaRPr sz="1800" b="0" u="none" strike="noStrike">
              <a:solidFill>
                <a:srgbClr val="FFFFFF"/>
              </a:solidFill>
              <a:latin typeface="Arial"/>
              <a:ea typeface="Arial"/>
              <a:cs typeface="Arial"/>
            </a:endParaRPr>
          </a:p>
        </p:txBody>
      </p:sp>
      <p:sp>
        <p:nvSpPr>
          <p:cNvPr id="2" name="Text 1">
            <a:extLst xmlns:a="http://schemas.openxmlformats.org/drawingml/2006/main">
              <a:ext uri="{FF2B5EF4-FFF2-40B4-BE49-F238E27FC236}">
                <a16:creationId xmlns:a16="http://schemas.microsoft.com/office/drawing/2014/main" id="{2C4FD076-E356-4DE8-8195-3ECF99E05922}"/>
              </a:ext>
            </a:extLst>
          </p:cNvPr>
          <p:cNvSpPr>
            <a:spLocks xmlns:a="http://schemas.openxmlformats.org/drawingml/2006/main" noGrp="1"/>
          </p:cNvSpPr>
          <p:nvPr/>
        </p:nvSpPr>
        <p:spPr>
          <a:xfrm xmlns:a="http://schemas.openxmlformats.org/drawingml/2006/main">
            <a:off x="567000" y="274320"/>
            <a:ext cx="1005804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1100" b="1" u="none" strike="noStrike" spc="210">
                <a:solidFill>
                  <a:srgbClr val="119F9A"/>
                </a:solidFill>
                <a:latin typeface="Aptos"/>
                <a:ea typeface="Aptos"/>
                <a:cs typeface="Aptos"/>
              </a:rPr>
              <a:t>SUPPLEMENTARY ANALYSIS</a:t>
            </a:r>
            <a:endParaRPr sz="1100" b="0" u="none" strike="noStrike">
              <a:solidFill>
                <a:srgbClr val="000000"/>
              </a:solidFill>
              <a:latin typeface="Arial"/>
              <a:ea typeface="Arial"/>
              <a:cs typeface="Arial"/>
            </a:endParaRPr>
          </a:p>
        </p:txBody>
      </p:sp>
      <p:sp>
        <p:nvSpPr>
          <p:cNvPr id="3" name="Text 2">
            <a:extLst xmlns:a="http://schemas.openxmlformats.org/drawingml/2006/main">
              <a:ext uri="{FF2B5EF4-FFF2-40B4-BE49-F238E27FC236}">
                <a16:creationId xmlns:a16="http://schemas.microsoft.com/office/drawing/2014/main" id="{315468C8-12EC-4557-98B5-FDC3DBF2C4F1}"/>
              </a:ext>
            </a:extLst>
          </p:cNvPr>
          <p:cNvSpPr>
            <a:spLocks xmlns:a="http://schemas.openxmlformats.org/drawingml/2006/main" noGrp="1"/>
          </p:cNvSpPr>
          <p:nvPr/>
        </p:nvSpPr>
        <p:spPr>
          <a:xfrm xmlns:a="http://schemas.openxmlformats.org/drawingml/2006/main">
            <a:off x="567000" y="621720"/>
            <a:ext cx="11018160" cy="520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3000" b="1" u="none" strike="noStrike">
                <a:solidFill>
                  <a:srgbClr val="14283F"/>
                </a:solidFill>
                <a:latin typeface="Aptos"/>
                <a:ea typeface="Aptos"/>
                <a:cs typeface="Aptos"/>
              </a:rPr>
              <a:t>Supplement: six-run combination estimates</a:t>
            </a:r>
            <a:endParaRPr sz="3000" b="0" u="none" strike="noStrike">
              <a:solidFill>
                <a:srgbClr val="000000"/>
              </a:solidFill>
              <a:latin typeface="Arial"/>
              <a:ea typeface="Arial"/>
              <a:cs typeface="Arial"/>
            </a:endParaRPr>
          </a:p>
        </p:txBody>
      </p:sp>
      <p:sp>
        <p:nvSpPr>
          <p:cNvPr id="4" name="Shape 3">
            <a:extLst xmlns:a="http://schemas.openxmlformats.org/drawingml/2006/main">
              <a:ext uri="{FF2B5EF4-FFF2-40B4-BE49-F238E27FC236}">
                <a16:creationId xmlns:a16="http://schemas.microsoft.com/office/drawing/2014/main" id="{F13AF7BF-A49E-4E4F-8D2D-FB40ADA32A60}"/>
              </a:ext>
            </a:extLst>
          </p:cNvPr>
          <p:cNvSpPr>
            <a:spLocks xmlns:a="http://schemas.openxmlformats.org/drawingml/2006/main" noGrp="1"/>
          </p:cNvSpPr>
          <p:nvPr/>
        </p:nvSpPr>
        <p:spPr>
          <a:xfrm xmlns:a="http://schemas.openxmlformats.org/drawingml/2006/main">
            <a:off x="566640" y="128016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5" name="Shape 4">
            <a:extLst xmlns:a="http://schemas.openxmlformats.org/drawingml/2006/main">
              <a:ext uri="{FF2B5EF4-FFF2-40B4-BE49-F238E27FC236}">
                <a16:creationId xmlns:a16="http://schemas.microsoft.com/office/drawing/2014/main" id="{189D63D6-788F-49D0-8C5C-EDD51865DA3F}"/>
              </a:ext>
            </a:extLst>
          </p:cNvPr>
          <p:cNvSpPr>
            <a:spLocks xmlns:a="http://schemas.openxmlformats.org/drawingml/2006/main" noGrp="1"/>
          </p:cNvSpPr>
          <p:nvPr/>
        </p:nvSpPr>
        <p:spPr>
          <a:xfrm xmlns:a="http://schemas.openxmlformats.org/drawingml/2006/main">
            <a:off x="566640" y="6519600"/>
            <a:ext cx="11064240" cy="360"/>
          </a:xfrm>
          <a:prstGeom xmlns:a="http://schemas.openxmlformats.org/drawingml/2006/main" prst="line">
            <a:avLst/>
          </a:prstGeom>
          <a:ln xmlns:a="http://schemas.openxmlformats.org/drawingml/2006/main" w="12700">
            <a:solidFill>
              <a:srgbClr val="DCE5ED"/>
            </a:solidFill>
            <a:roun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4640" rIns="90000" bIns="-44640" anchor="t">
            <a:noAutofit/>
          </a:bodyPr>
          <a:lstStyle xmlns:a="http://schemas.openxmlformats.org/drawingml/2006/main"/>
          <a:p xmlns:a="http://schemas.openxmlformats.org/drawingml/2006/main">
            <a:endParaRPr sz="1800" b="0" u="none" strike="noStrike">
              <a:solidFill>
                <a:srgbClr val="000000"/>
              </a:solidFill>
              <a:latin typeface="Arial"/>
              <a:ea typeface="Arial"/>
              <a:cs typeface="Arial"/>
            </a:endParaRPr>
          </a:p>
        </p:txBody>
      </p:sp>
      <p:sp>
        <p:nvSpPr>
          <p:cNvPr id="6" name="Text 5">
            <a:extLst xmlns:a="http://schemas.openxmlformats.org/drawingml/2006/main">
              <a:ext uri="{FF2B5EF4-FFF2-40B4-BE49-F238E27FC236}">
                <a16:creationId xmlns:a16="http://schemas.microsoft.com/office/drawing/2014/main" id="{3DE2DF10-865B-4173-A370-EA1BDA3B3EB5}"/>
              </a:ext>
            </a:extLst>
          </p:cNvPr>
          <p:cNvSpPr>
            <a:spLocks xmlns:a="http://schemas.openxmlformats.org/drawingml/2006/main" noGrp="1"/>
          </p:cNvSpPr>
          <p:nvPr/>
        </p:nvSpPr>
        <p:spPr>
          <a:xfrm xmlns:a="http://schemas.openxmlformats.org/drawingml/2006/main">
            <a:off x="594360" y="6574680"/>
            <a:ext cx="10423800" cy="164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defTabSz="914400">
              <a:lnSpc>
                <a:spcPct val="100000"/>
              </a:lnSpc>
              <a:buNone/>
              <a:tabLst>
                <a:tab pos="0" algn="l"/>
              </a:tabLst>
            </a:pPr>
            <a:r>
              <a:rPr sz="860" b="0" u="none" strike="noStrike">
                <a:solidFill>
                  <a:srgbClr val="64778B"/>
                </a:solidFill>
                <a:latin typeface="Aptos"/>
                <a:ea typeface="Aptos"/>
                <a:cs typeface="Aptos"/>
              </a:rPr>
              <a:t>Source: Saved replication data, 19 Oct 2026. Methods and evidence in speaker notes.</a:t>
            </a:r>
            <a:endParaRPr sz="860" b="0" u="none" strike="noStrike">
              <a:solidFill>
                <a:srgbClr val="000000"/>
              </a:solidFill>
              <a:latin typeface="Arial"/>
              <a:ea typeface="Arial"/>
              <a:cs typeface="Arial"/>
            </a:endParaRPr>
          </a:p>
        </p:txBody>
      </p:sp>
      <p:sp>
        <p:nvSpPr>
          <p:cNvPr id="7" name="Text 6">
            <a:extLst xmlns:a="http://schemas.openxmlformats.org/drawingml/2006/main">
              <a:ext uri="{FF2B5EF4-FFF2-40B4-BE49-F238E27FC236}">
                <a16:creationId xmlns:a16="http://schemas.microsoft.com/office/drawing/2014/main" id="{A05CF2ED-F969-4FF6-9ED9-5A816DB56D30}"/>
              </a:ext>
            </a:extLst>
          </p:cNvPr>
          <p:cNvSpPr>
            <a:spLocks xmlns:a="http://schemas.openxmlformats.org/drawingml/2006/main" noGrp="1"/>
          </p:cNvSpPr>
          <p:nvPr/>
        </p:nvSpPr>
        <p:spPr>
          <a:xfrm xmlns:a="http://schemas.openxmlformats.org/drawingml/2006/main">
            <a:off x="11155680" y="6537960"/>
            <a:ext cx="4384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normAutofit fontScale="100000"/>
          </a:bodyPr>
          <a:lstStyle xmlns:a="http://schemas.openxmlformats.org/drawingml/2006/main"/>
          <a:p xmlns:a="http://schemas.openxmlformats.org/drawingml/2006/main">
            <a:pPr algn="r" defTabSz="914400">
              <a:lnSpc>
                <a:spcPct val="100000"/>
              </a:lnSpc>
              <a:buNone/>
              <a:tabLst>
                <a:tab pos="0" algn="l"/>
              </a:tabLst>
            </a:pPr>
            <a:r>
              <a:rPr sz="1000" b="1" u="none" strike="noStrike">
                <a:solidFill>
                  <a:srgbClr val="64778B"/>
                </a:solidFill>
                <a:latin typeface="Aptos"/>
                <a:ea typeface="Aptos"/>
                <a:cs typeface="Aptos"/>
              </a:rPr>
              <a:t>25</a:t>
            </a:r>
            <a:endParaRPr sz="1000" b="0" u="none" strike="noStrike">
              <a:solidFill>
                <a:srgbClr val="000000"/>
              </a:solidFill>
              <a:latin typeface="Arial"/>
              <a:ea typeface="Arial"/>
              <a:cs typeface="Arial"/>
            </a:endParaRPr>
          </a:p>
        </p:txBody>
      </p:sp>
      <p:sp>
        <p:nvSpPr>
          <p:cNvPr id="8" name="">
            <a:extLst xmlns:a="http://schemas.openxmlformats.org/drawingml/2006/main">
              <a:ext uri="{FF2B5EF4-FFF2-40B4-BE49-F238E27FC236}">
                <a16:creationId xmlns:a16="http://schemas.microsoft.com/office/drawing/2014/main" id="{5EA0E3D3-A84B-4377-9342-160F43CB16FC}"/>
              </a:ext>
            </a:extLst>
          </p:cNvPr>
          <p:cNvSpPr>
            <a:spLocks xmlns:a="http://schemas.openxmlformats.org/drawingml/2006/main" noGrp="1"/>
          </p:cNvSpPr>
          <p:nvPr/>
        </p:nvSpPr>
        <p:spPr>
          <a:xfrm xmlns:a="http://schemas.openxmlformats.org/drawingml/2006/main">
            <a:off x="590550" y="16097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83F"/>
                </a:solidFill>
              </a:defRPr>
            </a:defPPr>
            <a:lvl1pPr>
              <a:defRPr sz="2025" b="1">
                <a:solidFill>
                  <a:srgbClr val="14283F"/>
                </a:solidFill>
              </a:defRPr>
            </a:lvl1pPr>
            <a:lvl2pPr>
              <a:defRPr sz="2025" b="1">
                <a:solidFill>
                  <a:srgbClr val="14283F"/>
                </a:solidFill>
              </a:defRPr>
            </a:lvl2pPr>
            <a:lvl3pPr>
              <a:defRPr sz="2025" b="1">
                <a:solidFill>
                  <a:srgbClr val="14283F"/>
                </a:solidFill>
              </a:defRPr>
            </a:lvl3pPr>
            <a:lvl4pPr>
              <a:defRPr sz="2025" b="1">
                <a:solidFill>
                  <a:srgbClr val="14283F"/>
                </a:solidFill>
              </a:defRPr>
            </a:lvl4pPr>
            <a:lvl5pPr>
              <a:defRPr sz="2025" b="1">
                <a:solidFill>
                  <a:srgbClr val="14283F"/>
                </a:solidFill>
              </a:defRPr>
            </a:lvl5pPr>
            <a:lvl6pPr>
              <a:defRPr sz="2025" b="1">
                <a:solidFill>
                  <a:srgbClr val="14283F"/>
                </a:solidFill>
              </a:defRPr>
            </a:lvl6pPr>
            <a:lvl7pPr>
              <a:defRPr sz="2025" b="1">
                <a:solidFill>
                  <a:srgbClr val="14283F"/>
                </a:solidFill>
              </a:defRPr>
            </a:lvl7pPr>
            <a:lvl8pPr>
              <a:defRPr sz="2025" b="1">
                <a:solidFill>
                  <a:srgbClr val="14283F"/>
                </a:solidFill>
              </a:defRPr>
            </a:lvl8pPr>
            <a:lvl9pPr>
              <a:defRPr sz="2025" b="1">
                <a:solidFill>
                  <a:srgbClr val="14283F"/>
                </a:solidFill>
              </a:defRPr>
            </a:lvl9pPr>
          </a:lstStyle>
          <a:p xmlns:a="http://schemas.openxmlformats.org/drawingml/2006/main">
            <a:pPr>
              <a:defRPr sz="2025" b="1">
                <a:solidFill>
                  <a:srgbClr val="14283F"/>
                </a:solidFill>
              </a:defRPr>
            </a:pPr>
            <a:r>
              <a:rPr sz="2025" b="1">
                <a:solidFill>
                  <a:srgbClr val="14283F"/>
                </a:solidFill>
              </a:rPr>
              <a:t>All six Luna runs, averaged over 20 three-run combinations</a:t>
            </a:r>
          </a:p>
        </p:txBody>
      </p:sp>
      <p:sp>
        <p:nvSpPr>
          <p:cNvPr id="9" name="">
            <a:extLst xmlns:a="http://schemas.openxmlformats.org/drawingml/2006/main">
              <a:ext uri="{FF2B5EF4-FFF2-40B4-BE49-F238E27FC236}">
                <a16:creationId xmlns:a16="http://schemas.microsoft.com/office/drawing/2014/main" id="{C40F1311-1683-4DDB-893B-BC59197BEA19}"/>
              </a:ext>
            </a:extLst>
          </p:cNvPr>
          <p:cNvSpPr>
            <a:spLocks xmlns:a="http://schemas.openxmlformats.org/drawingml/2006/main" noGrp="1"/>
          </p:cNvSpPr>
          <p:nvPr/>
        </p:nvSpPr>
        <p:spPr>
          <a:xfrm xmlns:a="http://schemas.openxmlformats.org/drawingml/2006/main">
            <a:off x="590550" y="20955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07892"/>
                </a:solidFill>
              </a:defRPr>
            </a:defPPr>
            <a:lvl1pPr>
              <a:defRPr sz="1800" b="0">
                <a:solidFill>
                  <a:srgbClr val="607892"/>
                </a:solidFill>
              </a:defRPr>
            </a:lvl1pPr>
            <a:lvl2pPr>
              <a:defRPr sz="1800" b="0">
                <a:solidFill>
                  <a:srgbClr val="607892"/>
                </a:solidFill>
              </a:defRPr>
            </a:lvl2pPr>
            <a:lvl3pPr>
              <a:defRPr sz="1800" b="0">
                <a:solidFill>
                  <a:srgbClr val="607892"/>
                </a:solidFill>
              </a:defRPr>
            </a:lvl3pPr>
            <a:lvl4pPr>
              <a:defRPr sz="1800" b="0">
                <a:solidFill>
                  <a:srgbClr val="607892"/>
                </a:solidFill>
              </a:defRPr>
            </a:lvl4pPr>
            <a:lvl5pPr>
              <a:defRPr sz="1800" b="0">
                <a:solidFill>
                  <a:srgbClr val="607892"/>
                </a:solidFill>
              </a:defRPr>
            </a:lvl5pPr>
            <a:lvl6pPr>
              <a:defRPr sz="1800" b="0">
                <a:solidFill>
                  <a:srgbClr val="607892"/>
                </a:solidFill>
              </a:defRPr>
            </a:lvl6pPr>
            <a:lvl7pPr>
              <a:defRPr sz="1800" b="0">
                <a:solidFill>
                  <a:srgbClr val="607892"/>
                </a:solidFill>
              </a:defRPr>
            </a:lvl7pPr>
            <a:lvl8pPr>
              <a:defRPr sz="1800" b="0">
                <a:solidFill>
                  <a:srgbClr val="607892"/>
                </a:solidFill>
              </a:defRPr>
            </a:lvl8pPr>
            <a:lvl9pPr>
              <a:defRPr sz="1800" b="0">
                <a:solidFill>
                  <a:srgbClr val="607892"/>
                </a:solidFill>
              </a:defRPr>
            </a:lvl9pPr>
          </a:lstStyle>
          <a:p xmlns:a="http://schemas.openxmlformats.org/drawingml/2006/main">
            <a:pPr>
              <a:defRPr sz="1800" b="0">
                <a:solidFill>
                  <a:srgbClr val="607892"/>
                </a:solidFill>
              </a:defRPr>
            </a:pPr>
            <a:r>
              <a:rPr sz="1800" b="0">
                <a:solidFill>
                  <a:srgbClr val="607892"/>
                </a:solidFill>
              </a:rPr>
              <a:t>Supplementary estimates use all 750 balanced trials</a:t>
            </a:r>
          </a:p>
        </p:txBody>
      </p:sp>
      <p:graphicFrame>
        <p:nvGraphicFramePr>
          <p:cNvPr id="10" name="">
            <a:extLst xmlns:a="http://schemas.openxmlformats.org/drawingml/2006/main">
              <a:ext uri="{FF2B5EF4-FFF2-40B4-BE49-F238E27FC236}">
                <a16:creationId xmlns:a16="http://schemas.microsoft.com/office/drawing/2014/main" id="{64F21179-4D3E-4210-B875-AFDEDE14F215}"/>
              </a:ext>
            </a:extLst>
          </p:cNvPr>
          <p:cNvGraphicFramePr/>
          <p:nvPr/>
        </p:nvGraphicFramePr>
        <p:xfrm>
          <a:off xmlns:a="http://schemas.openxmlformats.org/drawingml/2006/main" x="590550" y="2724150"/>
          <a:ext xmlns:a="http://schemas.openxmlformats.org/drawingml/2006/main" cx="11010900" cy="2343150"/>
        </p:xfrm>
        <a:graphic xmlns:a="http://schemas.openxmlformats.org/drawingml/2006/main">
          <a:graphicData uri="http://schemas.openxmlformats.org/drawingml/2006/table">
            <a:tbl>
              <a:tblPr/>
              <a:tblGrid>
                <a:gridCol w="3429000"/>
                <a:gridCol w="1143000"/>
                <a:gridCol w="2400300"/>
                <a:gridCol w="2019300"/>
                <a:gridCol w="2019300"/>
              </a:tblGrid>
              <a:tr h="585788">
                <a:tc>
                  <a:txBody>
                    <a:bodyPr/>
                    <a:lstStyle/>
                    <a:p>
                      <a:r>
                        <a:rPr sz="1875" b="1">
                          <a:solidFill>
                            <a:srgbClr val="14283F"/>
                          </a:solidFill>
                        </a:rPr>
                        <a:t>Task type</a:t>
                      </a:r>
                    </a:p>
                  </a:txBody>
                  <a:tcPr marL="91440" marR="91440" marT="45720" marB="45720">
                    <a:lnL w="9525">
                      <a:solidFill>
                        <a:srgbClr val="DCE5ED"/>
                      </a:solidFill>
                      <a:prstDash val="solid"/>
                    </a:lnL>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875" b="1">
                          <a:solidFill>
                            <a:srgbClr val="14283F"/>
                          </a:solidFill>
                        </a:rPr>
                        <a:t>Runs</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875" b="1">
                          <a:solidFill>
                            <a:srgbClr val="14283F"/>
                          </a:solidFill>
                        </a:rPr>
                        <a:t>Mean success</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875" b="1">
                          <a:solidFill>
                            <a:srgbClr val="14283F"/>
                          </a:solidFill>
                        </a:rPr>
                        <a:t>Pass@3</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c>
                  <a:txBody>
                    <a:bodyPr/>
                    <a:lstStyle/>
                    <a:p>
                      <a:r>
                        <a:rPr sz="1875" b="1">
                          <a:solidFill>
                            <a:srgbClr val="14283F"/>
                          </a:solidFill>
                        </a:rPr>
                        <a:t>Pass³</a:t>
                      </a:r>
                    </a:p>
                  </a:txBody>
                  <a:tcPr marL="91440" marR="91440" marT="45720" marB="45720">
                    <a:lnR w="9525">
                      <a:solidFill>
                        <a:srgbClr val="DCE5ED"/>
                      </a:solidFill>
                      <a:prstDash val="solid"/>
                    </a:lnR>
                    <a:lnT w="9525">
                      <a:solidFill>
                        <a:srgbClr val="DCE5ED"/>
                      </a:solidFill>
                      <a:prstDash val="solid"/>
                    </a:lnT>
                    <a:lnB w="9525">
                      <a:solidFill>
                        <a:srgbClr val="DCE5ED"/>
                      </a:solidFill>
                      <a:prstDash val="solid"/>
                    </a:lnB>
                    <a:solidFill>
                      <a:srgbClr val="E3F5F4"/>
                    </a:solidFill>
                  </a:tcPr>
                </a:tc>
              </a:tr>
              <a:tr h="585788">
                <a:tc>
                  <a:txBody>
                    <a:bodyPr/>
                    <a:lstStyle/>
                    <a:p>
                      <a:r>
                        <a:rPr sz="1875" b="0">
                          <a:solidFill>
                            <a:srgbClr val="14283F"/>
                          </a:solidFill>
                        </a:rPr>
                        <a:t>Base</a:t>
                      </a:r>
                    </a:p>
                  </a:txBody>
                  <a:tcPr marL="91440" marR="91440" marT="45720" marB="45720">
                    <a:lnL w="9525">
                      <a:solidFill>
                        <a:srgbClr val="DCE5ED"/>
                      </a:solidFill>
                      <a:prstDash val="solid"/>
                    </a:lnL>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6</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75.3%</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87.1%</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61.5%</a:t>
                      </a:r>
                    </a:p>
                  </a:txBody>
                  <a:tcPr marL="91440" marR="91440" marT="45720" marB="45720">
                    <a:lnR w="9525">
                      <a:solidFill>
                        <a:srgbClr val="DCE5ED"/>
                      </a:solidFill>
                      <a:prstDash val="solid"/>
                    </a:lnR>
                    <a:lnB w="9525">
                      <a:solidFill>
                        <a:srgbClr val="DCE5ED"/>
                      </a:solidFill>
                      <a:prstDash val="solid"/>
                    </a:lnB>
                    <a:solidFill>
                      <a:srgbClr val="FFFFFF"/>
                    </a:solidFill>
                  </a:tcPr>
                </a:tc>
              </a:tr>
              <a:tr h="585788">
                <a:tc>
                  <a:txBody>
                    <a:bodyPr/>
                    <a:lstStyle/>
                    <a:p>
                      <a:r>
                        <a:rPr sz="1875" b="0">
                          <a:solidFill>
                            <a:srgbClr val="14283F"/>
                          </a:solidFill>
                        </a:rPr>
                        <a:t>Hallucination</a:t>
                      </a:r>
                    </a:p>
                  </a:txBody>
                  <a:tcPr marL="91440" marR="91440" marT="45720" marB="45720">
                    <a:lnL w="9525">
                      <a:solidFill>
                        <a:srgbClr val="DCE5ED"/>
                      </a:solidFill>
                      <a:prstDash val="solid"/>
                    </a:lnL>
                    <a:lnR w="9525">
                      <a:solidFill>
                        <a:srgbClr val="DCE5ED"/>
                      </a:solidFill>
                      <a:prstDash val="solid"/>
                    </a:lnR>
                    <a:lnB w="9525">
                      <a:solidFill>
                        <a:srgbClr val="DCE5ED"/>
                      </a:solidFill>
                      <a:prstDash val="solid"/>
                    </a:lnB>
                    <a:solidFill>
                      <a:srgbClr val="F7F9FC"/>
                    </a:solidFill>
                  </a:tcPr>
                </a:tc>
                <a:tc>
                  <a:txBody>
                    <a:bodyPr/>
                    <a:lstStyle/>
                    <a:p>
                      <a:r>
                        <a:rPr sz="1875" b="0">
                          <a:solidFill>
                            <a:srgbClr val="14283F"/>
                          </a:solidFill>
                        </a:rPr>
                        <a:t>6</a:t>
                      </a:r>
                    </a:p>
                  </a:txBody>
                  <a:tcPr marL="91440" marR="91440" marT="45720" marB="45720">
                    <a:lnR w="9525">
                      <a:solidFill>
                        <a:srgbClr val="DCE5ED"/>
                      </a:solidFill>
                      <a:prstDash val="solid"/>
                    </a:lnR>
                    <a:lnB w="9525">
                      <a:solidFill>
                        <a:srgbClr val="DCE5ED"/>
                      </a:solidFill>
                      <a:prstDash val="solid"/>
                    </a:lnB>
                    <a:solidFill>
                      <a:srgbClr val="F7F9FC"/>
                    </a:solidFill>
                  </a:tcPr>
                </a:tc>
                <a:tc>
                  <a:txBody>
                    <a:bodyPr/>
                    <a:lstStyle/>
                    <a:p>
                      <a:r>
                        <a:rPr sz="1875" b="0">
                          <a:solidFill>
                            <a:srgbClr val="14283F"/>
                          </a:solidFill>
                        </a:rPr>
                        <a:t>66.0%</a:t>
                      </a:r>
                    </a:p>
                  </a:txBody>
                  <a:tcPr marL="91440" marR="91440" marT="45720" marB="45720">
                    <a:lnR w="9525">
                      <a:solidFill>
                        <a:srgbClr val="DCE5ED"/>
                      </a:solidFill>
                      <a:prstDash val="solid"/>
                    </a:lnR>
                    <a:lnB w="9525">
                      <a:solidFill>
                        <a:srgbClr val="DCE5ED"/>
                      </a:solidFill>
                      <a:prstDash val="solid"/>
                    </a:lnB>
                    <a:solidFill>
                      <a:srgbClr val="F7F9FC"/>
                    </a:solidFill>
                  </a:tcPr>
                </a:tc>
                <a:tc>
                  <a:txBody>
                    <a:bodyPr/>
                    <a:lstStyle/>
                    <a:p>
                      <a:r>
                        <a:rPr sz="1875" b="0">
                          <a:solidFill>
                            <a:srgbClr val="14283F"/>
                          </a:solidFill>
                        </a:rPr>
                        <a:t>77.3%</a:t>
                      </a:r>
                    </a:p>
                  </a:txBody>
                  <a:tcPr marL="91440" marR="91440" marT="45720" marB="45720">
                    <a:lnR w="9525">
                      <a:solidFill>
                        <a:srgbClr val="DCE5ED"/>
                      </a:solidFill>
                      <a:prstDash val="solid"/>
                    </a:lnR>
                    <a:lnB w="9525">
                      <a:solidFill>
                        <a:srgbClr val="DCE5ED"/>
                      </a:solidFill>
                      <a:prstDash val="solid"/>
                    </a:lnB>
                    <a:solidFill>
                      <a:srgbClr val="F7F9FC"/>
                    </a:solidFill>
                  </a:tcPr>
                </a:tc>
                <a:tc>
                  <a:txBody>
                    <a:bodyPr/>
                    <a:lstStyle/>
                    <a:p>
                      <a:r>
                        <a:rPr sz="1875" b="0">
                          <a:solidFill>
                            <a:srgbClr val="14283F"/>
                          </a:solidFill>
                        </a:rPr>
                        <a:t>53.3%</a:t>
                      </a:r>
                    </a:p>
                  </a:txBody>
                  <a:tcPr marL="91440" marR="91440" marT="45720" marB="45720">
                    <a:lnR w="9525">
                      <a:solidFill>
                        <a:srgbClr val="DCE5ED"/>
                      </a:solidFill>
                      <a:prstDash val="solid"/>
                    </a:lnR>
                    <a:lnB w="9525">
                      <a:solidFill>
                        <a:srgbClr val="DCE5ED"/>
                      </a:solidFill>
                      <a:prstDash val="solid"/>
                    </a:lnB>
                    <a:solidFill>
                      <a:srgbClr val="F7F9FC"/>
                    </a:solidFill>
                  </a:tcPr>
                </a:tc>
              </a:tr>
              <a:tr h="585788">
                <a:tc>
                  <a:txBody>
                    <a:bodyPr/>
                    <a:lstStyle/>
                    <a:p>
                      <a:r>
                        <a:rPr sz="1875" b="0">
                          <a:solidFill>
                            <a:srgbClr val="14283F"/>
                          </a:solidFill>
                        </a:rPr>
                        <a:t>Disambiguation</a:t>
                      </a:r>
                    </a:p>
                  </a:txBody>
                  <a:tcPr marL="91440" marR="91440" marT="45720" marB="45720">
                    <a:lnL w="9525">
                      <a:solidFill>
                        <a:srgbClr val="DCE5ED"/>
                      </a:solidFill>
                      <a:prstDash val="solid"/>
                    </a:lnL>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6</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56.7%</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75.8%</a:t>
                      </a:r>
                    </a:p>
                  </a:txBody>
                  <a:tcPr marL="91440" marR="91440" marT="45720" marB="45720">
                    <a:lnR w="9525">
                      <a:solidFill>
                        <a:srgbClr val="DCE5ED"/>
                      </a:solidFill>
                      <a:prstDash val="solid"/>
                    </a:lnR>
                    <a:lnB w="9525">
                      <a:solidFill>
                        <a:srgbClr val="DCE5ED"/>
                      </a:solidFill>
                      <a:prstDash val="solid"/>
                    </a:lnB>
                    <a:solidFill>
                      <a:srgbClr val="FFFFFF"/>
                    </a:solidFill>
                  </a:tcPr>
                </a:tc>
                <a:tc>
                  <a:txBody>
                    <a:bodyPr/>
                    <a:lstStyle/>
                    <a:p>
                      <a:r>
                        <a:rPr sz="1875" b="0">
                          <a:solidFill>
                            <a:srgbClr val="14283F"/>
                          </a:solidFill>
                        </a:rPr>
                        <a:t>37.8%</a:t>
                      </a:r>
                    </a:p>
                  </a:txBody>
                  <a:tcPr marL="91440" marR="91440" marT="45720" marB="45720">
                    <a:lnR w="9525">
                      <a:solidFill>
                        <a:srgbClr val="DCE5ED"/>
                      </a:solidFill>
                      <a:prstDash val="solid"/>
                    </a:lnR>
                    <a:lnB w="9525">
                      <a:solidFill>
                        <a:srgbClr val="DCE5ED"/>
                      </a:solidFill>
                      <a:prstDash val="solid"/>
                    </a:lnB>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10A88CAC-66D5-4DE9-90BB-B25FE840EDD4}"/>
              </a:ext>
            </a:extLst>
          </p:cNvPr>
          <p:cNvSpPr>
            <a:spLocks xmlns:a="http://schemas.openxmlformats.org/drawingml/2006/main" noGrp="1"/>
          </p:cNvSpPr>
          <p:nvPr/>
        </p:nvSpPr>
        <p:spPr>
          <a:xfrm xmlns:a="http://schemas.openxmlformats.org/drawingml/2006/main">
            <a:off x="590550" y="5305425"/>
            <a:ext cx="11010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07892"/>
                </a:solidFill>
              </a:defRPr>
            </a:defPPr>
            <a:lvl1pPr>
              <a:defRPr sz="1725" b="0">
                <a:solidFill>
                  <a:srgbClr val="607892"/>
                </a:solidFill>
              </a:defRPr>
            </a:lvl1pPr>
            <a:lvl2pPr>
              <a:defRPr sz="1725" b="0">
                <a:solidFill>
                  <a:srgbClr val="607892"/>
                </a:solidFill>
              </a:defRPr>
            </a:lvl2pPr>
            <a:lvl3pPr>
              <a:defRPr sz="1725" b="0">
                <a:solidFill>
                  <a:srgbClr val="607892"/>
                </a:solidFill>
              </a:defRPr>
            </a:lvl3pPr>
            <a:lvl4pPr>
              <a:defRPr sz="1725" b="0">
                <a:solidFill>
                  <a:srgbClr val="607892"/>
                </a:solidFill>
              </a:defRPr>
            </a:lvl4pPr>
            <a:lvl5pPr>
              <a:defRPr sz="1725" b="0">
                <a:solidFill>
                  <a:srgbClr val="607892"/>
                </a:solidFill>
              </a:defRPr>
            </a:lvl5pPr>
            <a:lvl6pPr>
              <a:defRPr sz="1725" b="0">
                <a:solidFill>
                  <a:srgbClr val="607892"/>
                </a:solidFill>
              </a:defRPr>
            </a:lvl6pPr>
            <a:lvl7pPr>
              <a:defRPr sz="1725" b="0">
                <a:solidFill>
                  <a:srgbClr val="607892"/>
                </a:solidFill>
              </a:defRPr>
            </a:lvl7pPr>
            <a:lvl8pPr>
              <a:defRPr sz="1725" b="0">
                <a:solidFill>
                  <a:srgbClr val="607892"/>
                </a:solidFill>
              </a:defRPr>
            </a:lvl8pPr>
            <a:lvl9pPr>
              <a:defRPr sz="1725" b="0">
                <a:solidFill>
                  <a:srgbClr val="607892"/>
                </a:solidFill>
              </a:defRPr>
            </a:lvl9pPr>
          </a:lstStyle>
          <a:p xmlns:a="http://schemas.openxmlformats.org/drawingml/2006/main">
            <a:pPr>
              <a:defRPr sz="1725" b="0">
                <a:solidFill>
                  <a:srgbClr val="607892"/>
                </a:solidFill>
              </a:defRPr>
            </a:pPr>
            <a:r>
              <a:rPr sz="1725" b="0">
                <a:solidFill>
                  <a:srgbClr val="607892"/>
                </a:solidFill>
              </a:rPr>
              <a:t>Mean success averages all six runs. Main Pass@1 uses run 1 only.</a:t>
            </a:r>
          </a:p>
        </p:txBody>
      </p:sp>
      <p:sp>
        <p:nvSpPr>
          <p:cNvPr id="12" name="">
            <a:extLst xmlns:a="http://schemas.openxmlformats.org/drawingml/2006/main">
              <a:ext uri="{FF2B5EF4-FFF2-40B4-BE49-F238E27FC236}">
                <a16:creationId xmlns:a16="http://schemas.microsoft.com/office/drawing/2014/main" id="{AC8C625A-66D2-42FB-81ED-1BF6A40AE46A}"/>
              </a:ext>
            </a:extLst>
          </p:cNvPr>
          <p:cNvSpPr>
            <a:spLocks xmlns:a="http://schemas.openxmlformats.org/drawingml/2006/main" noGrp="1"/>
          </p:cNvSpPr>
          <p:nvPr/>
        </p:nvSpPr>
        <p:spPr>
          <a:xfrm xmlns:a="http://schemas.openxmlformats.org/drawingml/2006/main">
            <a:off x="590550" y="5819775"/>
            <a:ext cx="11010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4283F"/>
                </a:solidFill>
              </a:defRPr>
            </a:defPPr>
            <a:lvl1pPr>
              <a:defRPr sz="1875" b="1">
                <a:solidFill>
                  <a:srgbClr val="14283F"/>
                </a:solidFill>
              </a:defRPr>
            </a:lvl1pPr>
            <a:lvl2pPr>
              <a:defRPr sz="1875" b="1">
                <a:solidFill>
                  <a:srgbClr val="14283F"/>
                </a:solidFill>
              </a:defRPr>
            </a:lvl2pPr>
            <a:lvl3pPr>
              <a:defRPr sz="1875" b="1">
                <a:solidFill>
                  <a:srgbClr val="14283F"/>
                </a:solidFill>
              </a:defRPr>
            </a:lvl3pPr>
            <a:lvl4pPr>
              <a:defRPr sz="1875" b="1">
                <a:solidFill>
                  <a:srgbClr val="14283F"/>
                </a:solidFill>
              </a:defRPr>
            </a:lvl4pPr>
            <a:lvl5pPr>
              <a:defRPr sz="1875" b="1">
                <a:solidFill>
                  <a:srgbClr val="14283F"/>
                </a:solidFill>
              </a:defRPr>
            </a:lvl5pPr>
            <a:lvl6pPr>
              <a:defRPr sz="1875" b="1">
                <a:solidFill>
                  <a:srgbClr val="14283F"/>
                </a:solidFill>
              </a:defRPr>
            </a:lvl6pPr>
            <a:lvl7pPr>
              <a:defRPr sz="1875" b="1">
                <a:solidFill>
                  <a:srgbClr val="14283F"/>
                </a:solidFill>
              </a:defRPr>
            </a:lvl7pPr>
            <a:lvl8pPr>
              <a:defRPr sz="1875" b="1">
                <a:solidFill>
                  <a:srgbClr val="14283F"/>
                </a:solidFill>
              </a:defRPr>
            </a:lvl8pPr>
            <a:lvl9pPr>
              <a:defRPr sz="1875" b="1">
                <a:solidFill>
                  <a:srgbClr val="14283F"/>
                </a:solidFill>
              </a:defRPr>
            </a:lvl9pPr>
          </a:lstStyle>
          <a:p xmlns:a="http://schemas.openxmlformats.org/drawingml/2006/main">
            <a:pPr>
              <a:defRPr sz="1875" b="1">
                <a:solidFill>
                  <a:srgbClr val="14283F"/>
                </a:solidFill>
              </a:defRPr>
            </a:pPr>
            <a:r>
              <a:rPr sz="1875" b="1">
                <a:solidFill>
                  <a:srgbClr val="14283F"/>
                </a:solidFill>
              </a:rPr>
              <a:t>Primary paper comparison remains the first-three-run analysis.</a:t>
            </a:r>
          </a:p>
        </p:txBody>
      </p:sp>
    </p:spTree>
    <p:extLst>
      <p:ext uri="{BB962C8B-B14F-4D97-AF65-F5344CB8AC3E}">
        <p14:creationId xmlns:p14="http://schemas.microsoft.com/office/powerpoint/2010/main" val="1374121144"/>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ns0:Properties xmlns:ns0="http://schemas.openxmlformats.org/officeDocument/2006/extended-properties" xmlns:ns1="http://schemas.openxmlformats.org/officeDocument/2006/docPropsVTypes">
  <ns0:Template/>
  <ns0:TotalTime>527</ns0:TotalTime>
  <ns0:Words>2799</ns0:Words>
  <ns0:Application>Microsoft Office PowerPoint</ns0:Application>
  <ns0:PresentationFormat>Widescreen</ns0:PresentationFormat>
  <ns0:Paragraphs>412</ns0:Paragraphs>
  <ns0:Slides>25</ns0:Slides>
  <ns0:Notes>22</ns0:Notes>
  <ns0:HiddenSlides>0</ns0:HiddenSlides>
  <ns0:MMClips>0</ns0:MMClips>
  <ns0:ScaleCrop>false</ns0:ScaleCrop>
  <ns0:HeadingPairs>
    <ns1:vector size="6" baseType="variant">
      <ns1:variant>
        <ns1:lpstr>Fonts Used</ns1:lpstr>
      </ns1:variant>
      <ns1:variant>
        <ns1:i4>5</ns1:i4>
      </ns1:variant>
      <ns1:variant>
        <ns1:lpstr>Theme</ns1:lpstr>
      </ns1:variant>
      <ns1:variant>
        <ns1:i4>1</ns1:i4>
      </ns1:variant>
      <ns1:variant>
        <ns1:lpstr>Slide Titles</ns1:lpstr>
      </ns1:variant>
      <ns1:variant>
        <ns1:i4>22</ns1:i4>
      </ns1:variant>
    </ns1:vector>
  </ns0:HeadingPairs>
  <ns0:TitlesOfParts>
    <ns1:vector size="28" baseType="lpstr">
      <ns1:lpstr>Aptos</ns1:lpstr>
      <ns1:lpstr>Arial</ns1:lpstr>
      <ns1:lpstr>Symbol</ns1:lpstr>
      <ns1:lpstr>Times New Roman</ns1:lpstr>
      <ns1:lpstr>Wingdings</ns1:lpstr>
      <ns1:lpstr>Office Theme</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vector>
  </ns0:TitlesOfParts>
  <ns0:Company>PptxGenJS</ns0:Company>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CAR-bench | Evaluating the Consistency and Limit-Awareness of LLM Agents</dc:title>
  <dc:subject>CAR-bench ACL 2026 paper presentation</dc:subject>
  <dc:creator>OpenAI</dc:creator>
  <dc:description/>
  <cp:lastModifiedBy>Victor Cao</cp:lastModifiedBy>
  <cp:revision>2</cp:revision>
  <dcterms:created xsi:type="dcterms:W3CDTF">2026-10-15T20:01:16Z</dcterms:created>
  <dcterms:modified xsi:type="dcterms:W3CDTF">2026-10-16T05:05:14Z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22</vt:r8>
  </property>
  <property fmtid="{D5CDD505-2E9C-101B-9397-08002B2CF9AE}" pid="3" name="PresentationFormat">
    <vt:lpwstr>On-screen Show (16:9)</vt:lpwstr>
  </property>
  <property fmtid="{D5CDD505-2E9C-101B-9397-08002B2CF9AE}" pid="4" name="Slides">
    <vt:r8>22</vt:r8>
  </property>
</Properties>
</file>